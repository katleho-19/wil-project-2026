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0" r:id="rId6"/>
    <p:sldId id="261" r:id="rId7"/>
    <p:sldId id="263" r:id="rId9"/>
    <p:sldId id="264" r:id="rId10"/>
    <p:sldId id="265" r:id="rId11"/>
    <p:sldId id="270" r:id="rId21"/>
    <p:sldId id="269" r:id="rId20"/>
    <p:sldId id="268" r:id="rId19"/>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a77c0c-e103-3df8-5d3c-0d700a1f9c84}">
          <p14:sldIdLst>
            <p14:sldId id="256"/>
            <p14:sldId id="257"/>
            <p14:sldId id="258"/>
          </p14:sldIdLst>
        </p14:section>
        <p14:section name="Solution" id="{8b9a9322-b3cb-f842-ff9b-9541d0bd8378}">
          <p14:sldIdLst>
            <p14:sldId id="259"/>
            <p14:sldId id="260"/>
            <p14:sldId id="261"/>
          </p14:sldIdLst>
        </p14:section>
        <p14:section name="Demonstration" id="{59e922e1-bfad-9da4-923f-2119c287250a}">
          <p14:sldIdLst>
            <p14:sldId id="262"/>
          </p14:sldIdLst>
        </p14:section>
        <p14:section name="Wrap-up" id="{b43dbe69-ab63-4728-4fc5-2b61c68dec4b}">
          <p14:sldIdLst>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SPEAKER: KI. Makhoali
Good day everyone. We are Group Ctrl-Alt-Defeat: KI. Makhoali, PIJ. Lebusa, LR. Mahlatsi, M. Lepitla, MM. Motaung and DT. Adegbola. We built an online enrolment system for Phehello Secondary School, our stakeholder, represented by Zukiswa Khondlo.
Today we show how our approved design became a working system: a Flutter app for parents, an ASP.NET web app for staff, and one shared Supabase backend. We will explain the problem, the solution, the architecture, then run a live demonstration, and finish with our status against the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SPEAKER: KI. Makhoali
Today, enrolment at Phehello is on paper. Parents collect and hand-write forms, travel to the school with documents and pay the fee in person. If something is missing, they come back. They cannot see the status of their application, and staff spend a long time with each parent.
The solution we agreed with the school: parents apply, upload documents and proof of payment, and track their status on a mobile app. Staff verify and process everything on a web app. Both use one shared database, so the information is always the same on both sides. PIJ. Lebusa will now show how it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SPEAKER: PIJ. Lebusa
We built two applications that share one backend.
The Flutter mobile app is for parents and guardians. They register, submit the enrolment application, upload documents and proof of payment, and follow the status and messages from the school.
The ASP.NET web app is for school staff. The Financial Clerk verifies proof of payment. The Administrator reviews applications, approves, rejects or requests corrections, adds notes, messages parents, sends reminders and generates confirmation letters.
In the middle is Supabase: authentication, the PostgreSQL database and private file storage, as one project. Both apps read and write the same records, so when a parent submits, staff see it straight away, and when staff decide, the parent sees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SPEAKER: PIJ. Lebusa
This is the shared Supabase backend. It holds 11 tables, built from our approved ERD: users and learners, applications and documents, payments, and the admin tables for notes, status history, confirmation letters and notifications.
[DO: Open the Supabase Table Editor in the browser. Show 3 or 4 tables with the dummy records, e.g. profiles, applications, payments. Show that Storage has a private bucket.]
Every table has Row Level Security. Documents are stored in a private bucket. Each status change is recorded in the status history, and a verified payment updates the application automatically. Both of our apps use this single project: the same URL, the same tables, the same users. LR. Mahlatsi will now explain who can see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SPEAKER: LR. Mahlatsi
Access is controlled by role, and it is enforced in the database itself, not only in the screens.
A parent sees only their own learners, applications, documents and payments. The Financial Clerk can read payments and school payment records and verify payments, but cannot open applications. The Administrator reviews every application and decides on it, but cannot verify payments.
We tested this with dummy data: a second parent could not read the first parent's records, and the Clerk could not read or change applications. Both returned zero rows, which is the correct result. Nobody has delete rights, so the history is kept. M. Lepitla will now start the live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SPEAKER: DT. Adegbola
We made three decisions while building. First, the approved wireframes needed six fields that the database did not have, for example grade applied for, initials and siblings at school, so we added them and updated the submit function. Second, on our lecturer's advice, we added Save and Close so a parent can finish an application later. Third, after lecturer feedback, we made the dashboard charts clearer.
Our limitations are clear: this is a prototype with dummy data only, there is no payment gateway because the Clerk checks the proof of payment, and the mobile interface targets a standard Android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SPEAKER: DT. Adegbola
Here is where we are against the approved SRS. All 15 functional requirements are implemented: from registering and submitting, through payment verification and approval, to notes, messages, reminders, confirmation letters and the application count, with everything stored in Supabase. All 6 non-functional requirements are met: staff-only access, secure storage, test data only, clear error messages, Android display and role-based access.
Both shared processes you just saw work end to end between the Flutter app and the ASP.NET app on the same Supabase project. KI. Makhoali will now show our project records.
NOTE FOR THE GROUP: before presenting, make sure every tick on this slide is true for the demonstrated version. Change any chip you cannot show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SPEAKER: KI. Makhoali
These are our project records, as listed in the rubric.
[DO: Open Project Schedule.mpp. Scroll through the three phases, show the dates, dependencies and percentage complete.] Our editable Microsoft Project schedule, updated with our actual progress.
[DO: Open the GitHub repository WIL-Project-2026 in the browser (it is private, so sign in first). Show the README, the folders for the Flutter app and the ASP.NET app, and the recent commits.] The repository holds the version we are demonstrating today, with a README and setup guidance. All members have access, and no keys or passwords are committed.
[DO: Open the ITC327W Progress Tracker workbook. Show the task and contribution sheets, the challenges and the group reflection.] The tracker records our tasks, each member's contributions, our challenges and the final group reflection.
BEFORE PRESENTING: have all three open in tabs or windows so you do not search for them in front of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SPEAKER: LR. Mahlatsi
Our stakeholder, Phehello Secondary School, reviewed the Phase 3 system and confirmed the deliverables on the Stakeholder Confirmation form. Here is the video of that confirmation.
[DO: Play the video. Keep it to about 1 minute: if the recording is longer, play the key part only.]
TO ADD THE VIDEO (before presenting): in PowerPoint, Insert &gt; Video &gt; This Device, choose the file, then resize and place it over the dark frame. Set Playback &gt; Start: On Click. Test the sound in the room. Have the video file saved next to the presentation as a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then questions]  Questions from the panel. Any member may answer; the member who built that part answers first. Backend and security: PIJ. Lebusa / LR. Mahlatsi. Project records and GitHub: KI. Makhoali. Flutter: M. Lepitla. ASP.NET: MM. Motaung. Changes and status: DT. Adegbola. Introduction and problem: KI. Makhoali.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4"/>
                </a:solidFill>
              </a:rPr>
              <a:t>Ctrl-Alt-Defeat  ·  ITC327W Phase 3</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3"/>
                </a:solidFill>
              </a:rPr>
              <a:t>Ctrl-Alt-Defeat  ·  ITC327W Phase 3</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slideLayout" Target="../slideLayouts/slideLayout3.xml"/><Relationship Id="rId2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evidence-slid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evidence-slid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evidence-slid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chool crest" descr="Phehello High School crest">    </p:cNvPr>
          <p:cNvPicPr>
            <a:picLocks noChangeAspect="1"/>
          </p:cNvPicPr>
          <p:nvPr/>
        </p:nvPicPr>
        <p:blipFill>
          <a:blip r:embed="rId1"/>
          <a:stretch>
            <a:fillRect/>
          </a:stretch>
        </p:blipFill>
        <p:spPr>
          <a:xfrm>
            <a:off x="5989320" y="685800"/>
            <a:ext cx="2468880" cy="3127248"/>
          </a:xfrm>
          <a:prstGeom prst="rect">
            <a:avLst/>
          </a:prstGeom>
        </p:spPr>
      </p:pic>
      <p:sp>
        <p:nvSpPr>
          <p:cNvPr id="3" name="Text 0"/>
          <p:cNvSpPr txBox="1"/>
          <p:nvPr/>
        </p:nvSpPr>
        <p:spPr>
          <a:xfrm>
            <a:off x="548640" y="731520"/>
            <a:ext cx="512064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ITC327W  ·  PHASE 3  ·  FINAL PRESENTATION</a:t>
            </a:r>
            <a:endParaRPr lang="en-US" sz="1200" dirty="0"/>
          </a:p>
        </p:txBody>
      </p:sp>
      <p:sp>
        <p:nvSpPr>
          <p:cNvPr id="4" name="Title"/>
          <p:cNvSpPr txBox="1"/>
          <p:nvPr/>
        </p:nvSpPr>
        <p:spPr>
          <a:xfrm>
            <a:off x="548640" y="1051560"/>
            <a:ext cx="5212080" cy="160020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Phehello Secondary Online Enrolment System</a:t>
            </a:r>
            <a:endParaRPr lang="en-US" sz="3400" dirty="0"/>
          </a:p>
        </p:txBody>
      </p:sp>
      <p:sp>
        <p:nvSpPr>
          <p:cNvPr id="5" name="Text 2"/>
          <p:cNvSpPr txBox="1"/>
          <p:nvPr/>
        </p:nvSpPr>
        <p:spPr>
          <a:xfrm>
            <a:off x="548640" y="2514600"/>
            <a:ext cx="5212080" cy="640080"/>
          </a:xfrm>
          <a:prstGeom prst="rect">
            <a:avLst/>
          </a:prstGeom>
          <a:noFill/>
          <a:ln/>
        </p:spPr>
        <p:txBody>
          <a:bodyPr wrap="square" lIns="0" tIns="0" rIns="0" bIns="0" rtlCol="0" anchor="ctr"/>
          <a:lstStyle/>
          <a:p>
            <a:pPr indent="0" marL="0">
              <a:buNone/>
            </a:pPr>
            <a:r>
              <a:rPr lang="en-US" sz="1600" dirty="0">
                <a:solidFill>
                  <a:schemeClr val="bg2"/>
                </a:solidFill>
              </a:rPr>
              <a:t>One shared Supabase backend</a:t>
            </a:r>
            <a:endParaRPr lang="en-US" sz="1600" dirty="0"/>
          </a:p>
          <a:p>
            <a:pPr indent="0" marL="0">
              <a:buNone/>
            </a:pPr>
            <a:r>
              <a:rPr lang="en-US" sz="1600" dirty="0">
                <a:solidFill>
                  <a:schemeClr val="bg2"/>
                </a:solidFill>
              </a:rPr>
              <a:t>Flutter mobile app  ·  ASP.NET web app</a:t>
            </a:r>
            <a:endParaRPr lang="en-US" sz="1600" dirty="0"/>
          </a:p>
        </p:txBody>
      </p:sp>
      <p:sp>
        <p:nvSpPr>
          <p:cNvPr id="6" name="Text 3"/>
          <p:cNvSpPr txBox="1"/>
          <p:nvPr/>
        </p:nvSpPr>
        <p:spPr>
          <a:xfrm>
            <a:off x="548640" y="3520440"/>
            <a:ext cx="5120640" cy="365760"/>
          </a:xfrm>
          <a:prstGeom prst="rect">
            <a:avLst/>
          </a:prstGeom>
          <a:noFill/>
          <a:ln/>
        </p:spPr>
        <p:txBody>
          <a:bodyPr wrap="square" lIns="0" tIns="0" rIns="0" bIns="0" rtlCol="0" anchor="ctr"/>
          <a:lstStyle/>
          <a:p>
            <a:pPr indent="0" marL="0">
              <a:buNone/>
            </a:pPr>
            <a:r>
              <a:rPr lang="en-US" sz="2200" b="1" dirty="0">
                <a:solidFill>
                  <a:schemeClr val="accent1"/>
                </a:solidFill>
                <a:latin typeface="Cambria" pitchFamily="34" charset="0"/>
                <a:ea typeface="Cambria" pitchFamily="34" charset="-122"/>
                <a:cs typeface="Cambria" pitchFamily="34" charset="-120"/>
              </a:rPr>
              <a:t>Group Ctrl-Alt-Defeat</a:t>
            </a:r>
            <a:endParaRPr lang="en-US" sz="2200" dirty="0"/>
          </a:p>
        </p:txBody>
      </p:sp>
      <p:sp>
        <p:nvSpPr>
          <p:cNvPr id="7" name="Text 4"/>
          <p:cNvSpPr txBox="1"/>
          <p:nvPr/>
        </p:nvSpPr>
        <p:spPr>
          <a:xfrm>
            <a:off x="548640" y="3931920"/>
            <a:ext cx="5120640" cy="548640"/>
          </a:xfrm>
          <a:prstGeom prst="rect">
            <a:avLst/>
          </a:prstGeom>
          <a:noFill/>
          <a:ln/>
        </p:spPr>
        <p:txBody>
          <a:bodyPr wrap="square" lIns="0" tIns="0" rIns="0" bIns="0" rtlCol="0" anchor="ctr"/>
          <a:lstStyle/>
          <a:p>
            <a:pPr indent="0" marL="0">
              <a:spcAft>
                <a:spcPts val="200"/>
              </a:spcAft>
              <a:buNone/>
            </a:pPr>
            <a:r>
              <a:rPr lang="en-US" sz="1400" dirty="0">
                <a:solidFill>
                  <a:schemeClr val="bg2"/>
                </a:solidFill>
              </a:rPr>
              <a:t>KI. Makhoali  ·  PIJ. Lebusa  ·  LR. Mahlatsi</a:t>
            </a:r>
            <a:endParaRPr lang="en-US" sz="1400" dirty="0"/>
          </a:p>
          <a:p>
            <a:pPr indent="0" marL="0">
              <a:spcAft>
                <a:spcPts val="200"/>
              </a:spcAft>
              <a:buNone/>
            </a:pPr>
            <a:r>
              <a:rPr lang="en-US" sz="1400" dirty="0">
                <a:solidFill>
                  <a:schemeClr val="bg2"/>
                </a:solidFill>
              </a:rPr>
              <a:t>M. Lepitla  ·  MM. Motaung  ·  DT. Adegbola</a:t>
            </a:r>
            <a:endParaRPr lang="en-US" sz="1400" dirty="0"/>
          </a:p>
        </p:txBody>
      </p:sp>
      <p:sp>
        <p:nvSpPr>
          <p:cNvPr id="8" name="Text 5"/>
          <p:cNvSpPr txBox="1"/>
          <p:nvPr/>
        </p:nvSpPr>
        <p:spPr>
          <a:xfrm>
            <a:off x="5669280" y="4114800"/>
            <a:ext cx="3017520" cy="274320"/>
          </a:xfrm>
          <a:prstGeom prst="rect">
            <a:avLst/>
          </a:prstGeom>
          <a:noFill/>
          <a:ln/>
        </p:spPr>
        <p:txBody>
          <a:bodyPr wrap="square" lIns="0" tIns="0" rIns="0" bIns="0" rtlCol="0" anchor="ctr"/>
          <a:lstStyle/>
          <a:p>
            <a:pPr algn="ctr" indent="0" marL="0">
              <a:buNone/>
            </a:pPr>
            <a:r>
              <a:rPr lang="en-US" sz="1200" dirty="0">
                <a:solidFill>
                  <a:schemeClr val="accent3"/>
                </a:solidFill>
              </a:rPr>
              <a:t>Stakeholder: Phehello Secondary School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From paper queues to a phone</a:t>
            </a:r>
            <a:endParaRPr lang="en-US" sz="3400" dirty="0"/>
          </a:p>
        </p:txBody>
      </p:sp>
      <p:sp>
        <p:nvSpPr>
          <p:cNvPr id="3" name="Rubric tag"/>
          <p:cNvSpPr/>
          <p:nvPr/>
        </p:nvSpPr>
        <p:spPr>
          <a:xfrm>
            <a:off x="457200" y="128016"/>
            <a:ext cx="4032504"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4032504" cy="256032"/>
          </a:xfrm>
          <a:prstGeom prst="rect">
            <a:avLst/>
          </a:prstGeom>
          <a:noFill/>
          <a:ln/>
        </p:spPr>
        <p:txBody>
          <a:bodyPr wrap="square" lIns="0" tIns="0" rIns="0" bIns="0" rtlCol="0" anchor="ctr"/>
          <a:lstStyle/>
          <a:p>
            <a:pPr algn="ctr" indent="0" marL="0">
              <a:buNone/>
            </a:pPr>
            <a:r>
              <a:rPr lang="en-US" sz="1100" b="1" dirty="0">
                <a:solidFill>
                  <a:schemeClr val="tx2"/>
                </a:solidFill>
              </a:rPr>
              <a:t>Introduction  ·  Problem and approved solution</a:t>
            </a:r>
            <a:endParaRPr lang="en-US" sz="1100" dirty="0"/>
          </a:p>
        </p:txBody>
      </p:sp>
      <p:sp>
        <p:nvSpPr>
          <p:cNvPr id="5" name="Problem card"/>
          <p:cNvSpPr/>
          <p:nvPr/>
        </p:nvSpPr>
        <p:spPr>
          <a:xfrm>
            <a:off x="457200" y="1234440"/>
            <a:ext cx="365760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6" name="Text 4"/>
          <p:cNvSpPr txBox="1"/>
          <p:nvPr/>
        </p:nvSpPr>
        <p:spPr>
          <a:xfrm>
            <a:off x="685800" y="1371600"/>
            <a:ext cx="3200400" cy="365760"/>
          </a:xfrm>
          <a:prstGeom prst="rect">
            <a:avLst/>
          </a:prstGeom>
          <a:noFill/>
          <a:ln/>
        </p:spPr>
        <p:txBody>
          <a:bodyPr wrap="square" lIns="0" tIns="0" rIns="0" bIns="0" rtlCol="0" anchor="ctr"/>
          <a:lstStyle/>
          <a:p>
            <a:pPr indent="0" marL="0">
              <a:buNone/>
            </a:pPr>
            <a:r>
              <a:rPr lang="en-US" sz="1800" b="1" dirty="0">
                <a:solidFill>
                  <a:schemeClr val="tx2"/>
                </a:solidFill>
              </a:rPr>
              <a:t>Today: paper-based</a:t>
            </a:r>
            <a:endParaRPr lang="en-US" sz="1800" dirty="0"/>
          </a:p>
        </p:txBody>
      </p:sp>
      <p:sp>
        <p:nvSpPr>
          <p:cNvPr id="7" name="FaFileSignature circle"/>
          <p:cNvSpPr/>
          <p:nvPr/>
        </p:nvSpPr>
        <p:spPr>
          <a:xfrm>
            <a:off x="685800" y="1965960"/>
            <a:ext cx="502920" cy="502920"/>
          </a:xfrm>
          <a:prstGeom prst="ellipse">
            <a:avLst/>
          </a:prstGeom>
          <a:solidFill>
            <a:srgbClr val="4A2F25"/>
          </a:solidFill>
          <a:ln w="12700">
            <a:solidFill>
              <a:srgbClr val="4A2F25"/>
            </a:solidFill>
            <a:prstDash val="solid"/>
          </a:ln>
        </p:spPr>
      </p:sp>
      <p:pic>
        <p:nvPicPr>
          <p:cNvPr id="8" name="Image 0" descr="FaFileSignature">    </p:cNvPr>
          <p:cNvPicPr>
            <a:picLocks noChangeAspect="1"/>
          </p:cNvPicPr>
          <p:nvPr/>
        </p:nvPicPr>
        <p:blipFill>
          <a:blip r:embed="rId1"/>
          <a:stretch>
            <a:fillRect/>
          </a:stretch>
        </p:blipFill>
        <p:spPr>
          <a:xfrm>
            <a:off x="816559" y="2096719"/>
            <a:ext cx="241402" cy="241402"/>
          </a:xfrm>
          <a:prstGeom prst="rect">
            <a:avLst/>
          </a:prstGeom>
        </p:spPr>
      </p:pic>
      <p:sp>
        <p:nvSpPr>
          <p:cNvPr id="9" name="Text 6"/>
          <p:cNvSpPr txBox="1"/>
          <p:nvPr/>
        </p:nvSpPr>
        <p:spPr>
          <a:xfrm>
            <a:off x="1371600" y="1920240"/>
            <a:ext cx="2606040" cy="594360"/>
          </a:xfrm>
          <a:prstGeom prst="rect">
            <a:avLst/>
          </a:prstGeom>
          <a:noFill/>
          <a:ln/>
        </p:spPr>
        <p:txBody>
          <a:bodyPr wrap="square" lIns="0" tIns="0" rIns="0" bIns="0" rtlCol="0" anchor="ctr"/>
          <a:lstStyle/>
          <a:p>
            <a:pPr indent="0" marL="0">
              <a:buNone/>
            </a:pPr>
            <a:r>
              <a:rPr lang="en-US" sz="1400" dirty="0">
                <a:solidFill>
                  <a:schemeClr val="tx1"/>
                </a:solidFill>
              </a:rPr>
              <a:t>Hand-written forms and documents carried to school</a:t>
            </a:r>
            <a:endParaRPr lang="en-US" sz="1400" dirty="0"/>
          </a:p>
        </p:txBody>
      </p:sp>
      <p:sp>
        <p:nvSpPr>
          <p:cNvPr id="10" name="FaRoute circle"/>
          <p:cNvSpPr/>
          <p:nvPr/>
        </p:nvSpPr>
        <p:spPr>
          <a:xfrm>
            <a:off x="685800" y="2807208"/>
            <a:ext cx="502920" cy="502920"/>
          </a:xfrm>
          <a:prstGeom prst="ellipse">
            <a:avLst/>
          </a:prstGeom>
          <a:solidFill>
            <a:srgbClr val="4A2F25"/>
          </a:solidFill>
          <a:ln w="12700">
            <a:solidFill>
              <a:srgbClr val="4A2F25"/>
            </a:solidFill>
            <a:prstDash val="solid"/>
          </a:ln>
        </p:spPr>
      </p:sp>
      <p:pic>
        <p:nvPicPr>
          <p:cNvPr id="11" name="Image 1" descr="FaRoute">    </p:cNvPr>
          <p:cNvPicPr>
            <a:picLocks noChangeAspect="1"/>
          </p:cNvPicPr>
          <p:nvPr/>
        </p:nvPicPr>
        <p:blipFill>
          <a:blip r:embed="rId2"/>
          <a:stretch>
            <a:fillRect/>
          </a:stretch>
        </p:blipFill>
        <p:spPr>
          <a:xfrm>
            <a:off x="816559" y="2937967"/>
            <a:ext cx="241402" cy="241402"/>
          </a:xfrm>
          <a:prstGeom prst="rect">
            <a:avLst/>
          </a:prstGeom>
        </p:spPr>
      </p:pic>
      <p:sp>
        <p:nvSpPr>
          <p:cNvPr id="12" name="Text 8"/>
          <p:cNvSpPr txBox="1"/>
          <p:nvPr/>
        </p:nvSpPr>
        <p:spPr>
          <a:xfrm>
            <a:off x="1371600" y="2761488"/>
            <a:ext cx="2606040" cy="594360"/>
          </a:xfrm>
          <a:prstGeom prst="rect">
            <a:avLst/>
          </a:prstGeom>
          <a:noFill/>
          <a:ln/>
        </p:spPr>
        <p:txBody>
          <a:bodyPr wrap="square" lIns="0" tIns="0" rIns="0" bIns="0" rtlCol="0" anchor="ctr"/>
          <a:lstStyle/>
          <a:p>
            <a:pPr indent="0" marL="0">
              <a:buNone/>
            </a:pPr>
            <a:r>
              <a:rPr lang="en-US" sz="1400" dirty="0">
                <a:solidFill>
                  <a:schemeClr val="tx1"/>
                </a:solidFill>
              </a:rPr>
              <a:t>Missing papers mean repeat trips and in-person payment</a:t>
            </a:r>
            <a:endParaRPr lang="en-US" sz="1400" dirty="0"/>
          </a:p>
        </p:txBody>
      </p:sp>
      <p:sp>
        <p:nvSpPr>
          <p:cNvPr id="13" name="FaEyeSlash circle"/>
          <p:cNvSpPr/>
          <p:nvPr/>
        </p:nvSpPr>
        <p:spPr>
          <a:xfrm>
            <a:off x="685800" y="3648456"/>
            <a:ext cx="502920" cy="502920"/>
          </a:xfrm>
          <a:prstGeom prst="ellipse">
            <a:avLst/>
          </a:prstGeom>
          <a:solidFill>
            <a:srgbClr val="4A2F25"/>
          </a:solidFill>
          <a:ln w="12700">
            <a:solidFill>
              <a:srgbClr val="4A2F25"/>
            </a:solidFill>
            <a:prstDash val="solid"/>
          </a:ln>
        </p:spPr>
      </p:sp>
      <p:pic>
        <p:nvPicPr>
          <p:cNvPr id="14" name="Image 2" descr="FaEyeSlash">    </p:cNvPr>
          <p:cNvPicPr>
            <a:picLocks noChangeAspect="1"/>
          </p:cNvPicPr>
          <p:nvPr/>
        </p:nvPicPr>
        <p:blipFill>
          <a:blip r:embed="rId3"/>
          <a:stretch>
            <a:fillRect/>
          </a:stretch>
        </p:blipFill>
        <p:spPr>
          <a:xfrm>
            <a:off x="816559" y="3779215"/>
            <a:ext cx="241402" cy="241402"/>
          </a:xfrm>
          <a:prstGeom prst="rect">
            <a:avLst/>
          </a:prstGeom>
        </p:spPr>
      </p:pic>
      <p:sp>
        <p:nvSpPr>
          <p:cNvPr id="15" name="Text 10"/>
          <p:cNvSpPr txBox="1"/>
          <p:nvPr/>
        </p:nvSpPr>
        <p:spPr>
          <a:xfrm>
            <a:off x="1371600" y="3602736"/>
            <a:ext cx="2606040" cy="594360"/>
          </a:xfrm>
          <a:prstGeom prst="rect">
            <a:avLst/>
          </a:prstGeom>
          <a:noFill/>
          <a:ln/>
        </p:spPr>
        <p:txBody>
          <a:bodyPr wrap="square" lIns="0" tIns="0" rIns="0" bIns="0" rtlCol="0" anchor="ctr"/>
          <a:lstStyle/>
          <a:p>
            <a:pPr indent="0" marL="0">
              <a:buNone/>
            </a:pPr>
            <a:r>
              <a:rPr lang="en-US" sz="1400" dirty="0">
                <a:solidFill>
                  <a:schemeClr val="tx1"/>
                </a:solidFill>
              </a:rPr>
              <a:t>Parents cannot see application or payment status</a:t>
            </a:r>
            <a:endParaRPr lang="en-US" sz="1400" dirty="0"/>
          </a:p>
        </p:txBody>
      </p:sp>
      <p:sp>
        <p:nvSpPr>
          <p:cNvPr id="16" name="Arrow"/>
          <p:cNvSpPr/>
          <p:nvPr/>
        </p:nvSpPr>
        <p:spPr>
          <a:xfrm>
            <a:off x="4224528" y="2697480"/>
            <a:ext cx="694944" cy="457200"/>
          </a:xfrm>
          <a:prstGeom prst="rightArrow">
            <a:avLst/>
          </a:prstGeom>
          <a:solidFill>
            <a:schemeClr val="accent1"/>
          </a:solidFill>
          <a:ln w="12700">
            <a:solidFill>
              <a:schemeClr val="accent1"/>
            </a:solidFill>
            <a:prstDash val="solid"/>
          </a:ln>
        </p:spPr>
      </p:sp>
      <p:sp>
        <p:nvSpPr>
          <p:cNvPr id="17" name="Solution card"/>
          <p:cNvSpPr/>
          <p:nvPr/>
        </p:nvSpPr>
        <p:spPr>
          <a:xfrm>
            <a:off x="5029200" y="1234440"/>
            <a:ext cx="3657600" cy="3291840"/>
          </a:xfrm>
          <a:prstGeom prst="roundRect">
            <a:avLst>
              <a:gd name="adj" fmla="val 3333"/>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18" name="Text 13"/>
          <p:cNvSpPr txBox="1"/>
          <p:nvPr/>
        </p:nvSpPr>
        <p:spPr>
          <a:xfrm>
            <a:off x="5257800" y="1371600"/>
            <a:ext cx="3200400" cy="365760"/>
          </a:xfrm>
          <a:prstGeom prst="rect">
            <a:avLst/>
          </a:prstGeom>
          <a:noFill/>
          <a:ln/>
        </p:spPr>
        <p:txBody>
          <a:bodyPr wrap="square" lIns="0" tIns="0" rIns="0" bIns="0" rtlCol="0" anchor="ctr"/>
          <a:lstStyle/>
          <a:p>
            <a:pPr indent="0" marL="0">
              <a:buNone/>
            </a:pPr>
            <a:r>
              <a:rPr lang="en-US" sz="1800" b="1" dirty="0">
                <a:solidFill>
                  <a:schemeClr val="accent3"/>
                </a:solidFill>
              </a:rPr>
              <a:t>Approved solution</a:t>
            </a:r>
            <a:endParaRPr lang="en-US" sz="1800" dirty="0"/>
          </a:p>
        </p:txBody>
      </p:sp>
      <p:sp>
        <p:nvSpPr>
          <p:cNvPr id="19" name="FaMobileAlt circle"/>
          <p:cNvSpPr/>
          <p:nvPr/>
        </p:nvSpPr>
        <p:spPr>
          <a:xfrm>
            <a:off x="5257800" y="1965960"/>
            <a:ext cx="502920" cy="502920"/>
          </a:xfrm>
          <a:prstGeom prst="ellipse">
            <a:avLst/>
          </a:prstGeom>
          <a:solidFill>
            <a:srgbClr val="C9962F"/>
          </a:solidFill>
          <a:ln w="12700">
            <a:solidFill>
              <a:srgbClr val="C9962F"/>
            </a:solidFill>
            <a:prstDash val="solid"/>
          </a:ln>
        </p:spPr>
      </p:sp>
      <p:pic>
        <p:nvPicPr>
          <p:cNvPr id="20" name="Image 3" descr="FaMobileAlt">    </p:cNvPr>
          <p:cNvPicPr>
            <a:picLocks noChangeAspect="1"/>
          </p:cNvPicPr>
          <p:nvPr/>
        </p:nvPicPr>
        <p:blipFill>
          <a:blip r:embed="rId4"/>
          <a:stretch>
            <a:fillRect/>
          </a:stretch>
        </p:blipFill>
        <p:spPr>
          <a:xfrm>
            <a:off x="5388559" y="2096719"/>
            <a:ext cx="241402" cy="241402"/>
          </a:xfrm>
          <a:prstGeom prst="rect">
            <a:avLst/>
          </a:prstGeom>
        </p:spPr>
      </p:pic>
      <p:sp>
        <p:nvSpPr>
          <p:cNvPr id="21" name="Text 15"/>
          <p:cNvSpPr txBox="1"/>
          <p:nvPr/>
        </p:nvSpPr>
        <p:spPr>
          <a:xfrm>
            <a:off x="5943600" y="1920240"/>
            <a:ext cx="2606040" cy="594360"/>
          </a:xfrm>
          <a:prstGeom prst="rect">
            <a:avLst/>
          </a:prstGeom>
          <a:noFill/>
          <a:ln/>
        </p:spPr>
        <p:txBody>
          <a:bodyPr wrap="square" lIns="0" tIns="0" rIns="0" bIns="0" rtlCol="0" anchor="ctr"/>
          <a:lstStyle/>
          <a:p>
            <a:pPr indent="0" marL="0">
              <a:buNone/>
            </a:pPr>
            <a:r>
              <a:rPr lang="en-US" sz="1400" dirty="0">
                <a:solidFill>
                  <a:schemeClr val="bg1"/>
                </a:solidFill>
              </a:rPr>
              <a:t>Parents apply, upload documents and track status on a mobile app</a:t>
            </a:r>
            <a:endParaRPr lang="en-US" sz="1400" dirty="0"/>
          </a:p>
        </p:txBody>
      </p:sp>
      <p:sp>
        <p:nvSpPr>
          <p:cNvPr id="22" name="FaDesktop circle"/>
          <p:cNvSpPr/>
          <p:nvPr/>
        </p:nvSpPr>
        <p:spPr>
          <a:xfrm>
            <a:off x="5257800" y="2807208"/>
            <a:ext cx="502920" cy="502920"/>
          </a:xfrm>
          <a:prstGeom prst="ellipse">
            <a:avLst/>
          </a:prstGeom>
          <a:solidFill>
            <a:srgbClr val="C9962F"/>
          </a:solidFill>
          <a:ln w="12700">
            <a:solidFill>
              <a:srgbClr val="C9962F"/>
            </a:solidFill>
            <a:prstDash val="solid"/>
          </a:ln>
        </p:spPr>
      </p:sp>
      <p:pic>
        <p:nvPicPr>
          <p:cNvPr id="23" name="Image 4" descr="FaDesktop">    </p:cNvPr>
          <p:cNvPicPr>
            <a:picLocks noChangeAspect="1"/>
          </p:cNvPicPr>
          <p:nvPr/>
        </p:nvPicPr>
        <p:blipFill>
          <a:blip r:embed="rId5"/>
          <a:stretch>
            <a:fillRect/>
          </a:stretch>
        </p:blipFill>
        <p:spPr>
          <a:xfrm>
            <a:off x="5388559" y="2937967"/>
            <a:ext cx="241402" cy="241402"/>
          </a:xfrm>
          <a:prstGeom prst="rect">
            <a:avLst/>
          </a:prstGeom>
        </p:spPr>
      </p:pic>
      <p:sp>
        <p:nvSpPr>
          <p:cNvPr id="24" name="Text 17"/>
          <p:cNvSpPr txBox="1"/>
          <p:nvPr/>
        </p:nvSpPr>
        <p:spPr>
          <a:xfrm>
            <a:off x="5943600" y="2761488"/>
            <a:ext cx="2606040" cy="594360"/>
          </a:xfrm>
          <a:prstGeom prst="rect">
            <a:avLst/>
          </a:prstGeom>
          <a:noFill/>
          <a:ln/>
        </p:spPr>
        <p:txBody>
          <a:bodyPr wrap="square" lIns="0" tIns="0" rIns="0" bIns="0" rtlCol="0" anchor="ctr"/>
          <a:lstStyle/>
          <a:p>
            <a:pPr indent="0" marL="0">
              <a:buNone/>
            </a:pPr>
            <a:r>
              <a:rPr lang="en-US" sz="1400" dirty="0">
                <a:solidFill>
                  <a:schemeClr val="bg1"/>
                </a:solidFill>
              </a:rPr>
              <a:t>Staff verify payments and decide on a web app</a:t>
            </a:r>
            <a:endParaRPr lang="en-US" sz="1400" dirty="0"/>
          </a:p>
        </p:txBody>
      </p:sp>
      <p:sp>
        <p:nvSpPr>
          <p:cNvPr id="25" name="FaDatabase circle"/>
          <p:cNvSpPr/>
          <p:nvPr/>
        </p:nvSpPr>
        <p:spPr>
          <a:xfrm>
            <a:off x="5257800" y="3648456"/>
            <a:ext cx="502920" cy="502920"/>
          </a:xfrm>
          <a:prstGeom prst="ellipse">
            <a:avLst/>
          </a:prstGeom>
          <a:solidFill>
            <a:srgbClr val="C9962F"/>
          </a:solidFill>
          <a:ln w="12700">
            <a:solidFill>
              <a:srgbClr val="C9962F"/>
            </a:solidFill>
            <a:prstDash val="solid"/>
          </a:ln>
        </p:spPr>
      </p:sp>
      <p:pic>
        <p:nvPicPr>
          <p:cNvPr id="26" name="Image 5" descr="FaDatabase">    </p:cNvPr>
          <p:cNvPicPr>
            <a:picLocks noChangeAspect="1"/>
          </p:cNvPicPr>
          <p:nvPr/>
        </p:nvPicPr>
        <p:blipFill>
          <a:blip r:embed="rId6"/>
          <a:stretch>
            <a:fillRect/>
          </a:stretch>
        </p:blipFill>
        <p:spPr>
          <a:xfrm>
            <a:off x="5388559" y="3779215"/>
            <a:ext cx="241402" cy="241402"/>
          </a:xfrm>
          <a:prstGeom prst="rect">
            <a:avLst/>
          </a:prstGeom>
        </p:spPr>
      </p:pic>
      <p:sp>
        <p:nvSpPr>
          <p:cNvPr id="27" name="Text 19"/>
          <p:cNvSpPr txBox="1"/>
          <p:nvPr/>
        </p:nvSpPr>
        <p:spPr>
          <a:xfrm>
            <a:off x="5943600" y="3602736"/>
            <a:ext cx="2606040" cy="594360"/>
          </a:xfrm>
          <a:prstGeom prst="rect">
            <a:avLst/>
          </a:prstGeom>
          <a:noFill/>
          <a:ln/>
        </p:spPr>
        <p:txBody>
          <a:bodyPr wrap="square" lIns="0" tIns="0" rIns="0" bIns="0" rtlCol="0" anchor="ctr"/>
          <a:lstStyle/>
          <a:p>
            <a:pPr indent="0" marL="0">
              <a:buNone/>
            </a:pPr>
            <a:r>
              <a:rPr lang="en-US" sz="1400" dirty="0">
                <a:solidFill>
                  <a:schemeClr val="bg1"/>
                </a:solidFill>
              </a:rPr>
              <a:t>One shared database keeps both apps in sync</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One backend, two applications</a:t>
            </a:r>
            <a:endParaRPr lang="en-US" sz="3400" dirty="0"/>
          </a:p>
        </p:txBody>
      </p:sp>
      <p:sp>
        <p:nvSpPr>
          <p:cNvPr id="3" name="Rubric tag"/>
          <p:cNvSpPr/>
          <p:nvPr/>
        </p:nvSpPr>
        <p:spPr>
          <a:xfrm>
            <a:off x="457200" y="128016"/>
            <a:ext cx="5431536"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5431536" cy="256032"/>
          </a:xfrm>
          <a:prstGeom prst="rect">
            <a:avLst/>
          </a:prstGeom>
          <a:noFill/>
          <a:ln/>
        </p:spPr>
        <p:txBody>
          <a:bodyPr wrap="square" lIns="0" tIns="0" rIns="0" bIns="0" rtlCol="0" anchor="ctr"/>
          <a:lstStyle/>
          <a:p>
            <a:pPr algn="ctr" indent="0" marL="0">
              <a:buNone/>
            </a:pPr>
            <a:r>
              <a:rPr lang="en-US" sz="1100" b="1" dirty="0">
                <a:solidFill>
                  <a:schemeClr val="tx2"/>
                </a:solidFill>
              </a:rPr>
              <a:t>Flutter Mobile Application (15)  ·  ASP.NET Web Application (15)</a:t>
            </a:r>
            <a:endParaRPr lang="en-US" sz="1100" dirty="0"/>
          </a:p>
        </p:txBody>
      </p:sp>
      <p:sp>
        <p:nvSpPr>
          <p:cNvPr id="5" name="Flutter card"/>
          <p:cNvSpPr/>
          <p:nvPr/>
        </p:nvSpPr>
        <p:spPr>
          <a:xfrm>
            <a:off x="457200" y="1234440"/>
            <a:ext cx="2514600" cy="2926080"/>
          </a:xfrm>
          <a:prstGeom prst="roundRect">
            <a:avLst>
              <a:gd name="adj" fmla="val 4364"/>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6" name="FaMobileAlt circle"/>
          <p:cNvSpPr/>
          <p:nvPr/>
        </p:nvSpPr>
        <p:spPr>
          <a:xfrm>
            <a:off x="640080" y="1417320"/>
            <a:ext cx="548640" cy="548640"/>
          </a:xfrm>
          <a:prstGeom prst="ellipse">
            <a:avLst/>
          </a:prstGeom>
          <a:solidFill>
            <a:srgbClr val="4A2F25"/>
          </a:solidFill>
          <a:ln w="12700">
            <a:solidFill>
              <a:srgbClr val="4A2F25"/>
            </a:solidFill>
            <a:prstDash val="solid"/>
          </a:ln>
        </p:spPr>
      </p:sp>
      <p:pic>
        <p:nvPicPr>
          <p:cNvPr id="7" name="Image 0" descr="FaMobileAlt">    </p:cNvPr>
          <p:cNvPicPr>
            <a:picLocks noChangeAspect="1"/>
          </p:cNvPicPr>
          <p:nvPr/>
        </p:nvPicPr>
        <p:blipFill>
          <a:blip r:embed="rId1"/>
          <a:stretch>
            <a:fillRect/>
          </a:stretch>
        </p:blipFill>
        <p:spPr>
          <a:xfrm>
            <a:off x="782726" y="1559966"/>
            <a:ext cx="263347" cy="263347"/>
          </a:xfrm>
          <a:prstGeom prst="rect">
            <a:avLst/>
          </a:prstGeom>
        </p:spPr>
      </p:pic>
      <p:sp>
        <p:nvSpPr>
          <p:cNvPr id="8" name="Text 5"/>
          <p:cNvSpPr txBox="1"/>
          <p:nvPr/>
        </p:nvSpPr>
        <p:spPr>
          <a:xfrm>
            <a:off x="1280160" y="1399032"/>
            <a:ext cx="1645920" cy="594360"/>
          </a:xfrm>
          <a:prstGeom prst="rect">
            <a:avLst/>
          </a:prstGeom>
          <a:noFill/>
          <a:ln/>
        </p:spPr>
        <p:txBody>
          <a:bodyPr wrap="square" lIns="0" tIns="0" rIns="0" bIns="0" rtlCol="0" anchor="ctr"/>
          <a:lstStyle/>
          <a:p>
            <a:pPr indent="0" marL="0">
              <a:buNone/>
            </a:pPr>
            <a:r>
              <a:rPr lang="en-US" sz="1600" b="1" dirty="0">
                <a:solidFill>
                  <a:schemeClr val="tx2"/>
                </a:solidFill>
              </a:rPr>
              <a:t>Flutter mobile app</a:t>
            </a:r>
            <a:endParaRPr lang="en-US" sz="1600" dirty="0"/>
          </a:p>
          <a:p>
            <a:pPr indent="0" marL="0">
              <a:buNone/>
            </a:pPr>
            <a:r>
              <a:rPr lang="en-US" sz="1200" dirty="0">
                <a:solidFill>
                  <a:schemeClr val="accent4"/>
                </a:solidFill>
              </a:rPr>
              <a:t>Parents and guardians</a:t>
            </a:r>
            <a:endParaRPr lang="en-US" sz="1600" dirty="0"/>
          </a:p>
        </p:txBody>
      </p:sp>
      <p:sp>
        <p:nvSpPr>
          <p:cNvPr id="9" name="Text 6"/>
          <p:cNvSpPr txBox="1"/>
          <p:nvPr/>
        </p:nvSpPr>
        <p:spPr>
          <a:xfrm>
            <a:off x="640080" y="2148840"/>
            <a:ext cx="2194560" cy="18745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Register and sign in</a:t>
            </a:r>
            <a:endParaRPr lang="en-US" sz="1400" dirty="0"/>
          </a:p>
          <a:p>
            <a:pPr marL="342900" indent="-342900">
              <a:spcAft>
                <a:spcPts val="500"/>
              </a:spcAft>
              <a:buSzPct val="100000"/>
              <a:buChar char="•"/>
            </a:pPr>
            <a:r>
              <a:rPr lang="en-US" sz="1400" dirty="0">
                <a:solidFill>
                  <a:schemeClr val="tx1"/>
                </a:solidFill>
              </a:rPr>
              <a:t>Submit the application</a:t>
            </a:r>
            <a:endParaRPr lang="en-US" sz="1400" dirty="0"/>
          </a:p>
          <a:p>
            <a:pPr marL="342900" indent="-342900">
              <a:spcAft>
                <a:spcPts val="500"/>
              </a:spcAft>
              <a:buSzPct val="100000"/>
              <a:buChar char="•"/>
            </a:pPr>
            <a:r>
              <a:rPr lang="en-US" sz="1400" dirty="0">
                <a:solidFill>
                  <a:schemeClr val="tx1"/>
                </a:solidFill>
              </a:rPr>
              <a:t>Upload documents and proof of payment</a:t>
            </a:r>
            <a:endParaRPr lang="en-US" sz="1400" dirty="0"/>
          </a:p>
          <a:p>
            <a:pPr marL="342900" indent="-342900">
              <a:spcAft>
                <a:spcPts val="500"/>
              </a:spcAft>
              <a:buSzPct val="100000"/>
              <a:buChar char="•"/>
            </a:pPr>
            <a:r>
              <a:rPr lang="en-US" sz="1400" dirty="0">
                <a:solidFill>
                  <a:schemeClr val="tx1"/>
                </a:solidFill>
              </a:rPr>
              <a:t>Track status and messages</a:t>
            </a:r>
            <a:endParaRPr lang="en-US" sz="1400" dirty="0"/>
          </a:p>
        </p:txBody>
      </p:sp>
      <p:sp>
        <p:nvSpPr>
          <p:cNvPr id="10" name="Supabase card"/>
          <p:cNvSpPr/>
          <p:nvPr/>
        </p:nvSpPr>
        <p:spPr>
          <a:xfrm>
            <a:off x="3429000" y="1234440"/>
            <a:ext cx="2286000" cy="2926080"/>
          </a:xfrm>
          <a:prstGeom prst="roundRect">
            <a:avLst>
              <a:gd name="adj" fmla="val 4800"/>
            </a:avLst>
          </a:prstGeom>
          <a:solidFill>
            <a:schemeClr val="tx2"/>
          </a:solidFill>
          <a:ln w="25400">
            <a:solidFill>
              <a:schemeClr val="accent1"/>
            </a:solidFill>
            <a:prstDash val="solid"/>
          </a:ln>
          <a:effectLst>
            <a:outerShdw sx="100000" sy="100000" kx="0" ky="0" algn="bl" rotWithShape="0" blurRad="101600" dist="25400" dir="5400000">
              <a:srgbClr val="000000">
                <a:alpha val="14000"/>
              </a:srgbClr>
            </a:outerShdw>
          </a:effectLst>
        </p:spPr>
      </p:sp>
      <p:sp>
        <p:nvSpPr>
          <p:cNvPr id="11" name="FaDatabase circle"/>
          <p:cNvSpPr/>
          <p:nvPr/>
        </p:nvSpPr>
        <p:spPr>
          <a:xfrm>
            <a:off x="4297680" y="1417320"/>
            <a:ext cx="548640" cy="548640"/>
          </a:xfrm>
          <a:prstGeom prst="ellipse">
            <a:avLst/>
          </a:prstGeom>
          <a:solidFill>
            <a:srgbClr val="C9962F"/>
          </a:solidFill>
          <a:ln w="12700">
            <a:solidFill>
              <a:srgbClr val="C9962F"/>
            </a:solidFill>
            <a:prstDash val="solid"/>
          </a:ln>
        </p:spPr>
      </p:sp>
      <p:pic>
        <p:nvPicPr>
          <p:cNvPr id="12" name="Image 1" descr="FaDatabase">    </p:cNvPr>
          <p:cNvPicPr>
            <a:picLocks noChangeAspect="1"/>
          </p:cNvPicPr>
          <p:nvPr/>
        </p:nvPicPr>
        <p:blipFill>
          <a:blip r:embed="rId2"/>
          <a:stretch>
            <a:fillRect/>
          </a:stretch>
        </p:blipFill>
        <p:spPr>
          <a:xfrm>
            <a:off x="4440326" y="1559966"/>
            <a:ext cx="263347" cy="263347"/>
          </a:xfrm>
          <a:prstGeom prst="rect">
            <a:avLst/>
          </a:prstGeom>
        </p:spPr>
      </p:pic>
      <p:sp>
        <p:nvSpPr>
          <p:cNvPr id="13" name="Text 9"/>
          <p:cNvSpPr txBox="1"/>
          <p:nvPr/>
        </p:nvSpPr>
        <p:spPr>
          <a:xfrm>
            <a:off x="3520440" y="2057400"/>
            <a:ext cx="2103120" cy="365760"/>
          </a:xfrm>
          <a:prstGeom prst="rect">
            <a:avLst/>
          </a:prstGeom>
          <a:noFill/>
          <a:ln/>
        </p:spPr>
        <p:txBody>
          <a:bodyPr wrap="square" lIns="0" tIns="0" rIns="0" bIns="0" rtlCol="0" anchor="ctr"/>
          <a:lstStyle/>
          <a:p>
            <a:pPr algn="ctr" indent="0" marL="0">
              <a:buNone/>
            </a:pPr>
            <a:r>
              <a:rPr lang="en-US" sz="2000" b="1" dirty="0">
                <a:solidFill>
                  <a:schemeClr val="accent3"/>
                </a:solidFill>
                <a:latin typeface="Cambria" pitchFamily="34" charset="0"/>
                <a:ea typeface="Cambria" pitchFamily="34" charset="-122"/>
                <a:cs typeface="Cambria" pitchFamily="34" charset="-120"/>
              </a:rPr>
              <a:t>Supabase</a:t>
            </a:r>
            <a:endParaRPr lang="en-US" sz="2000" dirty="0"/>
          </a:p>
        </p:txBody>
      </p:sp>
      <p:sp>
        <p:nvSpPr>
          <p:cNvPr id="14" name="Text 10"/>
          <p:cNvSpPr txBox="1"/>
          <p:nvPr/>
        </p:nvSpPr>
        <p:spPr>
          <a:xfrm>
            <a:off x="3520440" y="2404872"/>
            <a:ext cx="2103120" cy="274320"/>
          </a:xfrm>
          <a:prstGeom prst="rect">
            <a:avLst/>
          </a:prstGeom>
          <a:noFill/>
          <a:ln/>
        </p:spPr>
        <p:txBody>
          <a:bodyPr wrap="square" lIns="0" tIns="0" rIns="0" bIns="0" rtlCol="0" anchor="ctr"/>
          <a:lstStyle/>
          <a:p>
            <a:pPr algn="ctr" indent="0" marL="0">
              <a:buNone/>
            </a:pPr>
            <a:r>
              <a:rPr lang="en-US" sz="1200" dirty="0">
                <a:solidFill>
                  <a:schemeClr val="bg2"/>
                </a:solidFill>
              </a:rPr>
              <a:t>One shared project</a:t>
            </a:r>
            <a:endParaRPr lang="en-US" sz="1200" dirty="0"/>
          </a:p>
        </p:txBody>
      </p:sp>
      <p:sp>
        <p:nvSpPr>
          <p:cNvPr id="15" name="Text 11"/>
          <p:cNvSpPr txBox="1"/>
          <p:nvPr/>
        </p:nvSpPr>
        <p:spPr>
          <a:xfrm>
            <a:off x="3611880" y="2834640"/>
            <a:ext cx="1920240" cy="1188720"/>
          </a:xfrm>
          <a:prstGeom prst="rect">
            <a:avLst/>
          </a:prstGeom>
          <a:noFill/>
          <a:ln/>
        </p:spPr>
        <p:txBody>
          <a:bodyPr wrap="square" lIns="0" tIns="0" rIns="0" bIns="0" rtlCol="0" anchor="t"/>
          <a:lstStyle/>
          <a:p>
            <a:pPr algn="ctr" indent="0" marL="0">
              <a:spcAft>
                <a:spcPts val="500"/>
              </a:spcAft>
              <a:buNone/>
            </a:pPr>
            <a:r>
              <a:rPr lang="en-US" sz="1400" dirty="0">
                <a:solidFill>
                  <a:schemeClr val="bg1"/>
                </a:solidFill>
              </a:rPr>
              <a:t>Authentication</a:t>
            </a:r>
            <a:endParaRPr lang="en-US" sz="1400" dirty="0"/>
          </a:p>
          <a:p>
            <a:pPr algn="ctr" indent="0" marL="0">
              <a:spcAft>
                <a:spcPts val="500"/>
              </a:spcAft>
              <a:buNone/>
            </a:pPr>
            <a:r>
              <a:rPr lang="en-US" sz="1400" dirty="0">
                <a:solidFill>
                  <a:schemeClr val="bg1"/>
                </a:solidFill>
              </a:rPr>
              <a:t>PostgreSQL database</a:t>
            </a:r>
            <a:endParaRPr lang="en-US" sz="1400" dirty="0"/>
          </a:p>
          <a:p>
            <a:pPr algn="ctr" indent="0" marL="0">
              <a:spcAft>
                <a:spcPts val="500"/>
              </a:spcAft>
              <a:buNone/>
            </a:pPr>
            <a:r>
              <a:rPr lang="en-US" sz="1400" dirty="0">
                <a:solidFill>
                  <a:schemeClr val="bg1"/>
                </a:solidFill>
              </a:rPr>
              <a:t>Private file storage</a:t>
            </a:r>
            <a:endParaRPr lang="en-US" sz="1400" dirty="0"/>
          </a:p>
          <a:p>
            <a:pPr algn="ctr" indent="0" marL="0">
              <a:spcAft>
                <a:spcPts val="500"/>
              </a:spcAft>
              <a:buNone/>
            </a:pPr>
            <a:r>
              <a:rPr lang="en-US" sz="1400" dirty="0">
                <a:solidFill>
                  <a:schemeClr val="bg1"/>
                </a:solidFill>
              </a:rPr>
              <a:t>Row Level Security</a:t>
            </a:r>
            <a:endParaRPr lang="en-US" sz="1400" dirty="0"/>
          </a:p>
        </p:txBody>
      </p:sp>
      <p:sp>
        <p:nvSpPr>
          <p:cNvPr id="16" name="ASP.NET card"/>
          <p:cNvSpPr/>
          <p:nvPr/>
        </p:nvSpPr>
        <p:spPr>
          <a:xfrm>
            <a:off x="6172200" y="1234440"/>
            <a:ext cx="2514600" cy="2926080"/>
          </a:xfrm>
          <a:prstGeom prst="roundRect">
            <a:avLst>
              <a:gd name="adj" fmla="val 4364"/>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7" name="FaDesktop circle"/>
          <p:cNvSpPr/>
          <p:nvPr/>
        </p:nvSpPr>
        <p:spPr>
          <a:xfrm>
            <a:off x="6355080" y="1417320"/>
            <a:ext cx="548640" cy="548640"/>
          </a:xfrm>
          <a:prstGeom prst="ellipse">
            <a:avLst/>
          </a:prstGeom>
          <a:solidFill>
            <a:srgbClr val="4A2F25"/>
          </a:solidFill>
          <a:ln w="12700">
            <a:solidFill>
              <a:srgbClr val="4A2F25"/>
            </a:solidFill>
            <a:prstDash val="solid"/>
          </a:ln>
        </p:spPr>
      </p:sp>
      <p:pic>
        <p:nvPicPr>
          <p:cNvPr id="18" name="Image 2" descr="FaDesktop">    </p:cNvPr>
          <p:cNvPicPr>
            <a:picLocks noChangeAspect="1"/>
          </p:cNvPicPr>
          <p:nvPr/>
        </p:nvPicPr>
        <p:blipFill>
          <a:blip r:embed="rId3"/>
          <a:stretch>
            <a:fillRect/>
          </a:stretch>
        </p:blipFill>
        <p:spPr>
          <a:xfrm>
            <a:off x="6497726" y="1559966"/>
            <a:ext cx="263347" cy="263347"/>
          </a:xfrm>
          <a:prstGeom prst="rect">
            <a:avLst/>
          </a:prstGeom>
        </p:spPr>
      </p:pic>
      <p:sp>
        <p:nvSpPr>
          <p:cNvPr id="19" name="Text 14"/>
          <p:cNvSpPr txBox="1"/>
          <p:nvPr/>
        </p:nvSpPr>
        <p:spPr>
          <a:xfrm>
            <a:off x="6995160" y="1399032"/>
            <a:ext cx="1645920" cy="594360"/>
          </a:xfrm>
          <a:prstGeom prst="rect">
            <a:avLst/>
          </a:prstGeom>
          <a:noFill/>
          <a:ln/>
        </p:spPr>
        <p:txBody>
          <a:bodyPr wrap="square" lIns="0" tIns="0" rIns="0" bIns="0" rtlCol="0" anchor="ctr"/>
          <a:lstStyle/>
          <a:p>
            <a:pPr indent="0" marL="0">
              <a:buNone/>
            </a:pPr>
            <a:r>
              <a:rPr lang="en-US" sz="1600" b="1" dirty="0">
                <a:solidFill>
                  <a:schemeClr val="tx2"/>
                </a:solidFill>
              </a:rPr>
              <a:t>ASP.NET web app</a:t>
            </a:r>
            <a:endParaRPr lang="en-US" sz="1600" dirty="0"/>
          </a:p>
          <a:p>
            <a:pPr indent="0" marL="0">
              <a:buNone/>
            </a:pPr>
            <a:r>
              <a:rPr lang="en-US" sz="1200" dirty="0">
                <a:solidFill>
                  <a:schemeClr val="accent4"/>
                </a:solidFill>
              </a:rPr>
              <a:t>Clerk and Administrator</a:t>
            </a:r>
            <a:endParaRPr lang="en-US" sz="1600" dirty="0"/>
          </a:p>
        </p:txBody>
      </p:sp>
      <p:sp>
        <p:nvSpPr>
          <p:cNvPr id="20" name="Text 15"/>
          <p:cNvSpPr txBox="1"/>
          <p:nvPr/>
        </p:nvSpPr>
        <p:spPr>
          <a:xfrm>
            <a:off x="6355080" y="2148840"/>
            <a:ext cx="2194560" cy="18745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Clerk verifies payments</a:t>
            </a:r>
            <a:endParaRPr lang="en-US" sz="1400" dirty="0"/>
          </a:p>
          <a:p>
            <a:pPr marL="342900" indent="-342900">
              <a:spcAft>
                <a:spcPts val="500"/>
              </a:spcAft>
              <a:buSzPct val="100000"/>
              <a:buChar char="•"/>
            </a:pPr>
            <a:r>
              <a:rPr lang="en-US" sz="1400" dirty="0">
                <a:solidFill>
                  <a:schemeClr val="tx1"/>
                </a:solidFill>
              </a:rPr>
              <a:t>Admin approves, rejects or requests corrections</a:t>
            </a:r>
            <a:endParaRPr lang="en-US" sz="1400" dirty="0"/>
          </a:p>
          <a:p>
            <a:pPr marL="342900" indent="-342900">
              <a:spcAft>
                <a:spcPts val="500"/>
              </a:spcAft>
              <a:buSzPct val="100000"/>
              <a:buChar char="•"/>
            </a:pPr>
            <a:r>
              <a:rPr lang="en-US" sz="1400" dirty="0">
                <a:solidFill>
                  <a:schemeClr val="tx1"/>
                </a:solidFill>
              </a:rPr>
              <a:t>Notes, messages, reminders</a:t>
            </a:r>
            <a:endParaRPr lang="en-US" sz="1400" dirty="0"/>
          </a:p>
          <a:p>
            <a:pPr marL="342900" indent="-342900">
              <a:spcAft>
                <a:spcPts val="500"/>
              </a:spcAft>
              <a:buSzPct val="100000"/>
              <a:buChar char="•"/>
            </a:pPr>
            <a:r>
              <a:rPr lang="en-US" sz="1400" dirty="0">
                <a:solidFill>
                  <a:schemeClr val="tx1"/>
                </a:solidFill>
              </a:rPr>
              <a:t>Confirmation letters</a:t>
            </a:r>
            <a:endParaRPr lang="en-US" sz="1400" dirty="0"/>
          </a:p>
        </p:txBody>
      </p:sp>
      <p:sp>
        <p:nvSpPr>
          <p:cNvPr id="21" name="Arrow left"/>
          <p:cNvSpPr/>
          <p:nvPr/>
        </p:nvSpPr>
        <p:spPr>
          <a:xfrm>
            <a:off x="2990088" y="2697480"/>
            <a:ext cx="420624" cy="0"/>
          </a:xfrm>
          <a:prstGeom prst="line">
            <a:avLst/>
          </a:prstGeom>
          <a:noFill/>
          <a:ln w="38100">
            <a:solidFill>
              <a:schemeClr val="accent1"/>
            </a:solidFill>
            <a:prstDash val="solid"/>
            <a:headEnd type="triangle"/>
            <a:tailEnd type="triangle"/>
          </a:ln>
        </p:spPr>
      </p:sp>
      <p:sp>
        <p:nvSpPr>
          <p:cNvPr id="22" name="Arrow right"/>
          <p:cNvSpPr/>
          <p:nvPr/>
        </p:nvSpPr>
        <p:spPr>
          <a:xfrm>
            <a:off x="5733288" y="2697480"/>
            <a:ext cx="420624" cy="0"/>
          </a:xfrm>
          <a:prstGeom prst="line">
            <a:avLst/>
          </a:prstGeom>
          <a:noFill/>
          <a:ln w="38100">
            <a:solidFill>
              <a:schemeClr val="accent1"/>
            </a:solidFill>
            <a:prstDash val="solid"/>
            <a:headEnd type="triangle"/>
            <a:tailEnd type="triangle"/>
          </a:ln>
        </p:spPr>
      </p:sp>
      <p:sp>
        <p:nvSpPr>
          <p:cNvPr id="23" name="Text 18"/>
          <p:cNvSpPr txBox="1"/>
          <p:nvPr/>
        </p:nvSpPr>
        <p:spPr>
          <a:xfrm>
            <a:off x="457200" y="4297680"/>
            <a:ext cx="8229600" cy="320040"/>
          </a:xfrm>
          <a:prstGeom prst="rect">
            <a:avLst/>
          </a:prstGeom>
          <a:noFill/>
          <a:ln/>
        </p:spPr>
        <p:txBody>
          <a:bodyPr wrap="square" lIns="0" tIns="0" rIns="0" bIns="0" rtlCol="0" anchor="ctr"/>
          <a:lstStyle/>
          <a:p>
            <a:pPr algn="ctr" indent="0" marL="0">
              <a:buNone/>
            </a:pPr>
            <a:r>
              <a:rPr lang="en-US" sz="1400" i="1" dirty="0">
                <a:solidFill>
                  <a:schemeClr val="accent2"/>
                </a:solidFill>
              </a:rPr>
              <a:t>Same project, same records: a change in one app appears in the other</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Inside the shared Supabase</a:t>
            </a:r>
            <a:endParaRPr lang="en-US" sz="3400" dirty="0"/>
          </a:p>
        </p:txBody>
      </p:sp>
      <p:sp>
        <p:nvSpPr>
          <p:cNvPr id="3" name="Rubric tag"/>
          <p:cNvSpPr/>
          <p:nvPr/>
        </p:nvSpPr>
        <p:spPr>
          <a:xfrm>
            <a:off x="457200" y="128016"/>
            <a:ext cx="2633472"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2633472" cy="256032"/>
          </a:xfrm>
          <a:prstGeom prst="rect">
            <a:avLst/>
          </a:prstGeom>
          <a:noFill/>
          <a:ln/>
        </p:spPr>
        <p:txBody>
          <a:bodyPr wrap="square" lIns="0" tIns="0" rIns="0" bIns="0" rtlCol="0" anchor="ctr"/>
          <a:lstStyle/>
          <a:p>
            <a:pPr algn="ctr" indent="0" marL="0">
              <a:buNone/>
            </a:pPr>
            <a:r>
              <a:rPr lang="en-US" sz="1100" b="1" dirty="0">
                <a:solidFill>
                  <a:schemeClr val="tx2"/>
                </a:solidFill>
              </a:rPr>
              <a:t>Shared Supabase Backend (15)</a:t>
            </a:r>
            <a:endParaRPr lang="en-US" sz="1100" dirty="0"/>
          </a:p>
        </p:txBody>
      </p:sp>
      <p:sp>
        <p:nvSpPr>
          <p:cNvPr id="5" name="Stat card"/>
          <p:cNvSpPr/>
          <p:nvPr/>
        </p:nvSpPr>
        <p:spPr>
          <a:xfrm>
            <a:off x="457200" y="1234440"/>
            <a:ext cx="2377440" cy="2788920"/>
          </a:xfrm>
          <a:prstGeom prst="roundRect">
            <a:avLst>
              <a:gd name="adj" fmla="val 4615"/>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6" name="Text 4"/>
          <p:cNvSpPr txBox="1"/>
          <p:nvPr/>
        </p:nvSpPr>
        <p:spPr>
          <a:xfrm>
            <a:off x="457200" y="1417320"/>
            <a:ext cx="2377440" cy="1188720"/>
          </a:xfrm>
          <a:prstGeom prst="rect">
            <a:avLst/>
          </a:prstGeom>
          <a:noFill/>
          <a:ln/>
        </p:spPr>
        <p:txBody>
          <a:bodyPr wrap="square" lIns="0" tIns="0" rIns="0" bIns="0" rtlCol="0" anchor="ctr"/>
          <a:lstStyle/>
          <a:p>
            <a:pPr algn="ctr" indent="0" marL="0">
              <a:buNone/>
            </a:pPr>
            <a:r>
              <a:rPr lang="en-US" sz="8000" b="1" dirty="0">
                <a:solidFill>
                  <a:schemeClr val="accent1"/>
                </a:solidFill>
                <a:latin typeface="Cambria" pitchFamily="34" charset="0"/>
                <a:ea typeface="Cambria" pitchFamily="34" charset="-122"/>
                <a:cs typeface="Cambria" pitchFamily="34" charset="-120"/>
              </a:rPr>
              <a:t>11</a:t>
            </a:r>
            <a:endParaRPr lang="en-US" sz="8000" dirty="0"/>
          </a:p>
        </p:txBody>
      </p:sp>
      <p:sp>
        <p:nvSpPr>
          <p:cNvPr id="7" name="Text 5"/>
          <p:cNvSpPr txBox="1"/>
          <p:nvPr/>
        </p:nvSpPr>
        <p:spPr>
          <a:xfrm>
            <a:off x="640080" y="2651760"/>
            <a:ext cx="2011680" cy="594360"/>
          </a:xfrm>
          <a:prstGeom prst="rect">
            <a:avLst/>
          </a:prstGeom>
          <a:noFill/>
          <a:ln/>
        </p:spPr>
        <p:txBody>
          <a:bodyPr wrap="square" lIns="0" tIns="0" rIns="0" bIns="0" rtlCol="0" anchor="ctr"/>
          <a:lstStyle/>
          <a:p>
            <a:pPr algn="ctr" indent="0" marL="0">
              <a:buNone/>
            </a:pPr>
            <a:r>
              <a:rPr lang="en-US" sz="1400" dirty="0">
                <a:solidFill>
                  <a:schemeClr val="bg1"/>
                </a:solidFill>
              </a:rPr>
              <a:t>tables built from the approved ERD</a:t>
            </a:r>
            <a:endParaRPr lang="en-US" sz="1400" dirty="0"/>
          </a:p>
        </p:txBody>
      </p:sp>
      <p:sp>
        <p:nvSpPr>
          <p:cNvPr id="8" name="Text 6"/>
          <p:cNvSpPr txBox="1"/>
          <p:nvPr/>
        </p:nvSpPr>
        <p:spPr>
          <a:xfrm>
            <a:off x="640080" y="3383280"/>
            <a:ext cx="2011680" cy="457200"/>
          </a:xfrm>
          <a:prstGeom prst="rect">
            <a:avLst/>
          </a:prstGeom>
          <a:noFill/>
          <a:ln/>
        </p:spPr>
        <p:txBody>
          <a:bodyPr wrap="square" lIns="0" tIns="0" rIns="0" bIns="0" rtlCol="0" anchor="ctr"/>
          <a:lstStyle/>
          <a:p>
            <a:pPr algn="ctr" indent="0" marL="0">
              <a:buNone/>
            </a:pPr>
            <a:r>
              <a:rPr lang="en-US" sz="1100" dirty="0">
                <a:solidFill>
                  <a:schemeClr val="accent3"/>
                </a:solidFill>
              </a:rPr>
              <a:t>West EU (Ireland)  ·  one project</a:t>
            </a:r>
            <a:endParaRPr lang="en-US" sz="1100" dirty="0"/>
          </a:p>
        </p:txBody>
      </p:sp>
      <p:sp>
        <p:nvSpPr>
          <p:cNvPr id="9" name="Users tile"/>
          <p:cNvSpPr/>
          <p:nvPr/>
        </p:nvSpPr>
        <p:spPr>
          <a:xfrm>
            <a:off x="3017520" y="1234440"/>
            <a:ext cx="274320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0" name="Text 8"/>
          <p:cNvSpPr txBox="1"/>
          <p:nvPr/>
        </p:nvSpPr>
        <p:spPr>
          <a:xfrm>
            <a:off x="3200400" y="1344168"/>
            <a:ext cx="2377440" cy="320040"/>
          </a:xfrm>
          <a:prstGeom prst="rect">
            <a:avLst/>
          </a:prstGeom>
          <a:noFill/>
          <a:ln/>
        </p:spPr>
        <p:txBody>
          <a:bodyPr wrap="square" lIns="0" tIns="0" rIns="0" bIns="0" rtlCol="0" anchor="ctr"/>
          <a:lstStyle/>
          <a:p>
            <a:pPr indent="0" marL="0">
              <a:buNone/>
            </a:pPr>
            <a:r>
              <a:rPr lang="en-US" sz="1600" b="1" dirty="0">
                <a:solidFill>
                  <a:schemeClr val="tx2"/>
                </a:solidFill>
              </a:rPr>
              <a:t>Users</a:t>
            </a:r>
            <a:endParaRPr lang="en-US" sz="1600" dirty="0"/>
          </a:p>
        </p:txBody>
      </p:sp>
      <p:sp>
        <p:nvSpPr>
          <p:cNvPr id="11" name="Text 9"/>
          <p:cNvSpPr txBox="1"/>
          <p:nvPr/>
        </p:nvSpPr>
        <p:spPr>
          <a:xfrm>
            <a:off x="3200400" y="1691640"/>
            <a:ext cx="2377440" cy="777240"/>
          </a:xfrm>
          <a:prstGeom prst="rect">
            <a:avLst/>
          </a:prstGeom>
          <a:noFill/>
          <a:ln/>
        </p:spPr>
        <p:txBody>
          <a:bodyPr wrap="square" lIns="0" tIns="0" rIns="0" bIns="0" rtlCol="0" anchor="t"/>
          <a:lstStyle/>
          <a:p>
            <a:pPr indent="0" marL="0">
              <a:buNone/>
            </a:pPr>
            <a:r>
              <a:rPr lang="en-US" sz="1200" dirty="0">
                <a:solidFill>
                  <a:schemeClr val="tx1"/>
                </a:solidFill>
              </a:rPr>
              <a:t>profiles, learners, learner_medical_info</a:t>
            </a:r>
            <a:endParaRPr lang="en-US" sz="1200" dirty="0"/>
          </a:p>
        </p:txBody>
      </p:sp>
      <p:sp>
        <p:nvSpPr>
          <p:cNvPr id="12" name="Enrolment tile"/>
          <p:cNvSpPr/>
          <p:nvPr/>
        </p:nvSpPr>
        <p:spPr>
          <a:xfrm>
            <a:off x="5897880" y="1234440"/>
            <a:ext cx="274320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3" name="Text 11"/>
          <p:cNvSpPr txBox="1"/>
          <p:nvPr/>
        </p:nvSpPr>
        <p:spPr>
          <a:xfrm>
            <a:off x="6080760" y="1344168"/>
            <a:ext cx="2377440" cy="320040"/>
          </a:xfrm>
          <a:prstGeom prst="rect">
            <a:avLst/>
          </a:prstGeom>
          <a:noFill/>
          <a:ln/>
        </p:spPr>
        <p:txBody>
          <a:bodyPr wrap="square" lIns="0" tIns="0" rIns="0" bIns="0" rtlCol="0" anchor="ctr"/>
          <a:lstStyle/>
          <a:p>
            <a:pPr indent="0" marL="0">
              <a:buNone/>
            </a:pPr>
            <a:r>
              <a:rPr lang="en-US" sz="1600" b="1" dirty="0">
                <a:solidFill>
                  <a:schemeClr val="tx2"/>
                </a:solidFill>
              </a:rPr>
              <a:t>Enrolment</a:t>
            </a:r>
            <a:endParaRPr lang="en-US" sz="1600" dirty="0"/>
          </a:p>
        </p:txBody>
      </p:sp>
      <p:sp>
        <p:nvSpPr>
          <p:cNvPr id="14" name="Text 12"/>
          <p:cNvSpPr txBox="1"/>
          <p:nvPr/>
        </p:nvSpPr>
        <p:spPr>
          <a:xfrm>
            <a:off x="6080760" y="1691640"/>
            <a:ext cx="2377440" cy="777240"/>
          </a:xfrm>
          <a:prstGeom prst="rect">
            <a:avLst/>
          </a:prstGeom>
          <a:noFill/>
          <a:ln/>
        </p:spPr>
        <p:txBody>
          <a:bodyPr wrap="square" lIns="0" tIns="0" rIns="0" bIns="0" rtlCol="0" anchor="t"/>
          <a:lstStyle/>
          <a:p>
            <a:pPr indent="0" marL="0">
              <a:buNone/>
            </a:pPr>
            <a:r>
              <a:rPr lang="en-US" sz="1200" dirty="0">
                <a:solidFill>
                  <a:schemeClr val="tx1"/>
                </a:solidFill>
              </a:rPr>
              <a:t>applications, application_documents</a:t>
            </a:r>
            <a:endParaRPr lang="en-US" sz="1200" dirty="0"/>
          </a:p>
        </p:txBody>
      </p:sp>
      <p:sp>
        <p:nvSpPr>
          <p:cNvPr id="15" name="Payments tile"/>
          <p:cNvSpPr/>
          <p:nvPr/>
        </p:nvSpPr>
        <p:spPr>
          <a:xfrm>
            <a:off x="3017520" y="2697480"/>
            <a:ext cx="274320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3200400" y="2807208"/>
            <a:ext cx="2377440" cy="320040"/>
          </a:xfrm>
          <a:prstGeom prst="rect">
            <a:avLst/>
          </a:prstGeom>
          <a:noFill/>
          <a:ln/>
        </p:spPr>
        <p:txBody>
          <a:bodyPr wrap="square" lIns="0" tIns="0" rIns="0" bIns="0" rtlCol="0" anchor="ctr"/>
          <a:lstStyle/>
          <a:p>
            <a:pPr indent="0" marL="0">
              <a:buNone/>
            </a:pPr>
            <a:r>
              <a:rPr lang="en-US" sz="1600" b="1" dirty="0">
                <a:solidFill>
                  <a:schemeClr val="tx2"/>
                </a:solidFill>
              </a:rPr>
              <a:t>Payments</a:t>
            </a:r>
            <a:endParaRPr lang="en-US" sz="1600" dirty="0"/>
          </a:p>
        </p:txBody>
      </p:sp>
      <p:sp>
        <p:nvSpPr>
          <p:cNvPr id="17" name="Text 15"/>
          <p:cNvSpPr txBox="1"/>
          <p:nvPr/>
        </p:nvSpPr>
        <p:spPr>
          <a:xfrm>
            <a:off x="3200400" y="3154680"/>
            <a:ext cx="2377440" cy="777240"/>
          </a:xfrm>
          <a:prstGeom prst="rect">
            <a:avLst/>
          </a:prstGeom>
          <a:noFill/>
          <a:ln/>
        </p:spPr>
        <p:txBody>
          <a:bodyPr wrap="square" lIns="0" tIns="0" rIns="0" bIns="0" rtlCol="0" anchor="t"/>
          <a:lstStyle/>
          <a:p>
            <a:pPr indent="0" marL="0">
              <a:buNone/>
            </a:pPr>
            <a:r>
              <a:rPr lang="en-US" sz="1200" dirty="0">
                <a:solidFill>
                  <a:schemeClr val="tx1"/>
                </a:solidFill>
              </a:rPr>
              <a:t>payments, school_payment_records</a:t>
            </a:r>
            <a:endParaRPr lang="en-US" sz="1200" dirty="0"/>
          </a:p>
        </p:txBody>
      </p:sp>
      <p:sp>
        <p:nvSpPr>
          <p:cNvPr id="18" name="Admin tile"/>
          <p:cNvSpPr/>
          <p:nvPr/>
        </p:nvSpPr>
        <p:spPr>
          <a:xfrm>
            <a:off x="5897880" y="2697480"/>
            <a:ext cx="274320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9" name="Text 17"/>
          <p:cNvSpPr txBox="1"/>
          <p:nvPr/>
        </p:nvSpPr>
        <p:spPr>
          <a:xfrm>
            <a:off x="6080760" y="2807208"/>
            <a:ext cx="2377440" cy="320040"/>
          </a:xfrm>
          <a:prstGeom prst="rect">
            <a:avLst/>
          </a:prstGeom>
          <a:noFill/>
          <a:ln/>
        </p:spPr>
        <p:txBody>
          <a:bodyPr wrap="square" lIns="0" tIns="0" rIns="0" bIns="0" rtlCol="0" anchor="ctr"/>
          <a:lstStyle/>
          <a:p>
            <a:pPr indent="0" marL="0">
              <a:buNone/>
            </a:pPr>
            <a:r>
              <a:rPr lang="en-US" sz="1600" b="1" dirty="0">
                <a:solidFill>
                  <a:schemeClr val="tx2"/>
                </a:solidFill>
              </a:rPr>
              <a:t>Admin</a:t>
            </a:r>
            <a:endParaRPr lang="en-US" sz="1600" dirty="0"/>
          </a:p>
        </p:txBody>
      </p:sp>
      <p:sp>
        <p:nvSpPr>
          <p:cNvPr id="20" name="Text 18"/>
          <p:cNvSpPr txBox="1"/>
          <p:nvPr/>
        </p:nvSpPr>
        <p:spPr>
          <a:xfrm>
            <a:off x="6080760" y="3154680"/>
            <a:ext cx="2377440" cy="777240"/>
          </a:xfrm>
          <a:prstGeom prst="rect">
            <a:avLst/>
          </a:prstGeom>
          <a:noFill/>
          <a:ln/>
        </p:spPr>
        <p:txBody>
          <a:bodyPr wrap="square" lIns="0" tIns="0" rIns="0" bIns="0" rtlCol="0" anchor="t"/>
          <a:lstStyle/>
          <a:p>
            <a:pPr indent="0" marL="0">
              <a:buNone/>
            </a:pPr>
            <a:r>
              <a:rPr lang="en-US" sz="1200" dirty="0">
                <a:solidFill>
                  <a:schemeClr val="tx1"/>
                </a:solidFill>
              </a:rPr>
              <a:t>application_notes, application_status_history, confirmation_letters, notifications</a:t>
            </a:r>
            <a:endParaRPr lang="en-US" sz="1200" dirty="0"/>
          </a:p>
        </p:txBody>
      </p:sp>
      <p:sp>
        <p:nvSpPr>
          <p:cNvPr id="21" name="Chip 0"/>
          <p:cNvSpPr/>
          <p:nvPr/>
        </p:nvSpPr>
        <p:spPr>
          <a:xfrm>
            <a:off x="457200" y="4160520"/>
            <a:ext cx="2651760" cy="457200"/>
          </a:xfrm>
          <a:prstGeom prst="roundRect">
            <a:avLst>
              <a:gd name="adj" fmla="val 50000"/>
            </a:avLst>
          </a:prstGeom>
          <a:solidFill>
            <a:schemeClr val="accent3"/>
          </a:solidFill>
          <a:ln w="12700">
            <a:solidFill>
              <a:schemeClr val="accent3"/>
            </a:solidFill>
            <a:prstDash val="solid"/>
          </a:ln>
        </p:spPr>
      </p:sp>
      <p:pic>
        <p:nvPicPr>
          <p:cNvPr id="22" name="Image 0" descr="FaLock">    </p:cNvPr>
          <p:cNvPicPr>
            <a:picLocks noChangeAspect="1"/>
          </p:cNvPicPr>
          <p:nvPr/>
        </p:nvPicPr>
        <p:blipFill>
          <a:blip r:embed="rId1"/>
          <a:stretch>
            <a:fillRect/>
          </a:stretch>
        </p:blipFill>
        <p:spPr>
          <a:xfrm>
            <a:off x="621792" y="4288536"/>
            <a:ext cx="201168" cy="201168"/>
          </a:xfrm>
          <a:prstGeom prst="rect">
            <a:avLst/>
          </a:prstGeom>
        </p:spPr>
      </p:pic>
      <p:sp>
        <p:nvSpPr>
          <p:cNvPr id="23" name="Text 20"/>
          <p:cNvSpPr txBox="1"/>
          <p:nvPr/>
        </p:nvSpPr>
        <p:spPr>
          <a:xfrm>
            <a:off x="914400" y="4160520"/>
            <a:ext cx="2148840" cy="457200"/>
          </a:xfrm>
          <a:prstGeom prst="rect">
            <a:avLst/>
          </a:prstGeom>
          <a:noFill/>
          <a:ln/>
        </p:spPr>
        <p:txBody>
          <a:bodyPr wrap="square" lIns="0" tIns="0" rIns="0" bIns="0" rtlCol="0" anchor="ctr"/>
          <a:lstStyle/>
          <a:p>
            <a:pPr indent="0" marL="0">
              <a:buNone/>
            </a:pPr>
            <a:r>
              <a:rPr lang="en-US" sz="1200" b="1" dirty="0">
                <a:solidFill>
                  <a:schemeClr val="tx2"/>
                </a:solidFill>
              </a:rPr>
              <a:t>Supabase Auth sign-in</a:t>
            </a:r>
            <a:endParaRPr lang="en-US" sz="1200" dirty="0"/>
          </a:p>
        </p:txBody>
      </p:sp>
      <p:sp>
        <p:nvSpPr>
          <p:cNvPr id="24" name="Chip 1"/>
          <p:cNvSpPr/>
          <p:nvPr/>
        </p:nvSpPr>
        <p:spPr>
          <a:xfrm>
            <a:off x="3246120" y="4160520"/>
            <a:ext cx="2651760" cy="457200"/>
          </a:xfrm>
          <a:prstGeom prst="roundRect">
            <a:avLst>
              <a:gd name="adj" fmla="val 50000"/>
            </a:avLst>
          </a:prstGeom>
          <a:solidFill>
            <a:schemeClr val="accent3"/>
          </a:solidFill>
          <a:ln w="12700">
            <a:solidFill>
              <a:schemeClr val="accent3"/>
            </a:solidFill>
            <a:prstDash val="solid"/>
          </a:ln>
        </p:spPr>
      </p:sp>
      <p:pic>
        <p:nvPicPr>
          <p:cNvPr id="25" name="Image 1" descr="FaUserShield">    </p:cNvPr>
          <p:cNvPicPr>
            <a:picLocks noChangeAspect="1"/>
          </p:cNvPicPr>
          <p:nvPr/>
        </p:nvPicPr>
        <p:blipFill>
          <a:blip r:embed="rId2"/>
          <a:stretch>
            <a:fillRect/>
          </a:stretch>
        </p:blipFill>
        <p:spPr>
          <a:xfrm>
            <a:off x="3410712" y="4288536"/>
            <a:ext cx="201168" cy="201168"/>
          </a:xfrm>
          <a:prstGeom prst="rect">
            <a:avLst/>
          </a:prstGeom>
        </p:spPr>
      </p:pic>
      <p:sp>
        <p:nvSpPr>
          <p:cNvPr id="26" name="Text 22"/>
          <p:cNvSpPr txBox="1"/>
          <p:nvPr/>
        </p:nvSpPr>
        <p:spPr>
          <a:xfrm>
            <a:off x="3703320" y="4160520"/>
            <a:ext cx="2148840" cy="457200"/>
          </a:xfrm>
          <a:prstGeom prst="rect">
            <a:avLst/>
          </a:prstGeom>
          <a:noFill/>
          <a:ln/>
        </p:spPr>
        <p:txBody>
          <a:bodyPr wrap="square" lIns="0" tIns="0" rIns="0" bIns="0" rtlCol="0" anchor="ctr"/>
          <a:lstStyle/>
          <a:p>
            <a:pPr indent="0" marL="0">
              <a:buNone/>
            </a:pPr>
            <a:r>
              <a:rPr lang="en-US" sz="1200" b="1" dirty="0">
                <a:solidFill>
                  <a:schemeClr val="tx2"/>
                </a:solidFill>
              </a:rPr>
              <a:t>Row Level Security on all tables</a:t>
            </a:r>
            <a:endParaRPr lang="en-US" sz="1200" dirty="0"/>
          </a:p>
        </p:txBody>
      </p:sp>
      <p:sp>
        <p:nvSpPr>
          <p:cNvPr id="27" name="Chip 2"/>
          <p:cNvSpPr/>
          <p:nvPr/>
        </p:nvSpPr>
        <p:spPr>
          <a:xfrm>
            <a:off x="6035040" y="4160520"/>
            <a:ext cx="2651760" cy="457200"/>
          </a:xfrm>
          <a:prstGeom prst="roundRect">
            <a:avLst>
              <a:gd name="adj" fmla="val 50000"/>
            </a:avLst>
          </a:prstGeom>
          <a:solidFill>
            <a:schemeClr val="accent3"/>
          </a:solidFill>
          <a:ln w="12700">
            <a:solidFill>
              <a:schemeClr val="accent3"/>
            </a:solidFill>
            <a:prstDash val="solid"/>
          </a:ln>
        </p:spPr>
      </p:sp>
      <p:pic>
        <p:nvPicPr>
          <p:cNvPr id="28" name="Image 2" descr="FaDatabase">    </p:cNvPr>
          <p:cNvPicPr>
            <a:picLocks noChangeAspect="1"/>
          </p:cNvPicPr>
          <p:nvPr/>
        </p:nvPicPr>
        <p:blipFill>
          <a:blip r:embed="rId3"/>
          <a:stretch>
            <a:fillRect/>
          </a:stretch>
        </p:blipFill>
        <p:spPr>
          <a:xfrm>
            <a:off x="6199632" y="4288536"/>
            <a:ext cx="201168" cy="201168"/>
          </a:xfrm>
          <a:prstGeom prst="rect">
            <a:avLst/>
          </a:prstGeom>
        </p:spPr>
      </p:pic>
      <p:sp>
        <p:nvSpPr>
          <p:cNvPr id="29" name="Text 24"/>
          <p:cNvSpPr txBox="1"/>
          <p:nvPr/>
        </p:nvSpPr>
        <p:spPr>
          <a:xfrm>
            <a:off x="6492240" y="4160520"/>
            <a:ext cx="2148840" cy="457200"/>
          </a:xfrm>
          <a:prstGeom prst="rect">
            <a:avLst/>
          </a:prstGeom>
          <a:noFill/>
          <a:ln/>
        </p:spPr>
        <p:txBody>
          <a:bodyPr wrap="square" lIns="0" tIns="0" rIns="0" bIns="0" rtlCol="0" anchor="ctr"/>
          <a:lstStyle/>
          <a:p>
            <a:pPr indent="0" marL="0">
              <a:buNone/>
            </a:pPr>
            <a:r>
              <a:rPr lang="en-US" sz="1200" b="1" dirty="0">
                <a:solidFill>
                  <a:schemeClr val="tx2"/>
                </a:solidFill>
              </a:rPr>
              <a:t>Private storage bucket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Each role sees only what it needs</a:t>
            </a:r>
            <a:endParaRPr lang="en-US" sz="3400" dirty="0"/>
          </a:p>
        </p:txBody>
      </p:sp>
      <p:sp>
        <p:nvSpPr>
          <p:cNvPr id="3" name="Rubric tag"/>
          <p:cNvSpPr/>
          <p:nvPr/>
        </p:nvSpPr>
        <p:spPr>
          <a:xfrm>
            <a:off x="457200" y="128016"/>
            <a:ext cx="4187952"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4187952" cy="256032"/>
          </a:xfrm>
          <a:prstGeom prst="rect">
            <a:avLst/>
          </a:prstGeom>
          <a:noFill/>
          <a:ln/>
        </p:spPr>
        <p:txBody>
          <a:bodyPr wrap="square" lIns="0" tIns="0" rIns="0" bIns="0" rtlCol="0" anchor="ctr"/>
          <a:lstStyle/>
          <a:p>
            <a:pPr algn="ctr" indent="0" marL="0">
              <a:buNone/>
            </a:pPr>
            <a:r>
              <a:rPr lang="en-US" sz="1100" b="1" dirty="0">
                <a:solidFill>
                  <a:schemeClr val="tx2"/>
                </a:solidFill>
              </a:rPr>
              <a:t>Shared Supabase Backend (15)  ·  access controls</a:t>
            </a:r>
            <a:endParaRPr lang="en-US" sz="1100" dirty="0"/>
          </a:p>
        </p:txBody>
      </p:sp>
      <p:sp>
        <p:nvSpPr>
          <p:cNvPr id="5" name="Parent / Guardian card"/>
          <p:cNvSpPr/>
          <p:nvPr/>
        </p:nvSpPr>
        <p:spPr>
          <a:xfrm>
            <a:off x="457200" y="1234440"/>
            <a:ext cx="2560320" cy="242316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6" name="FaUserFriends circle"/>
          <p:cNvSpPr/>
          <p:nvPr/>
        </p:nvSpPr>
        <p:spPr>
          <a:xfrm>
            <a:off x="640080" y="1371600"/>
            <a:ext cx="548640" cy="548640"/>
          </a:xfrm>
          <a:prstGeom prst="ellipse">
            <a:avLst/>
          </a:prstGeom>
          <a:solidFill>
            <a:srgbClr val="4A2F25"/>
          </a:solidFill>
          <a:ln w="12700">
            <a:solidFill>
              <a:srgbClr val="4A2F25"/>
            </a:solidFill>
            <a:prstDash val="solid"/>
          </a:ln>
        </p:spPr>
      </p:sp>
      <p:pic>
        <p:nvPicPr>
          <p:cNvPr id="7" name="Image 0" descr="FaUserFriends">    </p:cNvPr>
          <p:cNvPicPr>
            <a:picLocks noChangeAspect="1"/>
          </p:cNvPicPr>
          <p:nvPr/>
        </p:nvPicPr>
        <p:blipFill>
          <a:blip r:embed="rId1"/>
          <a:stretch>
            <a:fillRect/>
          </a:stretch>
        </p:blipFill>
        <p:spPr>
          <a:xfrm>
            <a:off x="782726" y="1514246"/>
            <a:ext cx="263347" cy="263347"/>
          </a:xfrm>
          <a:prstGeom prst="rect">
            <a:avLst/>
          </a:prstGeom>
        </p:spPr>
      </p:pic>
      <p:sp>
        <p:nvSpPr>
          <p:cNvPr id="8" name="Text 5"/>
          <p:cNvSpPr txBox="1"/>
          <p:nvPr/>
        </p:nvSpPr>
        <p:spPr>
          <a:xfrm>
            <a:off x="640080" y="201168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Parent / Guardian</a:t>
            </a:r>
            <a:endParaRPr lang="en-US" sz="1800" dirty="0"/>
          </a:p>
        </p:txBody>
      </p:sp>
      <p:sp>
        <p:nvSpPr>
          <p:cNvPr id="9" name="Text 6"/>
          <p:cNvSpPr txBox="1"/>
          <p:nvPr/>
        </p:nvSpPr>
        <p:spPr>
          <a:xfrm>
            <a:off x="640080" y="2395728"/>
            <a:ext cx="2194560" cy="1188720"/>
          </a:xfrm>
          <a:prstGeom prst="rect">
            <a:avLst/>
          </a:prstGeom>
          <a:noFill/>
          <a:ln/>
        </p:spPr>
        <p:txBody>
          <a:bodyPr wrap="square" lIns="0" tIns="0" rIns="0" bIns="0" rtlCol="0" anchor="t"/>
          <a:lstStyle/>
          <a:p>
            <a:pPr indent="0" marL="0">
              <a:buNone/>
            </a:pPr>
            <a:r>
              <a:rPr lang="en-US" sz="1400" dirty="0">
                <a:solidFill>
                  <a:schemeClr val="tx1"/>
                </a:solidFill>
              </a:rPr>
              <a:t>Creates and reads only their own learners, applications, documents and payments. Cannot approve anything.</a:t>
            </a:r>
            <a:endParaRPr lang="en-US" sz="1400" dirty="0"/>
          </a:p>
        </p:txBody>
      </p:sp>
      <p:sp>
        <p:nvSpPr>
          <p:cNvPr id="10" name="Financial Clerk card"/>
          <p:cNvSpPr/>
          <p:nvPr/>
        </p:nvSpPr>
        <p:spPr>
          <a:xfrm>
            <a:off x="3291840" y="1234440"/>
            <a:ext cx="2560320" cy="242316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1" name="FaMoneyCheckAlt circle"/>
          <p:cNvSpPr/>
          <p:nvPr/>
        </p:nvSpPr>
        <p:spPr>
          <a:xfrm>
            <a:off x="3474720" y="1371600"/>
            <a:ext cx="548640" cy="548640"/>
          </a:xfrm>
          <a:prstGeom prst="ellipse">
            <a:avLst/>
          </a:prstGeom>
          <a:solidFill>
            <a:srgbClr val="4A2F25"/>
          </a:solidFill>
          <a:ln w="12700">
            <a:solidFill>
              <a:srgbClr val="4A2F25"/>
            </a:solidFill>
            <a:prstDash val="solid"/>
          </a:ln>
        </p:spPr>
      </p:sp>
      <p:pic>
        <p:nvPicPr>
          <p:cNvPr id="12" name="Image 1" descr="FaMoneyCheckAlt">    </p:cNvPr>
          <p:cNvPicPr>
            <a:picLocks noChangeAspect="1"/>
          </p:cNvPicPr>
          <p:nvPr/>
        </p:nvPicPr>
        <p:blipFill>
          <a:blip r:embed="rId2"/>
          <a:stretch>
            <a:fillRect/>
          </a:stretch>
        </p:blipFill>
        <p:spPr>
          <a:xfrm>
            <a:off x="3617366" y="1514246"/>
            <a:ext cx="263347" cy="263347"/>
          </a:xfrm>
          <a:prstGeom prst="rect">
            <a:avLst/>
          </a:prstGeom>
        </p:spPr>
      </p:pic>
      <p:sp>
        <p:nvSpPr>
          <p:cNvPr id="13" name="Text 9"/>
          <p:cNvSpPr txBox="1"/>
          <p:nvPr/>
        </p:nvSpPr>
        <p:spPr>
          <a:xfrm>
            <a:off x="3474720" y="201168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Financial Clerk</a:t>
            </a:r>
            <a:endParaRPr lang="en-US" sz="1800" dirty="0"/>
          </a:p>
        </p:txBody>
      </p:sp>
      <p:sp>
        <p:nvSpPr>
          <p:cNvPr id="14" name="Text 10"/>
          <p:cNvSpPr txBox="1"/>
          <p:nvPr/>
        </p:nvSpPr>
        <p:spPr>
          <a:xfrm>
            <a:off x="3474720" y="2395728"/>
            <a:ext cx="2194560" cy="1188720"/>
          </a:xfrm>
          <a:prstGeom prst="rect">
            <a:avLst/>
          </a:prstGeom>
          <a:noFill/>
          <a:ln/>
        </p:spPr>
        <p:txBody>
          <a:bodyPr wrap="square" lIns="0" tIns="0" rIns="0" bIns="0" rtlCol="0" anchor="t"/>
          <a:lstStyle/>
          <a:p>
            <a:pPr indent="0" marL="0">
              <a:buNone/>
            </a:pPr>
            <a:r>
              <a:rPr lang="en-US" sz="1400" dirty="0">
                <a:solidFill>
                  <a:schemeClr val="tx1"/>
                </a:solidFill>
              </a:rPr>
              <a:t>Reads payments and school payment records and verifies payments. No access to applications.</a:t>
            </a:r>
            <a:endParaRPr lang="en-US" sz="1400" dirty="0"/>
          </a:p>
        </p:txBody>
      </p:sp>
      <p:sp>
        <p:nvSpPr>
          <p:cNvPr id="15" name="Administrator card"/>
          <p:cNvSpPr/>
          <p:nvPr/>
        </p:nvSpPr>
        <p:spPr>
          <a:xfrm>
            <a:off x="6126480" y="1234440"/>
            <a:ext cx="2560320" cy="2423160"/>
          </a:xfrm>
          <a:prstGeom prst="roundRect">
            <a:avLst>
              <a:gd name="adj" fmla="val 4528"/>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6" name="FaUserShield circle"/>
          <p:cNvSpPr/>
          <p:nvPr/>
        </p:nvSpPr>
        <p:spPr>
          <a:xfrm>
            <a:off x="6309360" y="1371600"/>
            <a:ext cx="548640" cy="548640"/>
          </a:xfrm>
          <a:prstGeom prst="ellipse">
            <a:avLst/>
          </a:prstGeom>
          <a:solidFill>
            <a:srgbClr val="4A2F25"/>
          </a:solidFill>
          <a:ln w="12700">
            <a:solidFill>
              <a:srgbClr val="4A2F25"/>
            </a:solidFill>
            <a:prstDash val="solid"/>
          </a:ln>
        </p:spPr>
      </p:sp>
      <p:pic>
        <p:nvPicPr>
          <p:cNvPr id="17" name="Image 2" descr="FaUserShield">    </p:cNvPr>
          <p:cNvPicPr>
            <a:picLocks noChangeAspect="1"/>
          </p:cNvPicPr>
          <p:nvPr/>
        </p:nvPicPr>
        <p:blipFill>
          <a:blip r:embed="rId3"/>
          <a:stretch>
            <a:fillRect/>
          </a:stretch>
        </p:blipFill>
        <p:spPr>
          <a:xfrm>
            <a:off x="6452006" y="1514246"/>
            <a:ext cx="263347" cy="263347"/>
          </a:xfrm>
          <a:prstGeom prst="rect">
            <a:avLst/>
          </a:prstGeom>
        </p:spPr>
      </p:pic>
      <p:sp>
        <p:nvSpPr>
          <p:cNvPr id="18" name="Text 13"/>
          <p:cNvSpPr txBox="1"/>
          <p:nvPr/>
        </p:nvSpPr>
        <p:spPr>
          <a:xfrm>
            <a:off x="6309360" y="201168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Administrator</a:t>
            </a:r>
            <a:endParaRPr lang="en-US" sz="1800" dirty="0"/>
          </a:p>
        </p:txBody>
      </p:sp>
      <p:sp>
        <p:nvSpPr>
          <p:cNvPr id="19" name="Text 14"/>
          <p:cNvSpPr txBox="1"/>
          <p:nvPr/>
        </p:nvSpPr>
        <p:spPr>
          <a:xfrm>
            <a:off x="6309360" y="2395728"/>
            <a:ext cx="2194560" cy="1188720"/>
          </a:xfrm>
          <a:prstGeom prst="rect">
            <a:avLst/>
          </a:prstGeom>
          <a:noFill/>
          <a:ln/>
        </p:spPr>
        <p:txBody>
          <a:bodyPr wrap="square" lIns="0" tIns="0" rIns="0" bIns="0" rtlCol="0" anchor="t"/>
          <a:lstStyle/>
          <a:p>
            <a:pPr indent="0" marL="0">
              <a:buNone/>
            </a:pPr>
            <a:r>
              <a:rPr lang="en-US" sz="1400" dirty="0">
                <a:solidFill>
                  <a:schemeClr val="tx1"/>
                </a:solidFill>
              </a:rPr>
              <a:t>Reads all applications and documents. Approves, rejects or requests corrections. Cannot verify payments.</a:t>
            </a:r>
            <a:endParaRPr lang="en-US" sz="1400" dirty="0"/>
          </a:p>
        </p:txBody>
      </p:sp>
      <p:sp>
        <p:nvSpPr>
          <p:cNvPr id="20" name="Proof panel"/>
          <p:cNvSpPr/>
          <p:nvPr/>
        </p:nvSpPr>
        <p:spPr>
          <a:xfrm>
            <a:off x="457200" y="3794760"/>
            <a:ext cx="8229600" cy="777240"/>
          </a:xfrm>
          <a:prstGeom prst="roundRect">
            <a:avLst>
              <a:gd name="adj" fmla="val 14118"/>
            </a:avLst>
          </a:prstGeom>
          <a:solidFill>
            <a:schemeClr val="tx2"/>
          </a:solidFill>
          <a:ln w="12700">
            <a:solidFill>
              <a:schemeClr val="tx2"/>
            </a:solidFill>
            <a:prstDash val="solid"/>
          </a:ln>
        </p:spPr>
      </p:sp>
      <p:pic>
        <p:nvPicPr>
          <p:cNvPr id="21" name="Image 3" descr="check">    </p:cNvPr>
          <p:cNvPicPr>
            <a:picLocks noChangeAspect="1"/>
          </p:cNvPicPr>
          <p:nvPr/>
        </p:nvPicPr>
        <p:blipFill>
          <a:blip r:embed="rId4"/>
          <a:stretch>
            <a:fillRect/>
          </a:stretch>
        </p:blipFill>
        <p:spPr>
          <a:xfrm>
            <a:off x="685800" y="4023360"/>
            <a:ext cx="320040" cy="320040"/>
          </a:xfrm>
          <a:prstGeom prst="rect">
            <a:avLst/>
          </a:prstGeom>
        </p:spPr>
      </p:pic>
      <p:sp>
        <p:nvSpPr>
          <p:cNvPr id="22" name="Text 16"/>
          <p:cNvSpPr txBox="1"/>
          <p:nvPr/>
        </p:nvSpPr>
        <p:spPr>
          <a:xfrm>
            <a:off x="1188720" y="3794760"/>
            <a:ext cx="7315200" cy="777240"/>
          </a:xfrm>
          <a:prstGeom prst="rect">
            <a:avLst/>
          </a:prstGeom>
          <a:noFill/>
          <a:ln/>
        </p:spPr>
        <p:txBody>
          <a:bodyPr wrap="square" lIns="0" tIns="0" rIns="0" bIns="0" rtlCol="0" anchor="ctr"/>
          <a:lstStyle/>
          <a:p>
            <a:pPr indent="0" marL="0">
              <a:buNone/>
            </a:pPr>
            <a:r>
              <a:rPr lang="en-US" sz="1400" dirty="0">
                <a:solidFill>
                  <a:schemeClr val="bg1"/>
                </a:solidFill>
              </a:rPr>
              <a:t>Tested with dummy data: Parent 2 reads 0 rows of Parent 1's records, and the Clerk reads 0 rows of applications. No delete rights keeps the audit history.</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Decisions and limitations</a:t>
            </a:r>
            <a:endParaRPr lang="en-US" sz="3400" dirty="0"/>
          </a:p>
        </p:txBody>
      </p:sp>
      <p:sp>
        <p:nvSpPr>
          <p:cNvPr id="3" name="Rubric tag"/>
          <p:cNvSpPr/>
          <p:nvPr/>
        </p:nvSpPr>
        <p:spPr>
          <a:xfrm>
            <a:off x="457200" y="128016"/>
            <a:ext cx="6986016"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6986016" cy="256032"/>
          </a:xfrm>
          <a:prstGeom prst="rect">
            <a:avLst/>
          </a:prstGeom>
          <a:noFill/>
          <a:ln/>
        </p:spPr>
        <p:txBody>
          <a:bodyPr wrap="square" lIns="0" tIns="0" rIns="0" bIns="0" rtlCol="0" anchor="ctr"/>
          <a:lstStyle/>
          <a:p>
            <a:pPr algn="ctr" indent="0" marL="0">
              <a:buNone/>
            </a:pPr>
            <a:r>
              <a:rPr lang="en-US" sz="1100" b="1" dirty="0">
                <a:solidFill>
                  <a:schemeClr val="tx2"/>
                </a:solidFill>
              </a:rPr>
              <a:t>Final SRS and Implementation Evidence (5)  ·  approved changes and known limitations</a:t>
            </a:r>
            <a:endParaRPr lang="en-US" sz="1100" dirty="0"/>
          </a:p>
        </p:txBody>
      </p:sp>
      <p:sp>
        <p:nvSpPr>
          <p:cNvPr id="5" name="FaPlusSquare circle"/>
          <p:cNvSpPr/>
          <p:nvPr/>
        </p:nvSpPr>
        <p:spPr>
          <a:xfrm>
            <a:off x="457200" y="1325880"/>
            <a:ext cx="548640" cy="548640"/>
          </a:xfrm>
          <a:prstGeom prst="ellipse">
            <a:avLst/>
          </a:prstGeom>
          <a:solidFill>
            <a:srgbClr val="4A2F25"/>
          </a:solidFill>
          <a:ln w="12700">
            <a:solidFill>
              <a:srgbClr val="4A2F25"/>
            </a:solidFill>
            <a:prstDash val="solid"/>
          </a:ln>
        </p:spPr>
      </p:sp>
      <p:pic>
        <p:nvPicPr>
          <p:cNvPr id="6" name="Image 0" descr="FaPlusSquare">    </p:cNvPr>
          <p:cNvPicPr>
            <a:picLocks noChangeAspect="1"/>
          </p:cNvPicPr>
          <p:nvPr/>
        </p:nvPicPr>
        <p:blipFill>
          <a:blip r:embed="rId1"/>
          <a:stretch>
            <a:fillRect/>
          </a:stretch>
        </p:blipFill>
        <p:spPr>
          <a:xfrm>
            <a:off x="599846" y="1468526"/>
            <a:ext cx="263347" cy="263347"/>
          </a:xfrm>
          <a:prstGeom prst="rect">
            <a:avLst/>
          </a:prstGeom>
        </p:spPr>
      </p:pic>
      <p:sp>
        <p:nvSpPr>
          <p:cNvPr id="7" name="Text 4"/>
          <p:cNvSpPr txBox="1"/>
          <p:nvPr/>
        </p:nvSpPr>
        <p:spPr>
          <a:xfrm>
            <a:off x="1188720" y="1280160"/>
            <a:ext cx="4206240" cy="960120"/>
          </a:xfrm>
          <a:prstGeom prst="rect">
            <a:avLst/>
          </a:prstGeom>
          <a:noFill/>
          <a:ln/>
        </p:spPr>
        <p:txBody>
          <a:bodyPr wrap="square" lIns="0" tIns="0" rIns="0" bIns="0" rtlCol="0" anchor="t"/>
          <a:lstStyle/>
          <a:p>
            <a:pPr indent="0" marL="0">
              <a:buNone/>
            </a:pPr>
            <a:r>
              <a:rPr lang="en-US" sz="1600" b="1" dirty="0">
                <a:solidFill>
                  <a:schemeClr val="tx2"/>
                </a:solidFill>
              </a:rPr>
              <a:t>Six fields added</a:t>
            </a:r>
            <a:endParaRPr lang="en-US" sz="1600" dirty="0"/>
          </a:p>
          <a:p>
            <a:pPr indent="0" marL="0">
              <a:buNone/>
            </a:pPr>
            <a:r>
              <a:rPr lang="en-US" sz="1400" dirty="0">
                <a:solidFill>
                  <a:schemeClr val="tx1"/>
                </a:solidFill>
              </a:rPr>
              <a:t>The wireframes needed fields the ERD lacked, such as grade applied for, initials and siblings at school.</a:t>
            </a:r>
            <a:endParaRPr lang="en-US" sz="1600" dirty="0"/>
          </a:p>
        </p:txBody>
      </p:sp>
      <p:sp>
        <p:nvSpPr>
          <p:cNvPr id="8" name="FaSave circle"/>
          <p:cNvSpPr/>
          <p:nvPr/>
        </p:nvSpPr>
        <p:spPr>
          <a:xfrm>
            <a:off x="457200" y="2423160"/>
            <a:ext cx="548640" cy="548640"/>
          </a:xfrm>
          <a:prstGeom prst="ellipse">
            <a:avLst/>
          </a:prstGeom>
          <a:solidFill>
            <a:srgbClr val="4A2F25"/>
          </a:solidFill>
          <a:ln w="12700">
            <a:solidFill>
              <a:srgbClr val="4A2F25"/>
            </a:solidFill>
            <a:prstDash val="solid"/>
          </a:ln>
        </p:spPr>
      </p:sp>
      <p:pic>
        <p:nvPicPr>
          <p:cNvPr id="9" name="Image 1" descr="FaSave">    </p:cNvPr>
          <p:cNvPicPr>
            <a:picLocks noChangeAspect="1"/>
          </p:cNvPicPr>
          <p:nvPr/>
        </p:nvPicPr>
        <p:blipFill>
          <a:blip r:embed="rId2"/>
          <a:stretch>
            <a:fillRect/>
          </a:stretch>
        </p:blipFill>
        <p:spPr>
          <a:xfrm>
            <a:off x="599846" y="2565806"/>
            <a:ext cx="263347" cy="263347"/>
          </a:xfrm>
          <a:prstGeom prst="rect">
            <a:avLst/>
          </a:prstGeom>
        </p:spPr>
      </p:pic>
      <p:sp>
        <p:nvSpPr>
          <p:cNvPr id="10" name="Text 6"/>
          <p:cNvSpPr txBox="1"/>
          <p:nvPr/>
        </p:nvSpPr>
        <p:spPr>
          <a:xfrm>
            <a:off x="1188720" y="2377440"/>
            <a:ext cx="4206240" cy="960120"/>
          </a:xfrm>
          <a:prstGeom prst="rect">
            <a:avLst/>
          </a:prstGeom>
          <a:noFill/>
          <a:ln/>
        </p:spPr>
        <p:txBody>
          <a:bodyPr wrap="square" lIns="0" tIns="0" rIns="0" bIns="0" rtlCol="0" anchor="t"/>
          <a:lstStyle/>
          <a:p>
            <a:pPr indent="0" marL="0">
              <a:buNone/>
            </a:pPr>
            <a:r>
              <a:rPr lang="en-US" sz="1600" b="1" dirty="0">
                <a:solidFill>
                  <a:schemeClr val="tx2"/>
                </a:solidFill>
              </a:rPr>
              <a:t>Save and Close</a:t>
            </a:r>
            <a:endParaRPr lang="en-US" sz="1600" dirty="0"/>
          </a:p>
          <a:p>
            <a:pPr indent="0" marL="0">
              <a:buNone/>
            </a:pPr>
            <a:r>
              <a:rPr lang="en-US" sz="1400" dirty="0">
                <a:solidFill>
                  <a:schemeClr val="tx1"/>
                </a:solidFill>
              </a:rPr>
              <a:t>Parents can finish later: a saved application waits on Home with Continue and Delete. Lecturer advice.</a:t>
            </a:r>
            <a:endParaRPr lang="en-US" sz="1600" dirty="0"/>
          </a:p>
        </p:txBody>
      </p:sp>
      <p:sp>
        <p:nvSpPr>
          <p:cNvPr id="11" name="FaChartBar circle"/>
          <p:cNvSpPr/>
          <p:nvPr/>
        </p:nvSpPr>
        <p:spPr>
          <a:xfrm>
            <a:off x="457200" y="3520440"/>
            <a:ext cx="548640" cy="548640"/>
          </a:xfrm>
          <a:prstGeom prst="ellipse">
            <a:avLst/>
          </a:prstGeom>
          <a:solidFill>
            <a:srgbClr val="4A2F25"/>
          </a:solidFill>
          <a:ln w="12700">
            <a:solidFill>
              <a:srgbClr val="4A2F25"/>
            </a:solidFill>
            <a:prstDash val="solid"/>
          </a:ln>
        </p:spPr>
      </p:sp>
      <p:pic>
        <p:nvPicPr>
          <p:cNvPr id="12" name="Image 2" descr="FaChartBar">    </p:cNvPr>
          <p:cNvPicPr>
            <a:picLocks noChangeAspect="1"/>
          </p:cNvPicPr>
          <p:nvPr/>
        </p:nvPicPr>
        <p:blipFill>
          <a:blip r:embed="rId3"/>
          <a:stretch>
            <a:fillRect/>
          </a:stretch>
        </p:blipFill>
        <p:spPr>
          <a:xfrm>
            <a:off x="599846" y="3663086"/>
            <a:ext cx="263347" cy="263347"/>
          </a:xfrm>
          <a:prstGeom prst="rect">
            <a:avLst/>
          </a:prstGeom>
        </p:spPr>
      </p:pic>
      <p:sp>
        <p:nvSpPr>
          <p:cNvPr id="13" name="Text 8"/>
          <p:cNvSpPr txBox="1"/>
          <p:nvPr/>
        </p:nvSpPr>
        <p:spPr>
          <a:xfrm>
            <a:off x="1188720" y="3474720"/>
            <a:ext cx="4206240" cy="960120"/>
          </a:xfrm>
          <a:prstGeom prst="rect">
            <a:avLst/>
          </a:prstGeom>
          <a:noFill/>
          <a:ln/>
        </p:spPr>
        <p:txBody>
          <a:bodyPr wrap="square" lIns="0" tIns="0" rIns="0" bIns="0" rtlCol="0" anchor="t"/>
          <a:lstStyle/>
          <a:p>
            <a:pPr indent="0" marL="0">
              <a:buNone/>
            </a:pPr>
            <a:r>
              <a:rPr lang="en-US" sz="1600" b="1" dirty="0">
                <a:solidFill>
                  <a:schemeClr val="tx2"/>
                </a:solidFill>
              </a:rPr>
              <a:t>Clearer charts</a:t>
            </a:r>
            <a:endParaRPr lang="en-US" sz="1600" dirty="0"/>
          </a:p>
          <a:p>
            <a:pPr indent="0" marL="0">
              <a:buNone/>
            </a:pPr>
            <a:r>
              <a:rPr lang="en-US" sz="1400" dirty="0">
                <a:solidFill>
                  <a:schemeClr val="tx1"/>
                </a:solidFill>
              </a:rPr>
              <a:t>Dashboard charts show days of the week against totals that add up. Lecturer feedback.</a:t>
            </a:r>
            <a:endParaRPr lang="en-US" sz="1600" dirty="0"/>
          </a:p>
        </p:txBody>
      </p:sp>
      <p:sp>
        <p:nvSpPr>
          <p:cNvPr id="14" name="Limitations card"/>
          <p:cNvSpPr/>
          <p:nvPr/>
        </p:nvSpPr>
        <p:spPr>
          <a:xfrm>
            <a:off x="5669280" y="1280160"/>
            <a:ext cx="3017520" cy="2880360"/>
          </a:xfrm>
          <a:prstGeom prst="roundRect">
            <a:avLst>
              <a:gd name="adj" fmla="val 381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15" name="Text 10"/>
          <p:cNvSpPr txBox="1"/>
          <p:nvPr/>
        </p:nvSpPr>
        <p:spPr>
          <a:xfrm>
            <a:off x="5897880" y="1444752"/>
            <a:ext cx="2651760" cy="365760"/>
          </a:xfrm>
          <a:prstGeom prst="rect">
            <a:avLst/>
          </a:prstGeom>
          <a:noFill/>
          <a:ln/>
        </p:spPr>
        <p:txBody>
          <a:bodyPr wrap="square" lIns="0" tIns="0" rIns="0" bIns="0" rtlCol="0" anchor="ctr"/>
          <a:lstStyle/>
          <a:p>
            <a:pPr indent="0" marL="0">
              <a:buNone/>
            </a:pPr>
            <a:r>
              <a:rPr lang="en-US" sz="1800" b="1" dirty="0">
                <a:solidFill>
                  <a:schemeClr val="accent3"/>
                </a:solidFill>
              </a:rPr>
              <a:t>Known limitations</a:t>
            </a:r>
            <a:endParaRPr lang="en-US" sz="1800" dirty="0"/>
          </a:p>
        </p:txBody>
      </p:sp>
      <p:sp>
        <p:nvSpPr>
          <p:cNvPr id="16" name="Text 11"/>
          <p:cNvSpPr txBox="1"/>
          <p:nvPr/>
        </p:nvSpPr>
        <p:spPr>
          <a:xfrm>
            <a:off x="5897880" y="1938528"/>
            <a:ext cx="265176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No payment gateway: the Clerk checks proof of payment</a:t>
            </a:r>
            <a:endParaRPr lang="en-US" sz="1400" dirty="0"/>
          </a:p>
          <a:p>
            <a:pPr marL="342900" indent="-342900">
              <a:spcAft>
                <a:spcPts val="1000"/>
              </a:spcAft>
              <a:buSzPct val="100000"/>
              <a:buChar char="•"/>
            </a:pPr>
            <a:r>
              <a:rPr lang="en-US" sz="1400" dirty="0">
                <a:solidFill>
                  <a:schemeClr val="bg1"/>
                </a:solidFill>
              </a:rPr>
              <a:t>Prototype uses dummy data only</a:t>
            </a:r>
            <a:endParaRPr lang="en-US" sz="1400" dirty="0"/>
          </a:p>
          <a:p>
            <a:pPr marL="342900" indent="-342900">
              <a:spcAft>
                <a:spcPts val="1000"/>
              </a:spcAft>
              <a:buSzPct val="100000"/>
              <a:buChar char="•"/>
            </a:pPr>
            <a:r>
              <a:rPr lang="en-US" sz="1400" dirty="0">
                <a:solidFill>
                  <a:schemeClr val="bg1"/>
                </a:solidFill>
              </a:rPr>
              <a:t>Mobile interface targets a standard Android phone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Project status: requirements met</a:t>
            </a:r>
            <a:endParaRPr lang="en-US" sz="3400" dirty="0"/>
          </a:p>
        </p:txBody>
      </p:sp>
      <p:sp>
        <p:nvSpPr>
          <p:cNvPr id="3" name="Rubric tag"/>
          <p:cNvSpPr/>
          <p:nvPr/>
        </p:nvSpPr>
        <p:spPr>
          <a:xfrm>
            <a:off x="457200" y="128016"/>
            <a:ext cx="6364224"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6364224" cy="256032"/>
          </a:xfrm>
          <a:prstGeom prst="rect">
            <a:avLst/>
          </a:prstGeom>
          <a:noFill/>
          <a:ln/>
        </p:spPr>
        <p:txBody>
          <a:bodyPr wrap="square" lIns="0" tIns="0" rIns="0" bIns="0" rtlCol="0" anchor="ctr"/>
          <a:lstStyle/>
          <a:p>
            <a:pPr algn="ctr" indent="0" marL="0">
              <a:buNone/>
            </a:pPr>
            <a:r>
              <a:rPr lang="en-US" sz="1100" b="1" dirty="0">
                <a:solidFill>
                  <a:schemeClr val="tx2"/>
                </a:solidFill>
              </a:rPr>
              <a:t>Final SRS and Implementation Evidence (5)  ·  requirement-to-function status</a:t>
            </a:r>
            <a:endParaRPr lang="en-US" sz="1100" dirty="0"/>
          </a:p>
        </p:txBody>
      </p:sp>
      <p:sp>
        <p:nvSpPr>
          <p:cNvPr id="5" name="Text 3"/>
          <p:cNvSpPr txBox="1"/>
          <p:nvPr/>
        </p:nvSpPr>
        <p:spPr>
          <a:xfrm>
            <a:off x="457200" y="1097280"/>
            <a:ext cx="8229600" cy="320040"/>
          </a:xfrm>
          <a:prstGeom prst="rect">
            <a:avLst/>
          </a:prstGeom>
          <a:noFill/>
          <a:ln/>
        </p:spPr>
        <p:txBody>
          <a:bodyPr wrap="square" lIns="0" tIns="0" rIns="0" bIns="0" rtlCol="0" anchor="ctr"/>
          <a:lstStyle/>
          <a:p>
            <a:pPr indent="0" marL="0">
              <a:buNone/>
            </a:pPr>
            <a:r>
              <a:rPr lang="en-US" sz="1600" b="1" dirty="0">
                <a:solidFill>
                  <a:schemeClr val="tx2"/>
                </a:solidFill>
              </a:rPr>
              <a:t>Functional requirements  </a:t>
            </a:r>
            <a:pPr indent="0" marL="0">
              <a:buNone/>
            </a:pPr>
            <a:r>
              <a:rPr lang="en-US" sz="1600" b="1" dirty="0">
                <a:solidFill>
                  <a:schemeClr val="accent5"/>
                </a:solidFill>
              </a:rPr>
              <a:t>15 of 15 met</a:t>
            </a:r>
            <a:endParaRPr lang="en-US" sz="1600" dirty="0"/>
          </a:p>
        </p:txBody>
      </p:sp>
      <p:sp>
        <p:nvSpPr>
          <p:cNvPr id="6" name="FR1 chip"/>
          <p:cNvSpPr/>
          <p:nvPr/>
        </p:nvSpPr>
        <p:spPr>
          <a:xfrm>
            <a:off x="457200" y="1481328"/>
            <a:ext cx="1572768" cy="530352"/>
          </a:xfrm>
          <a:prstGeom prst="roundRect">
            <a:avLst>
              <a:gd name="adj" fmla="val 13793"/>
            </a:avLst>
          </a:prstGeom>
          <a:solidFill>
            <a:schemeClr val="bg2"/>
          </a:solidFill>
          <a:ln w="12700">
            <a:solidFill>
              <a:schemeClr val="bg2"/>
            </a:solidFill>
            <a:prstDash val="solid"/>
          </a:ln>
        </p:spPr>
      </p:sp>
      <p:pic>
        <p:nvPicPr>
          <p:cNvPr id="7" name="Image 0" descr="met">    </p:cNvPr>
          <p:cNvPicPr>
            <a:picLocks noChangeAspect="1"/>
          </p:cNvPicPr>
          <p:nvPr/>
        </p:nvPicPr>
        <p:blipFill>
          <a:blip r:embed="rId1"/>
          <a:stretch>
            <a:fillRect/>
          </a:stretch>
        </p:blipFill>
        <p:spPr>
          <a:xfrm>
            <a:off x="548640" y="1655064"/>
            <a:ext cx="182880" cy="182880"/>
          </a:xfrm>
          <a:prstGeom prst="rect">
            <a:avLst/>
          </a:prstGeom>
        </p:spPr>
      </p:pic>
      <p:sp>
        <p:nvSpPr>
          <p:cNvPr id="8" name="Text 5"/>
          <p:cNvSpPr txBox="1"/>
          <p:nvPr/>
        </p:nvSpPr>
        <p:spPr>
          <a:xfrm>
            <a:off x="804672" y="1481328"/>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FR1 </a:t>
            </a:r>
            <a:pPr indent="0" marL="0">
              <a:buNone/>
            </a:pPr>
            <a:r>
              <a:rPr lang="en-US" sz="1100" dirty="0">
                <a:solidFill>
                  <a:schemeClr val="tx1"/>
                </a:solidFill>
              </a:rPr>
              <a:t>Sign-up &amp; login</a:t>
            </a:r>
            <a:endParaRPr lang="en-US" sz="1100" dirty="0"/>
          </a:p>
        </p:txBody>
      </p:sp>
      <p:sp>
        <p:nvSpPr>
          <p:cNvPr id="9" name="FR2 chip"/>
          <p:cNvSpPr/>
          <p:nvPr/>
        </p:nvSpPr>
        <p:spPr>
          <a:xfrm>
            <a:off x="2121408" y="1481328"/>
            <a:ext cx="1572768" cy="530352"/>
          </a:xfrm>
          <a:prstGeom prst="roundRect">
            <a:avLst>
              <a:gd name="adj" fmla="val 13793"/>
            </a:avLst>
          </a:prstGeom>
          <a:solidFill>
            <a:schemeClr val="bg2"/>
          </a:solidFill>
          <a:ln w="12700">
            <a:solidFill>
              <a:schemeClr val="bg2"/>
            </a:solidFill>
            <a:prstDash val="solid"/>
          </a:ln>
        </p:spPr>
      </p:sp>
      <p:pic>
        <p:nvPicPr>
          <p:cNvPr id="10" name="Image 1" descr="met">    </p:cNvPr>
          <p:cNvPicPr>
            <a:picLocks noChangeAspect="1"/>
          </p:cNvPicPr>
          <p:nvPr/>
        </p:nvPicPr>
        <p:blipFill>
          <a:blip r:embed="rId2"/>
          <a:stretch>
            <a:fillRect/>
          </a:stretch>
        </p:blipFill>
        <p:spPr>
          <a:xfrm>
            <a:off x="2212848" y="1655064"/>
            <a:ext cx="182880" cy="182880"/>
          </a:xfrm>
          <a:prstGeom prst="rect">
            <a:avLst/>
          </a:prstGeom>
        </p:spPr>
      </p:pic>
      <p:sp>
        <p:nvSpPr>
          <p:cNvPr id="11" name="Text 7"/>
          <p:cNvSpPr txBox="1"/>
          <p:nvPr/>
        </p:nvSpPr>
        <p:spPr>
          <a:xfrm>
            <a:off x="2468880" y="1481328"/>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FR2 </a:t>
            </a:r>
            <a:pPr indent="0" marL="0">
              <a:buNone/>
            </a:pPr>
            <a:r>
              <a:rPr lang="en-US" sz="1100" dirty="0">
                <a:solidFill>
                  <a:schemeClr val="tx1"/>
                </a:solidFill>
              </a:rPr>
              <a:t>Submit application</a:t>
            </a:r>
            <a:endParaRPr lang="en-US" sz="1100" dirty="0"/>
          </a:p>
        </p:txBody>
      </p:sp>
      <p:sp>
        <p:nvSpPr>
          <p:cNvPr id="12" name="FR3 chip"/>
          <p:cNvSpPr/>
          <p:nvPr/>
        </p:nvSpPr>
        <p:spPr>
          <a:xfrm>
            <a:off x="3785616" y="1481328"/>
            <a:ext cx="1572768" cy="530352"/>
          </a:xfrm>
          <a:prstGeom prst="roundRect">
            <a:avLst>
              <a:gd name="adj" fmla="val 13793"/>
            </a:avLst>
          </a:prstGeom>
          <a:solidFill>
            <a:schemeClr val="bg2"/>
          </a:solidFill>
          <a:ln w="12700">
            <a:solidFill>
              <a:schemeClr val="bg2"/>
            </a:solidFill>
            <a:prstDash val="solid"/>
          </a:ln>
        </p:spPr>
      </p:sp>
      <p:pic>
        <p:nvPicPr>
          <p:cNvPr id="13" name="Image 2" descr="met">    </p:cNvPr>
          <p:cNvPicPr>
            <a:picLocks noChangeAspect="1"/>
          </p:cNvPicPr>
          <p:nvPr/>
        </p:nvPicPr>
        <p:blipFill>
          <a:blip r:embed="rId3"/>
          <a:stretch>
            <a:fillRect/>
          </a:stretch>
        </p:blipFill>
        <p:spPr>
          <a:xfrm>
            <a:off x="3877056" y="1655064"/>
            <a:ext cx="182880" cy="182880"/>
          </a:xfrm>
          <a:prstGeom prst="rect">
            <a:avLst/>
          </a:prstGeom>
        </p:spPr>
      </p:pic>
      <p:sp>
        <p:nvSpPr>
          <p:cNvPr id="14" name="Text 9"/>
          <p:cNvSpPr txBox="1"/>
          <p:nvPr/>
        </p:nvSpPr>
        <p:spPr>
          <a:xfrm>
            <a:off x="4133088" y="1481328"/>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FR3 </a:t>
            </a:r>
            <a:pPr indent="0" marL="0">
              <a:buNone/>
            </a:pPr>
            <a:r>
              <a:rPr lang="en-US" sz="1100" dirty="0">
                <a:solidFill>
                  <a:schemeClr val="tx1"/>
                </a:solidFill>
              </a:rPr>
              <a:t>Upload documents</a:t>
            </a:r>
            <a:endParaRPr lang="en-US" sz="1100" dirty="0"/>
          </a:p>
        </p:txBody>
      </p:sp>
      <p:sp>
        <p:nvSpPr>
          <p:cNvPr id="15" name="FR4 chip"/>
          <p:cNvSpPr/>
          <p:nvPr/>
        </p:nvSpPr>
        <p:spPr>
          <a:xfrm>
            <a:off x="5449824" y="1481328"/>
            <a:ext cx="1572768" cy="530352"/>
          </a:xfrm>
          <a:prstGeom prst="roundRect">
            <a:avLst>
              <a:gd name="adj" fmla="val 13793"/>
            </a:avLst>
          </a:prstGeom>
          <a:solidFill>
            <a:schemeClr val="bg2"/>
          </a:solidFill>
          <a:ln w="12700">
            <a:solidFill>
              <a:schemeClr val="bg2"/>
            </a:solidFill>
            <a:prstDash val="solid"/>
          </a:ln>
        </p:spPr>
      </p:sp>
      <p:pic>
        <p:nvPicPr>
          <p:cNvPr id="16" name="Image 3" descr="met">    </p:cNvPr>
          <p:cNvPicPr>
            <a:picLocks noChangeAspect="1"/>
          </p:cNvPicPr>
          <p:nvPr/>
        </p:nvPicPr>
        <p:blipFill>
          <a:blip r:embed="rId4"/>
          <a:stretch>
            <a:fillRect/>
          </a:stretch>
        </p:blipFill>
        <p:spPr>
          <a:xfrm>
            <a:off x="5541264" y="1655064"/>
            <a:ext cx="182880" cy="182880"/>
          </a:xfrm>
          <a:prstGeom prst="rect">
            <a:avLst/>
          </a:prstGeom>
        </p:spPr>
      </p:pic>
      <p:sp>
        <p:nvSpPr>
          <p:cNvPr id="17" name="Text 11"/>
          <p:cNvSpPr txBox="1"/>
          <p:nvPr/>
        </p:nvSpPr>
        <p:spPr>
          <a:xfrm>
            <a:off x="5797296" y="1481328"/>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FR4 </a:t>
            </a:r>
            <a:pPr indent="0" marL="0">
              <a:buNone/>
            </a:pPr>
            <a:r>
              <a:rPr lang="en-US" sz="1100" dirty="0">
                <a:solidFill>
                  <a:schemeClr val="tx1"/>
                </a:solidFill>
              </a:rPr>
              <a:t>Proof of payment</a:t>
            </a:r>
            <a:endParaRPr lang="en-US" sz="1100" dirty="0"/>
          </a:p>
        </p:txBody>
      </p:sp>
      <p:sp>
        <p:nvSpPr>
          <p:cNvPr id="18" name="FR5 chip"/>
          <p:cNvSpPr/>
          <p:nvPr/>
        </p:nvSpPr>
        <p:spPr>
          <a:xfrm>
            <a:off x="7114032" y="1481328"/>
            <a:ext cx="1572768" cy="530352"/>
          </a:xfrm>
          <a:prstGeom prst="roundRect">
            <a:avLst>
              <a:gd name="adj" fmla="val 13793"/>
            </a:avLst>
          </a:prstGeom>
          <a:solidFill>
            <a:schemeClr val="bg2"/>
          </a:solidFill>
          <a:ln w="12700">
            <a:solidFill>
              <a:schemeClr val="bg2"/>
            </a:solidFill>
            <a:prstDash val="solid"/>
          </a:ln>
        </p:spPr>
      </p:sp>
      <p:pic>
        <p:nvPicPr>
          <p:cNvPr id="19" name="Image 4" descr="met">    </p:cNvPr>
          <p:cNvPicPr>
            <a:picLocks noChangeAspect="1"/>
          </p:cNvPicPr>
          <p:nvPr/>
        </p:nvPicPr>
        <p:blipFill>
          <a:blip r:embed="rId5"/>
          <a:stretch>
            <a:fillRect/>
          </a:stretch>
        </p:blipFill>
        <p:spPr>
          <a:xfrm>
            <a:off x="7205472" y="1655064"/>
            <a:ext cx="182880" cy="182880"/>
          </a:xfrm>
          <a:prstGeom prst="rect">
            <a:avLst/>
          </a:prstGeom>
        </p:spPr>
      </p:pic>
      <p:sp>
        <p:nvSpPr>
          <p:cNvPr id="20" name="Text 13"/>
          <p:cNvSpPr txBox="1"/>
          <p:nvPr/>
        </p:nvSpPr>
        <p:spPr>
          <a:xfrm>
            <a:off x="7461504" y="1481328"/>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FR5 </a:t>
            </a:r>
            <a:pPr indent="0" marL="0">
              <a:buNone/>
            </a:pPr>
            <a:r>
              <a:rPr lang="en-US" sz="1100" dirty="0">
                <a:solidFill>
                  <a:schemeClr val="tx1"/>
                </a:solidFill>
              </a:rPr>
              <a:t>View status</a:t>
            </a:r>
            <a:endParaRPr lang="en-US" sz="1100" dirty="0"/>
          </a:p>
        </p:txBody>
      </p:sp>
      <p:sp>
        <p:nvSpPr>
          <p:cNvPr id="21" name="FR6 chip"/>
          <p:cNvSpPr/>
          <p:nvPr/>
        </p:nvSpPr>
        <p:spPr>
          <a:xfrm>
            <a:off x="457200" y="2084832"/>
            <a:ext cx="1572768" cy="530352"/>
          </a:xfrm>
          <a:prstGeom prst="roundRect">
            <a:avLst>
              <a:gd name="adj" fmla="val 13793"/>
            </a:avLst>
          </a:prstGeom>
          <a:solidFill>
            <a:schemeClr val="bg2"/>
          </a:solidFill>
          <a:ln w="12700">
            <a:solidFill>
              <a:schemeClr val="bg2"/>
            </a:solidFill>
            <a:prstDash val="solid"/>
          </a:ln>
        </p:spPr>
      </p:sp>
      <p:pic>
        <p:nvPicPr>
          <p:cNvPr id="22" name="Image 5" descr="met">    </p:cNvPr>
          <p:cNvPicPr>
            <a:picLocks noChangeAspect="1"/>
          </p:cNvPicPr>
          <p:nvPr/>
        </p:nvPicPr>
        <p:blipFill>
          <a:blip r:embed="rId6"/>
          <a:stretch>
            <a:fillRect/>
          </a:stretch>
        </p:blipFill>
        <p:spPr>
          <a:xfrm>
            <a:off x="548640" y="2258568"/>
            <a:ext cx="182880" cy="182880"/>
          </a:xfrm>
          <a:prstGeom prst="rect">
            <a:avLst/>
          </a:prstGeom>
        </p:spPr>
      </p:pic>
      <p:sp>
        <p:nvSpPr>
          <p:cNvPr id="23" name="Text 15"/>
          <p:cNvSpPr txBox="1"/>
          <p:nvPr/>
        </p:nvSpPr>
        <p:spPr>
          <a:xfrm>
            <a:off x="804672" y="2084832"/>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FR6 </a:t>
            </a:r>
            <a:pPr indent="0" marL="0">
              <a:buNone/>
            </a:pPr>
            <a:r>
              <a:rPr lang="en-US" sz="1100" dirty="0">
                <a:solidFill>
                  <a:schemeClr val="tx1"/>
                </a:solidFill>
              </a:rPr>
              <a:t>Verify payment</a:t>
            </a:r>
            <a:endParaRPr lang="en-US" sz="1100" dirty="0"/>
          </a:p>
        </p:txBody>
      </p:sp>
      <p:sp>
        <p:nvSpPr>
          <p:cNvPr id="24" name="FR7 chip"/>
          <p:cNvSpPr/>
          <p:nvPr/>
        </p:nvSpPr>
        <p:spPr>
          <a:xfrm>
            <a:off x="2121408" y="2084832"/>
            <a:ext cx="1572768" cy="530352"/>
          </a:xfrm>
          <a:prstGeom prst="roundRect">
            <a:avLst>
              <a:gd name="adj" fmla="val 13793"/>
            </a:avLst>
          </a:prstGeom>
          <a:solidFill>
            <a:schemeClr val="bg2"/>
          </a:solidFill>
          <a:ln w="12700">
            <a:solidFill>
              <a:schemeClr val="bg2"/>
            </a:solidFill>
            <a:prstDash val="solid"/>
          </a:ln>
        </p:spPr>
      </p:sp>
      <p:pic>
        <p:nvPicPr>
          <p:cNvPr id="25" name="Image 6" descr="met">    </p:cNvPr>
          <p:cNvPicPr>
            <a:picLocks noChangeAspect="1"/>
          </p:cNvPicPr>
          <p:nvPr/>
        </p:nvPicPr>
        <p:blipFill>
          <a:blip r:embed="rId7"/>
          <a:stretch>
            <a:fillRect/>
          </a:stretch>
        </p:blipFill>
        <p:spPr>
          <a:xfrm>
            <a:off x="2212848" y="2258568"/>
            <a:ext cx="182880" cy="182880"/>
          </a:xfrm>
          <a:prstGeom prst="rect">
            <a:avLst/>
          </a:prstGeom>
        </p:spPr>
      </p:pic>
      <p:sp>
        <p:nvSpPr>
          <p:cNvPr id="26" name="Text 17"/>
          <p:cNvSpPr txBox="1"/>
          <p:nvPr/>
        </p:nvSpPr>
        <p:spPr>
          <a:xfrm>
            <a:off x="2468880" y="2084832"/>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FR7 </a:t>
            </a:r>
            <a:pPr indent="0" marL="0">
              <a:buNone/>
            </a:pPr>
            <a:r>
              <a:rPr lang="en-US" sz="1100" dirty="0">
                <a:solidFill>
                  <a:schemeClr val="tx1"/>
                </a:solidFill>
              </a:rPr>
              <a:t>View applications</a:t>
            </a:r>
            <a:endParaRPr lang="en-US" sz="1100" dirty="0"/>
          </a:p>
        </p:txBody>
      </p:sp>
      <p:sp>
        <p:nvSpPr>
          <p:cNvPr id="27" name="FR8 chip"/>
          <p:cNvSpPr/>
          <p:nvPr/>
        </p:nvSpPr>
        <p:spPr>
          <a:xfrm>
            <a:off x="3785616" y="2084832"/>
            <a:ext cx="1572768" cy="530352"/>
          </a:xfrm>
          <a:prstGeom prst="roundRect">
            <a:avLst>
              <a:gd name="adj" fmla="val 13793"/>
            </a:avLst>
          </a:prstGeom>
          <a:solidFill>
            <a:schemeClr val="bg2"/>
          </a:solidFill>
          <a:ln w="12700">
            <a:solidFill>
              <a:schemeClr val="bg2"/>
            </a:solidFill>
            <a:prstDash val="solid"/>
          </a:ln>
        </p:spPr>
      </p:sp>
      <p:pic>
        <p:nvPicPr>
          <p:cNvPr id="28" name="Image 7" descr="met">    </p:cNvPr>
          <p:cNvPicPr>
            <a:picLocks noChangeAspect="1"/>
          </p:cNvPicPr>
          <p:nvPr/>
        </p:nvPicPr>
        <p:blipFill>
          <a:blip r:embed="rId8"/>
          <a:stretch>
            <a:fillRect/>
          </a:stretch>
        </p:blipFill>
        <p:spPr>
          <a:xfrm>
            <a:off x="3877056" y="2258568"/>
            <a:ext cx="182880" cy="182880"/>
          </a:xfrm>
          <a:prstGeom prst="rect">
            <a:avLst/>
          </a:prstGeom>
        </p:spPr>
      </p:pic>
      <p:sp>
        <p:nvSpPr>
          <p:cNvPr id="29" name="Text 19"/>
          <p:cNvSpPr txBox="1"/>
          <p:nvPr/>
        </p:nvSpPr>
        <p:spPr>
          <a:xfrm>
            <a:off x="4133088" y="2084832"/>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FR8 </a:t>
            </a:r>
            <a:pPr indent="0" marL="0">
              <a:buNone/>
            </a:pPr>
            <a:r>
              <a:rPr lang="en-US" sz="1100" dirty="0">
                <a:solidFill>
                  <a:schemeClr val="tx1"/>
                </a:solidFill>
              </a:rPr>
              <a:t>Approve / reject</a:t>
            </a:r>
            <a:endParaRPr lang="en-US" sz="1100" dirty="0"/>
          </a:p>
        </p:txBody>
      </p:sp>
      <p:sp>
        <p:nvSpPr>
          <p:cNvPr id="30" name="FR9 chip"/>
          <p:cNvSpPr/>
          <p:nvPr/>
        </p:nvSpPr>
        <p:spPr>
          <a:xfrm>
            <a:off x="5449824" y="2084832"/>
            <a:ext cx="1572768" cy="530352"/>
          </a:xfrm>
          <a:prstGeom prst="roundRect">
            <a:avLst>
              <a:gd name="adj" fmla="val 13793"/>
            </a:avLst>
          </a:prstGeom>
          <a:solidFill>
            <a:schemeClr val="bg2"/>
          </a:solidFill>
          <a:ln w="12700">
            <a:solidFill>
              <a:schemeClr val="bg2"/>
            </a:solidFill>
            <a:prstDash val="solid"/>
          </a:ln>
        </p:spPr>
      </p:sp>
      <p:pic>
        <p:nvPicPr>
          <p:cNvPr id="31" name="Image 8" descr="met">    </p:cNvPr>
          <p:cNvPicPr>
            <a:picLocks noChangeAspect="1"/>
          </p:cNvPicPr>
          <p:nvPr/>
        </p:nvPicPr>
        <p:blipFill>
          <a:blip r:embed="rId9"/>
          <a:stretch>
            <a:fillRect/>
          </a:stretch>
        </p:blipFill>
        <p:spPr>
          <a:xfrm>
            <a:off x="5541264" y="2258568"/>
            <a:ext cx="182880" cy="182880"/>
          </a:xfrm>
          <a:prstGeom prst="rect">
            <a:avLst/>
          </a:prstGeom>
        </p:spPr>
      </p:pic>
      <p:sp>
        <p:nvSpPr>
          <p:cNvPr id="32" name="Text 21"/>
          <p:cNvSpPr txBox="1"/>
          <p:nvPr/>
        </p:nvSpPr>
        <p:spPr>
          <a:xfrm>
            <a:off x="5797296" y="2084832"/>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FR9 </a:t>
            </a:r>
            <a:pPr indent="0" marL="0">
              <a:buNone/>
            </a:pPr>
            <a:r>
              <a:rPr lang="en-US" sz="1100" dirty="0">
                <a:solidFill>
                  <a:schemeClr val="tx1"/>
                </a:solidFill>
              </a:rPr>
              <a:t>Notes</a:t>
            </a:r>
            <a:endParaRPr lang="en-US" sz="1100" dirty="0"/>
          </a:p>
        </p:txBody>
      </p:sp>
      <p:sp>
        <p:nvSpPr>
          <p:cNvPr id="33" name="FR10 chip"/>
          <p:cNvSpPr/>
          <p:nvPr/>
        </p:nvSpPr>
        <p:spPr>
          <a:xfrm>
            <a:off x="7114032" y="2084832"/>
            <a:ext cx="1572768" cy="530352"/>
          </a:xfrm>
          <a:prstGeom prst="roundRect">
            <a:avLst>
              <a:gd name="adj" fmla="val 13793"/>
            </a:avLst>
          </a:prstGeom>
          <a:solidFill>
            <a:schemeClr val="bg2"/>
          </a:solidFill>
          <a:ln w="12700">
            <a:solidFill>
              <a:schemeClr val="bg2"/>
            </a:solidFill>
            <a:prstDash val="solid"/>
          </a:ln>
        </p:spPr>
      </p:sp>
      <p:pic>
        <p:nvPicPr>
          <p:cNvPr id="34" name="Image 9" descr="met">    </p:cNvPr>
          <p:cNvPicPr>
            <a:picLocks noChangeAspect="1"/>
          </p:cNvPicPr>
          <p:nvPr/>
        </p:nvPicPr>
        <p:blipFill>
          <a:blip r:embed="rId10"/>
          <a:stretch>
            <a:fillRect/>
          </a:stretch>
        </p:blipFill>
        <p:spPr>
          <a:xfrm>
            <a:off x="7205472" y="2258568"/>
            <a:ext cx="182880" cy="182880"/>
          </a:xfrm>
          <a:prstGeom prst="rect">
            <a:avLst/>
          </a:prstGeom>
        </p:spPr>
      </p:pic>
      <p:sp>
        <p:nvSpPr>
          <p:cNvPr id="35" name="Text 23"/>
          <p:cNvSpPr txBox="1"/>
          <p:nvPr/>
        </p:nvSpPr>
        <p:spPr>
          <a:xfrm>
            <a:off x="7461504" y="2084832"/>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FR10 </a:t>
            </a:r>
            <a:pPr indent="0" marL="0">
              <a:buNone/>
            </a:pPr>
            <a:r>
              <a:rPr lang="en-US" sz="1100" dirty="0">
                <a:solidFill>
                  <a:schemeClr val="tx1"/>
                </a:solidFill>
              </a:rPr>
              <a:t>Message parent</a:t>
            </a:r>
            <a:endParaRPr lang="en-US" sz="1100" dirty="0"/>
          </a:p>
        </p:txBody>
      </p:sp>
      <p:sp>
        <p:nvSpPr>
          <p:cNvPr id="36" name="FR11 chip"/>
          <p:cNvSpPr/>
          <p:nvPr/>
        </p:nvSpPr>
        <p:spPr>
          <a:xfrm>
            <a:off x="457200" y="2688336"/>
            <a:ext cx="1572768" cy="530352"/>
          </a:xfrm>
          <a:prstGeom prst="roundRect">
            <a:avLst>
              <a:gd name="adj" fmla="val 13793"/>
            </a:avLst>
          </a:prstGeom>
          <a:solidFill>
            <a:schemeClr val="bg2"/>
          </a:solidFill>
          <a:ln w="12700">
            <a:solidFill>
              <a:schemeClr val="bg2"/>
            </a:solidFill>
            <a:prstDash val="solid"/>
          </a:ln>
        </p:spPr>
      </p:sp>
      <p:pic>
        <p:nvPicPr>
          <p:cNvPr id="37" name="Image 10" descr="met">    </p:cNvPr>
          <p:cNvPicPr>
            <a:picLocks noChangeAspect="1"/>
          </p:cNvPicPr>
          <p:nvPr/>
        </p:nvPicPr>
        <p:blipFill>
          <a:blip r:embed="rId11"/>
          <a:stretch>
            <a:fillRect/>
          </a:stretch>
        </p:blipFill>
        <p:spPr>
          <a:xfrm>
            <a:off x="548640" y="2862072"/>
            <a:ext cx="182880" cy="182880"/>
          </a:xfrm>
          <a:prstGeom prst="rect">
            <a:avLst/>
          </a:prstGeom>
        </p:spPr>
      </p:pic>
      <p:sp>
        <p:nvSpPr>
          <p:cNvPr id="38" name="Text 25"/>
          <p:cNvSpPr txBox="1"/>
          <p:nvPr/>
        </p:nvSpPr>
        <p:spPr>
          <a:xfrm>
            <a:off x="804672" y="2688336"/>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FR11 </a:t>
            </a:r>
            <a:pPr indent="0" marL="0">
              <a:buNone/>
            </a:pPr>
            <a:r>
              <a:rPr lang="en-US" sz="1100" dirty="0">
                <a:solidFill>
                  <a:schemeClr val="tx1"/>
                </a:solidFill>
              </a:rPr>
              <a:t>Reminders</a:t>
            </a:r>
            <a:endParaRPr lang="en-US" sz="1100" dirty="0"/>
          </a:p>
        </p:txBody>
      </p:sp>
      <p:sp>
        <p:nvSpPr>
          <p:cNvPr id="39" name="FR12 chip"/>
          <p:cNvSpPr/>
          <p:nvPr/>
        </p:nvSpPr>
        <p:spPr>
          <a:xfrm>
            <a:off x="2121408" y="2688336"/>
            <a:ext cx="1572768" cy="530352"/>
          </a:xfrm>
          <a:prstGeom prst="roundRect">
            <a:avLst>
              <a:gd name="adj" fmla="val 13793"/>
            </a:avLst>
          </a:prstGeom>
          <a:solidFill>
            <a:schemeClr val="bg2"/>
          </a:solidFill>
          <a:ln w="12700">
            <a:solidFill>
              <a:schemeClr val="bg2"/>
            </a:solidFill>
            <a:prstDash val="solid"/>
          </a:ln>
        </p:spPr>
      </p:sp>
      <p:pic>
        <p:nvPicPr>
          <p:cNvPr id="40" name="Image 11" descr="met">    </p:cNvPr>
          <p:cNvPicPr>
            <a:picLocks noChangeAspect="1"/>
          </p:cNvPicPr>
          <p:nvPr/>
        </p:nvPicPr>
        <p:blipFill>
          <a:blip r:embed="rId12"/>
          <a:stretch>
            <a:fillRect/>
          </a:stretch>
        </p:blipFill>
        <p:spPr>
          <a:xfrm>
            <a:off x="2212848" y="2862072"/>
            <a:ext cx="182880" cy="182880"/>
          </a:xfrm>
          <a:prstGeom prst="rect">
            <a:avLst/>
          </a:prstGeom>
        </p:spPr>
      </p:pic>
      <p:sp>
        <p:nvSpPr>
          <p:cNvPr id="41" name="Text 27"/>
          <p:cNvSpPr txBox="1"/>
          <p:nvPr/>
        </p:nvSpPr>
        <p:spPr>
          <a:xfrm>
            <a:off x="2468880" y="2688336"/>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FR12 </a:t>
            </a:r>
            <a:pPr indent="0" marL="0">
              <a:buNone/>
            </a:pPr>
            <a:r>
              <a:rPr lang="en-US" sz="1100" dirty="0">
                <a:solidFill>
                  <a:schemeClr val="tx1"/>
                </a:solidFill>
              </a:rPr>
              <a:t>Confirmation letter</a:t>
            </a:r>
            <a:endParaRPr lang="en-US" sz="1100" dirty="0"/>
          </a:p>
        </p:txBody>
      </p:sp>
      <p:sp>
        <p:nvSpPr>
          <p:cNvPr id="42" name="FR13 chip"/>
          <p:cNvSpPr/>
          <p:nvPr/>
        </p:nvSpPr>
        <p:spPr>
          <a:xfrm>
            <a:off x="3785616" y="2688336"/>
            <a:ext cx="1572768" cy="530352"/>
          </a:xfrm>
          <a:prstGeom prst="roundRect">
            <a:avLst>
              <a:gd name="adj" fmla="val 13793"/>
            </a:avLst>
          </a:prstGeom>
          <a:solidFill>
            <a:schemeClr val="bg2"/>
          </a:solidFill>
          <a:ln w="12700">
            <a:solidFill>
              <a:schemeClr val="bg2"/>
            </a:solidFill>
            <a:prstDash val="solid"/>
          </a:ln>
        </p:spPr>
      </p:sp>
      <p:pic>
        <p:nvPicPr>
          <p:cNvPr id="43" name="Image 12" descr="met">    </p:cNvPr>
          <p:cNvPicPr>
            <a:picLocks noChangeAspect="1"/>
          </p:cNvPicPr>
          <p:nvPr/>
        </p:nvPicPr>
        <p:blipFill>
          <a:blip r:embed="rId13"/>
          <a:stretch>
            <a:fillRect/>
          </a:stretch>
        </p:blipFill>
        <p:spPr>
          <a:xfrm>
            <a:off x="3877056" y="2862072"/>
            <a:ext cx="182880" cy="182880"/>
          </a:xfrm>
          <a:prstGeom prst="rect">
            <a:avLst/>
          </a:prstGeom>
        </p:spPr>
      </p:pic>
      <p:sp>
        <p:nvSpPr>
          <p:cNvPr id="44" name="Text 29"/>
          <p:cNvSpPr txBox="1"/>
          <p:nvPr/>
        </p:nvSpPr>
        <p:spPr>
          <a:xfrm>
            <a:off x="4133088" y="2688336"/>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FR13 </a:t>
            </a:r>
            <a:pPr indent="0" marL="0">
              <a:buNone/>
            </a:pPr>
            <a:r>
              <a:rPr lang="en-US" sz="1100" dirty="0">
                <a:solidFill>
                  <a:schemeClr val="tx1"/>
                </a:solidFill>
              </a:rPr>
              <a:t>Application count</a:t>
            </a:r>
            <a:endParaRPr lang="en-US" sz="1100" dirty="0"/>
          </a:p>
        </p:txBody>
      </p:sp>
      <p:sp>
        <p:nvSpPr>
          <p:cNvPr id="45" name="FR14 chip"/>
          <p:cNvSpPr/>
          <p:nvPr/>
        </p:nvSpPr>
        <p:spPr>
          <a:xfrm>
            <a:off x="5449824" y="2688336"/>
            <a:ext cx="1572768" cy="530352"/>
          </a:xfrm>
          <a:prstGeom prst="roundRect">
            <a:avLst>
              <a:gd name="adj" fmla="val 13793"/>
            </a:avLst>
          </a:prstGeom>
          <a:solidFill>
            <a:schemeClr val="bg2"/>
          </a:solidFill>
          <a:ln w="12700">
            <a:solidFill>
              <a:schemeClr val="bg2"/>
            </a:solidFill>
            <a:prstDash val="solid"/>
          </a:ln>
        </p:spPr>
      </p:sp>
      <p:pic>
        <p:nvPicPr>
          <p:cNvPr id="46" name="Image 13" descr="met">    </p:cNvPr>
          <p:cNvPicPr>
            <a:picLocks noChangeAspect="1"/>
          </p:cNvPicPr>
          <p:nvPr/>
        </p:nvPicPr>
        <p:blipFill>
          <a:blip r:embed="rId14"/>
          <a:stretch>
            <a:fillRect/>
          </a:stretch>
        </p:blipFill>
        <p:spPr>
          <a:xfrm>
            <a:off x="5541264" y="2862072"/>
            <a:ext cx="182880" cy="182880"/>
          </a:xfrm>
          <a:prstGeom prst="rect">
            <a:avLst/>
          </a:prstGeom>
        </p:spPr>
      </p:pic>
      <p:sp>
        <p:nvSpPr>
          <p:cNvPr id="47" name="Text 31"/>
          <p:cNvSpPr txBox="1"/>
          <p:nvPr/>
        </p:nvSpPr>
        <p:spPr>
          <a:xfrm>
            <a:off x="5797296" y="2688336"/>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FR14 </a:t>
            </a:r>
            <a:pPr indent="0" marL="0">
              <a:buNone/>
            </a:pPr>
            <a:r>
              <a:rPr lang="en-US" sz="1100" dirty="0">
                <a:solidFill>
                  <a:schemeClr val="tx1"/>
                </a:solidFill>
              </a:rPr>
              <a:t>Store in Supabase</a:t>
            </a:r>
            <a:endParaRPr lang="en-US" sz="1100" dirty="0"/>
          </a:p>
        </p:txBody>
      </p:sp>
      <p:sp>
        <p:nvSpPr>
          <p:cNvPr id="48" name="FR15 chip"/>
          <p:cNvSpPr/>
          <p:nvPr/>
        </p:nvSpPr>
        <p:spPr>
          <a:xfrm>
            <a:off x="7114032" y="2688336"/>
            <a:ext cx="1572768" cy="530352"/>
          </a:xfrm>
          <a:prstGeom prst="roundRect">
            <a:avLst>
              <a:gd name="adj" fmla="val 13793"/>
            </a:avLst>
          </a:prstGeom>
          <a:solidFill>
            <a:schemeClr val="bg2"/>
          </a:solidFill>
          <a:ln w="12700">
            <a:solidFill>
              <a:schemeClr val="bg2"/>
            </a:solidFill>
            <a:prstDash val="solid"/>
          </a:ln>
        </p:spPr>
      </p:sp>
      <p:pic>
        <p:nvPicPr>
          <p:cNvPr id="49" name="Image 14" descr="met">    </p:cNvPr>
          <p:cNvPicPr>
            <a:picLocks noChangeAspect="1"/>
          </p:cNvPicPr>
          <p:nvPr/>
        </p:nvPicPr>
        <p:blipFill>
          <a:blip r:embed="rId15"/>
          <a:stretch>
            <a:fillRect/>
          </a:stretch>
        </p:blipFill>
        <p:spPr>
          <a:xfrm>
            <a:off x="7205472" y="2862072"/>
            <a:ext cx="182880" cy="182880"/>
          </a:xfrm>
          <a:prstGeom prst="rect">
            <a:avLst/>
          </a:prstGeom>
        </p:spPr>
      </p:pic>
      <p:sp>
        <p:nvSpPr>
          <p:cNvPr id="50" name="Text 33"/>
          <p:cNvSpPr txBox="1"/>
          <p:nvPr/>
        </p:nvSpPr>
        <p:spPr>
          <a:xfrm>
            <a:off x="7461504" y="2688336"/>
            <a:ext cx="1179576" cy="530352"/>
          </a:xfrm>
          <a:prstGeom prst="rect">
            <a:avLst/>
          </a:prstGeom>
          <a:noFill/>
          <a:ln/>
        </p:spPr>
        <p:txBody>
          <a:bodyPr wrap="square" lIns="0" tIns="0" rIns="0" bIns="0" rtlCol="0" anchor="ctr"/>
          <a:lstStyle/>
          <a:p>
            <a:pPr indent="0" marL="0">
              <a:buNone/>
            </a:pPr>
            <a:r>
              <a:rPr lang="en-US" sz="1100" b="1" dirty="0">
                <a:solidFill>
                  <a:schemeClr val="accent2"/>
                </a:solidFill>
              </a:rPr>
              <a:t>FR15 </a:t>
            </a:r>
            <a:pPr indent="0" marL="0">
              <a:buNone/>
            </a:pPr>
            <a:r>
              <a:rPr lang="en-US" sz="1100" dirty="0">
                <a:solidFill>
                  <a:schemeClr val="tx1"/>
                </a:solidFill>
              </a:rPr>
              <a:t>Fee &amp; bank details</a:t>
            </a:r>
            <a:endParaRPr lang="en-US" sz="1100" dirty="0"/>
          </a:p>
        </p:txBody>
      </p:sp>
      <p:sp>
        <p:nvSpPr>
          <p:cNvPr id="51" name="Text 34"/>
          <p:cNvSpPr txBox="1"/>
          <p:nvPr/>
        </p:nvSpPr>
        <p:spPr>
          <a:xfrm>
            <a:off x="457200" y="3383280"/>
            <a:ext cx="8229600" cy="320040"/>
          </a:xfrm>
          <a:prstGeom prst="rect">
            <a:avLst/>
          </a:prstGeom>
          <a:noFill/>
          <a:ln/>
        </p:spPr>
        <p:txBody>
          <a:bodyPr wrap="square" lIns="0" tIns="0" rIns="0" bIns="0" rtlCol="0" anchor="ctr"/>
          <a:lstStyle/>
          <a:p>
            <a:pPr indent="0" marL="0">
              <a:buNone/>
            </a:pPr>
            <a:r>
              <a:rPr lang="en-US" sz="1600" b="1" dirty="0">
                <a:solidFill>
                  <a:schemeClr val="tx2"/>
                </a:solidFill>
              </a:rPr>
              <a:t>Non-functional requirements  </a:t>
            </a:r>
            <a:pPr indent="0" marL="0">
              <a:buNone/>
            </a:pPr>
            <a:r>
              <a:rPr lang="en-US" sz="1600" b="1" dirty="0">
                <a:solidFill>
                  <a:schemeClr val="accent5"/>
                </a:solidFill>
              </a:rPr>
              <a:t>6 of 6 met</a:t>
            </a:r>
            <a:endParaRPr lang="en-US" sz="1600" dirty="0"/>
          </a:p>
        </p:txBody>
      </p:sp>
      <p:sp>
        <p:nvSpPr>
          <p:cNvPr id="52" name="NFR1 chip"/>
          <p:cNvSpPr/>
          <p:nvPr/>
        </p:nvSpPr>
        <p:spPr>
          <a:xfrm>
            <a:off x="457200" y="3767328"/>
            <a:ext cx="1298448" cy="530352"/>
          </a:xfrm>
          <a:prstGeom prst="roundRect">
            <a:avLst>
              <a:gd name="adj" fmla="val 13793"/>
            </a:avLst>
          </a:prstGeom>
          <a:solidFill>
            <a:schemeClr val="bg2"/>
          </a:solidFill>
          <a:ln w="12700">
            <a:solidFill>
              <a:schemeClr val="bg2"/>
            </a:solidFill>
            <a:prstDash val="solid"/>
          </a:ln>
        </p:spPr>
      </p:sp>
      <p:pic>
        <p:nvPicPr>
          <p:cNvPr id="53" name="Image 15" descr="met">    </p:cNvPr>
          <p:cNvPicPr>
            <a:picLocks noChangeAspect="1"/>
          </p:cNvPicPr>
          <p:nvPr/>
        </p:nvPicPr>
        <p:blipFill>
          <a:blip r:embed="rId16"/>
          <a:stretch>
            <a:fillRect/>
          </a:stretch>
        </p:blipFill>
        <p:spPr>
          <a:xfrm>
            <a:off x="548640" y="3941064"/>
            <a:ext cx="182880" cy="182880"/>
          </a:xfrm>
          <a:prstGeom prst="rect">
            <a:avLst/>
          </a:prstGeom>
        </p:spPr>
      </p:pic>
      <p:sp>
        <p:nvSpPr>
          <p:cNvPr id="54" name="Text 36"/>
          <p:cNvSpPr txBox="1"/>
          <p:nvPr/>
        </p:nvSpPr>
        <p:spPr>
          <a:xfrm>
            <a:off x="804672" y="3767328"/>
            <a:ext cx="905256" cy="530352"/>
          </a:xfrm>
          <a:prstGeom prst="rect">
            <a:avLst/>
          </a:prstGeom>
          <a:noFill/>
          <a:ln/>
        </p:spPr>
        <p:txBody>
          <a:bodyPr wrap="square" lIns="0" tIns="0" rIns="0" bIns="0" rtlCol="0" anchor="ctr"/>
          <a:lstStyle/>
          <a:p>
            <a:pPr indent="0" marL="0">
              <a:buNone/>
            </a:pPr>
            <a:r>
              <a:rPr lang="en-US" sz="1100" b="1" dirty="0">
                <a:solidFill>
                  <a:schemeClr val="accent2"/>
                </a:solidFill>
              </a:rPr>
              <a:t>NFR1 </a:t>
            </a:r>
            <a:pPr indent="0" marL="0">
              <a:buNone/>
            </a:pPr>
            <a:r>
              <a:rPr lang="en-US" sz="1100" dirty="0">
                <a:solidFill>
                  <a:schemeClr val="tx1"/>
                </a:solidFill>
              </a:rPr>
              <a:t>Staff access only</a:t>
            </a:r>
            <a:endParaRPr lang="en-US" sz="1100" dirty="0"/>
          </a:p>
        </p:txBody>
      </p:sp>
      <p:sp>
        <p:nvSpPr>
          <p:cNvPr id="55" name="NFR2 chip"/>
          <p:cNvSpPr/>
          <p:nvPr/>
        </p:nvSpPr>
        <p:spPr>
          <a:xfrm>
            <a:off x="1828800" y="3767328"/>
            <a:ext cx="1298448" cy="530352"/>
          </a:xfrm>
          <a:prstGeom prst="roundRect">
            <a:avLst>
              <a:gd name="adj" fmla="val 13793"/>
            </a:avLst>
          </a:prstGeom>
          <a:solidFill>
            <a:schemeClr val="bg2"/>
          </a:solidFill>
          <a:ln w="12700">
            <a:solidFill>
              <a:schemeClr val="bg2"/>
            </a:solidFill>
            <a:prstDash val="solid"/>
          </a:ln>
        </p:spPr>
      </p:sp>
      <p:pic>
        <p:nvPicPr>
          <p:cNvPr id="56" name="Image 16" descr="met">    </p:cNvPr>
          <p:cNvPicPr>
            <a:picLocks noChangeAspect="1"/>
          </p:cNvPicPr>
          <p:nvPr/>
        </p:nvPicPr>
        <p:blipFill>
          <a:blip r:embed="rId17"/>
          <a:stretch>
            <a:fillRect/>
          </a:stretch>
        </p:blipFill>
        <p:spPr>
          <a:xfrm>
            <a:off x="1920240" y="3941064"/>
            <a:ext cx="182880" cy="182880"/>
          </a:xfrm>
          <a:prstGeom prst="rect">
            <a:avLst/>
          </a:prstGeom>
        </p:spPr>
      </p:pic>
      <p:sp>
        <p:nvSpPr>
          <p:cNvPr id="57" name="Text 38"/>
          <p:cNvSpPr txBox="1"/>
          <p:nvPr/>
        </p:nvSpPr>
        <p:spPr>
          <a:xfrm>
            <a:off x="2176272" y="3767328"/>
            <a:ext cx="905256" cy="530352"/>
          </a:xfrm>
          <a:prstGeom prst="rect">
            <a:avLst/>
          </a:prstGeom>
          <a:noFill/>
          <a:ln/>
        </p:spPr>
        <p:txBody>
          <a:bodyPr wrap="square" lIns="0" tIns="0" rIns="0" bIns="0" rtlCol="0" anchor="ctr"/>
          <a:lstStyle/>
          <a:p>
            <a:pPr indent="0" marL="0">
              <a:buNone/>
            </a:pPr>
            <a:r>
              <a:rPr lang="en-US" sz="1100" b="1" dirty="0">
                <a:solidFill>
                  <a:schemeClr val="accent2"/>
                </a:solidFill>
              </a:rPr>
              <a:t>NFR2 </a:t>
            </a:r>
            <a:pPr indent="0" marL="0">
              <a:buNone/>
            </a:pPr>
            <a:r>
              <a:rPr lang="en-US" sz="1100" dirty="0">
                <a:solidFill>
                  <a:schemeClr val="tx1"/>
                </a:solidFill>
              </a:rPr>
              <a:t>Secure storage</a:t>
            </a:r>
            <a:endParaRPr lang="en-US" sz="1100" dirty="0"/>
          </a:p>
        </p:txBody>
      </p:sp>
      <p:sp>
        <p:nvSpPr>
          <p:cNvPr id="58" name="NFR3 chip"/>
          <p:cNvSpPr/>
          <p:nvPr/>
        </p:nvSpPr>
        <p:spPr>
          <a:xfrm>
            <a:off x="3200400" y="3767328"/>
            <a:ext cx="1298448" cy="530352"/>
          </a:xfrm>
          <a:prstGeom prst="roundRect">
            <a:avLst>
              <a:gd name="adj" fmla="val 13793"/>
            </a:avLst>
          </a:prstGeom>
          <a:solidFill>
            <a:schemeClr val="bg2"/>
          </a:solidFill>
          <a:ln w="12700">
            <a:solidFill>
              <a:schemeClr val="bg2"/>
            </a:solidFill>
            <a:prstDash val="solid"/>
          </a:ln>
        </p:spPr>
      </p:sp>
      <p:pic>
        <p:nvPicPr>
          <p:cNvPr id="59" name="Image 17" descr="met">    </p:cNvPr>
          <p:cNvPicPr>
            <a:picLocks noChangeAspect="1"/>
          </p:cNvPicPr>
          <p:nvPr/>
        </p:nvPicPr>
        <p:blipFill>
          <a:blip r:embed="rId18"/>
          <a:stretch>
            <a:fillRect/>
          </a:stretch>
        </p:blipFill>
        <p:spPr>
          <a:xfrm>
            <a:off x="3291840" y="3941064"/>
            <a:ext cx="182880" cy="182880"/>
          </a:xfrm>
          <a:prstGeom prst="rect">
            <a:avLst/>
          </a:prstGeom>
        </p:spPr>
      </p:pic>
      <p:sp>
        <p:nvSpPr>
          <p:cNvPr id="60" name="Text 40"/>
          <p:cNvSpPr txBox="1"/>
          <p:nvPr/>
        </p:nvSpPr>
        <p:spPr>
          <a:xfrm>
            <a:off x="3547872" y="3767328"/>
            <a:ext cx="905256" cy="530352"/>
          </a:xfrm>
          <a:prstGeom prst="rect">
            <a:avLst/>
          </a:prstGeom>
          <a:noFill/>
          <a:ln/>
        </p:spPr>
        <p:txBody>
          <a:bodyPr wrap="square" lIns="0" tIns="0" rIns="0" bIns="0" rtlCol="0" anchor="ctr"/>
          <a:lstStyle/>
          <a:p>
            <a:pPr indent="0" marL="0">
              <a:buNone/>
            </a:pPr>
            <a:r>
              <a:rPr lang="en-US" sz="1100" b="1" dirty="0">
                <a:solidFill>
                  <a:schemeClr val="accent2"/>
                </a:solidFill>
              </a:rPr>
              <a:t>NFR3 </a:t>
            </a:r>
            <a:pPr indent="0" marL="0">
              <a:buNone/>
            </a:pPr>
            <a:r>
              <a:rPr lang="en-US" sz="1100" dirty="0">
                <a:solidFill>
                  <a:schemeClr val="tx1"/>
                </a:solidFill>
              </a:rPr>
              <a:t>Test data only</a:t>
            </a:r>
            <a:endParaRPr lang="en-US" sz="1100" dirty="0"/>
          </a:p>
        </p:txBody>
      </p:sp>
      <p:sp>
        <p:nvSpPr>
          <p:cNvPr id="61" name="NFR4 chip"/>
          <p:cNvSpPr/>
          <p:nvPr/>
        </p:nvSpPr>
        <p:spPr>
          <a:xfrm>
            <a:off x="4572000" y="3767328"/>
            <a:ext cx="1298448" cy="530352"/>
          </a:xfrm>
          <a:prstGeom prst="roundRect">
            <a:avLst>
              <a:gd name="adj" fmla="val 13793"/>
            </a:avLst>
          </a:prstGeom>
          <a:solidFill>
            <a:schemeClr val="bg2"/>
          </a:solidFill>
          <a:ln w="12700">
            <a:solidFill>
              <a:schemeClr val="bg2"/>
            </a:solidFill>
            <a:prstDash val="solid"/>
          </a:ln>
        </p:spPr>
      </p:sp>
      <p:pic>
        <p:nvPicPr>
          <p:cNvPr id="62" name="Image 18" descr="met">    </p:cNvPr>
          <p:cNvPicPr>
            <a:picLocks noChangeAspect="1"/>
          </p:cNvPicPr>
          <p:nvPr/>
        </p:nvPicPr>
        <p:blipFill>
          <a:blip r:embed="rId19"/>
          <a:stretch>
            <a:fillRect/>
          </a:stretch>
        </p:blipFill>
        <p:spPr>
          <a:xfrm>
            <a:off x="4663440" y="3941064"/>
            <a:ext cx="182880" cy="182880"/>
          </a:xfrm>
          <a:prstGeom prst="rect">
            <a:avLst/>
          </a:prstGeom>
        </p:spPr>
      </p:pic>
      <p:sp>
        <p:nvSpPr>
          <p:cNvPr id="63" name="Text 42"/>
          <p:cNvSpPr txBox="1"/>
          <p:nvPr/>
        </p:nvSpPr>
        <p:spPr>
          <a:xfrm>
            <a:off x="4919472" y="3767328"/>
            <a:ext cx="905256" cy="530352"/>
          </a:xfrm>
          <a:prstGeom prst="rect">
            <a:avLst/>
          </a:prstGeom>
          <a:noFill/>
          <a:ln/>
        </p:spPr>
        <p:txBody>
          <a:bodyPr wrap="square" lIns="0" tIns="0" rIns="0" bIns="0" rtlCol="0" anchor="ctr"/>
          <a:lstStyle/>
          <a:p>
            <a:pPr indent="0" marL="0">
              <a:buNone/>
            </a:pPr>
            <a:r>
              <a:rPr lang="en-US" sz="1100" b="1" dirty="0">
                <a:solidFill>
                  <a:schemeClr val="accent2"/>
                </a:solidFill>
              </a:rPr>
              <a:t>NFR4 </a:t>
            </a:r>
            <a:pPr indent="0" marL="0">
              <a:buNone/>
            </a:pPr>
            <a:r>
              <a:rPr lang="en-US" sz="1100" dirty="0">
                <a:solidFill>
                  <a:schemeClr val="tx1"/>
                </a:solidFill>
              </a:rPr>
              <a:t>Clear errors</a:t>
            </a:r>
            <a:endParaRPr lang="en-US" sz="1100" dirty="0"/>
          </a:p>
        </p:txBody>
      </p:sp>
      <p:sp>
        <p:nvSpPr>
          <p:cNvPr id="64" name="NFR5 chip"/>
          <p:cNvSpPr/>
          <p:nvPr/>
        </p:nvSpPr>
        <p:spPr>
          <a:xfrm>
            <a:off x="5943600" y="3767328"/>
            <a:ext cx="1298448" cy="530352"/>
          </a:xfrm>
          <a:prstGeom prst="roundRect">
            <a:avLst>
              <a:gd name="adj" fmla="val 13793"/>
            </a:avLst>
          </a:prstGeom>
          <a:solidFill>
            <a:schemeClr val="bg2"/>
          </a:solidFill>
          <a:ln w="12700">
            <a:solidFill>
              <a:schemeClr val="bg2"/>
            </a:solidFill>
            <a:prstDash val="solid"/>
          </a:ln>
        </p:spPr>
      </p:sp>
      <p:pic>
        <p:nvPicPr>
          <p:cNvPr id="65" name="Image 19" descr="met">    </p:cNvPr>
          <p:cNvPicPr>
            <a:picLocks noChangeAspect="1"/>
          </p:cNvPicPr>
          <p:nvPr/>
        </p:nvPicPr>
        <p:blipFill>
          <a:blip r:embed="rId20"/>
          <a:stretch>
            <a:fillRect/>
          </a:stretch>
        </p:blipFill>
        <p:spPr>
          <a:xfrm>
            <a:off x="6035040" y="3941064"/>
            <a:ext cx="182880" cy="182880"/>
          </a:xfrm>
          <a:prstGeom prst="rect">
            <a:avLst/>
          </a:prstGeom>
        </p:spPr>
      </p:pic>
      <p:sp>
        <p:nvSpPr>
          <p:cNvPr id="66" name="Text 44"/>
          <p:cNvSpPr txBox="1"/>
          <p:nvPr/>
        </p:nvSpPr>
        <p:spPr>
          <a:xfrm>
            <a:off x="6291072" y="3767328"/>
            <a:ext cx="905256" cy="530352"/>
          </a:xfrm>
          <a:prstGeom prst="rect">
            <a:avLst/>
          </a:prstGeom>
          <a:noFill/>
          <a:ln/>
        </p:spPr>
        <p:txBody>
          <a:bodyPr wrap="square" lIns="0" tIns="0" rIns="0" bIns="0" rtlCol="0" anchor="ctr"/>
          <a:lstStyle/>
          <a:p>
            <a:pPr indent="0" marL="0">
              <a:buNone/>
            </a:pPr>
            <a:r>
              <a:rPr lang="en-US" sz="1100" b="1" dirty="0">
                <a:solidFill>
                  <a:schemeClr val="accent2"/>
                </a:solidFill>
              </a:rPr>
              <a:t>NFR5 </a:t>
            </a:r>
            <a:pPr indent="0" marL="0">
              <a:buNone/>
            </a:pPr>
            <a:r>
              <a:rPr lang="en-US" sz="1100" dirty="0">
                <a:solidFill>
                  <a:schemeClr val="tx1"/>
                </a:solidFill>
              </a:rPr>
              <a:t>Android display</a:t>
            </a:r>
            <a:endParaRPr lang="en-US" sz="1100" dirty="0"/>
          </a:p>
        </p:txBody>
      </p:sp>
      <p:sp>
        <p:nvSpPr>
          <p:cNvPr id="67" name="NFR6 chip"/>
          <p:cNvSpPr/>
          <p:nvPr/>
        </p:nvSpPr>
        <p:spPr>
          <a:xfrm>
            <a:off x="7315200" y="3767328"/>
            <a:ext cx="1298448" cy="530352"/>
          </a:xfrm>
          <a:prstGeom prst="roundRect">
            <a:avLst>
              <a:gd name="adj" fmla="val 13793"/>
            </a:avLst>
          </a:prstGeom>
          <a:solidFill>
            <a:schemeClr val="bg2"/>
          </a:solidFill>
          <a:ln w="12700">
            <a:solidFill>
              <a:schemeClr val="bg2"/>
            </a:solidFill>
            <a:prstDash val="solid"/>
          </a:ln>
        </p:spPr>
      </p:sp>
      <p:pic>
        <p:nvPicPr>
          <p:cNvPr id="68" name="Image 20" descr="met">    </p:cNvPr>
          <p:cNvPicPr>
            <a:picLocks noChangeAspect="1"/>
          </p:cNvPicPr>
          <p:nvPr/>
        </p:nvPicPr>
        <p:blipFill>
          <a:blip r:embed="rId21"/>
          <a:stretch>
            <a:fillRect/>
          </a:stretch>
        </p:blipFill>
        <p:spPr>
          <a:xfrm>
            <a:off x="7406640" y="3941064"/>
            <a:ext cx="182880" cy="182880"/>
          </a:xfrm>
          <a:prstGeom prst="rect">
            <a:avLst/>
          </a:prstGeom>
        </p:spPr>
      </p:pic>
      <p:sp>
        <p:nvSpPr>
          <p:cNvPr id="69" name="Text 46"/>
          <p:cNvSpPr txBox="1"/>
          <p:nvPr/>
        </p:nvSpPr>
        <p:spPr>
          <a:xfrm>
            <a:off x="7662672" y="3767328"/>
            <a:ext cx="905256" cy="530352"/>
          </a:xfrm>
          <a:prstGeom prst="rect">
            <a:avLst/>
          </a:prstGeom>
          <a:noFill/>
          <a:ln/>
        </p:spPr>
        <p:txBody>
          <a:bodyPr wrap="square" lIns="0" tIns="0" rIns="0" bIns="0" rtlCol="0" anchor="ctr"/>
          <a:lstStyle/>
          <a:p>
            <a:pPr indent="0" marL="0">
              <a:buNone/>
            </a:pPr>
            <a:r>
              <a:rPr lang="en-US" sz="1100" b="1" dirty="0">
                <a:solidFill>
                  <a:schemeClr val="accent2"/>
                </a:solidFill>
              </a:rPr>
              <a:t>NFR6 </a:t>
            </a:r>
            <a:pPr indent="0" marL="0">
              <a:buNone/>
            </a:pPr>
            <a:r>
              <a:rPr lang="en-US" sz="1100" dirty="0">
                <a:solidFill>
                  <a:schemeClr val="tx1"/>
                </a:solidFill>
              </a:rPr>
              <a:t>Role-based access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Project records and source code</a:t>
            </a:r>
            <a:endParaRPr lang="en-US" sz="3400" dirty="0"/>
          </a:p>
        </p:txBody>
      </p:sp>
      <p:sp>
        <p:nvSpPr>
          <p:cNvPr id="3" name="Rubric tag"/>
          <p:cNvSpPr/>
          <p:nvPr/>
        </p:nvSpPr>
        <p:spPr>
          <a:xfrm>
            <a:off x="457200" y="128016"/>
            <a:ext cx="4343400"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4343400" cy="256032"/>
          </a:xfrm>
          <a:prstGeom prst="rect">
            <a:avLst/>
          </a:prstGeom>
          <a:noFill/>
          <a:ln/>
        </p:spPr>
        <p:txBody>
          <a:bodyPr wrap="square" lIns="0" tIns="0" rIns="0" bIns="0" rtlCol="0" anchor="ctr"/>
          <a:lstStyle/>
          <a:p>
            <a:pPr algn="ctr" indent="0" marL="0">
              <a:buNone/>
            </a:pPr>
            <a:r>
              <a:rPr lang="en-US" sz="1100" b="1" dirty="0">
                <a:solidFill>
                  <a:schemeClr val="tx2"/>
                </a:solidFill>
              </a:rPr>
              <a:t>Microsoft Project, GitHub and Progress Tracker (5)</a:t>
            </a:r>
            <a:endParaRPr lang="en-US" sz="1100" dirty="0"/>
          </a:p>
        </p:txBody>
      </p:sp>
      <p:sp>
        <p:nvSpPr>
          <p:cNvPr id="5" name="Microsoft Project card"/>
          <p:cNvSpPr/>
          <p:nvPr/>
        </p:nvSpPr>
        <p:spPr>
          <a:xfrm>
            <a:off x="457200" y="1234440"/>
            <a:ext cx="2651760" cy="278892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6" name="FaProjectDiagram circle"/>
          <p:cNvSpPr/>
          <p:nvPr/>
        </p:nvSpPr>
        <p:spPr>
          <a:xfrm>
            <a:off x="640080" y="1371600"/>
            <a:ext cx="548640" cy="548640"/>
          </a:xfrm>
          <a:prstGeom prst="ellipse">
            <a:avLst/>
          </a:prstGeom>
          <a:solidFill>
            <a:srgbClr val="4A2F25"/>
          </a:solidFill>
          <a:ln w="12700">
            <a:solidFill>
              <a:srgbClr val="4A2F25"/>
            </a:solidFill>
            <a:prstDash val="solid"/>
          </a:ln>
        </p:spPr>
      </p:sp>
      <p:pic>
        <p:nvPicPr>
          <p:cNvPr id="7" name="Image 0" descr="FaProjectDiagram">    </p:cNvPr>
          <p:cNvPicPr>
            <a:picLocks noChangeAspect="1"/>
          </p:cNvPicPr>
          <p:nvPr/>
        </p:nvPicPr>
        <p:blipFill>
          <a:blip r:embed="rId1"/>
          <a:stretch>
            <a:fillRect/>
          </a:stretch>
        </p:blipFill>
        <p:spPr>
          <a:xfrm>
            <a:off x="782726" y="1514246"/>
            <a:ext cx="263347" cy="263347"/>
          </a:xfrm>
          <a:prstGeom prst="rect">
            <a:avLst/>
          </a:prstGeom>
        </p:spPr>
      </p:pic>
      <p:sp>
        <p:nvSpPr>
          <p:cNvPr id="8" name="Text 5"/>
          <p:cNvSpPr txBox="1"/>
          <p:nvPr/>
        </p:nvSpPr>
        <p:spPr>
          <a:xfrm>
            <a:off x="1325880" y="1353312"/>
            <a:ext cx="1691640" cy="594360"/>
          </a:xfrm>
          <a:prstGeom prst="rect">
            <a:avLst/>
          </a:prstGeom>
          <a:noFill/>
          <a:ln/>
        </p:spPr>
        <p:txBody>
          <a:bodyPr wrap="square" lIns="0" tIns="0" rIns="0" bIns="0" rtlCol="0" anchor="ctr"/>
          <a:lstStyle/>
          <a:p>
            <a:pPr indent="0" marL="0">
              <a:buNone/>
            </a:pPr>
            <a:r>
              <a:rPr lang="en-US" sz="1600" b="1" dirty="0">
                <a:solidFill>
                  <a:schemeClr val="tx2"/>
                </a:solidFill>
              </a:rPr>
              <a:t>Microsoft Project</a:t>
            </a:r>
            <a:endParaRPr lang="en-US" sz="1600" dirty="0"/>
          </a:p>
          <a:p>
            <a:pPr indent="0" marL="0">
              <a:buNone/>
            </a:pPr>
            <a:r>
              <a:rPr lang="en-US" sz="1100" dirty="0">
                <a:solidFill>
                  <a:schemeClr val="accent4"/>
                </a:solidFill>
              </a:rPr>
              <a:t>Project Schedule.mpp</a:t>
            </a:r>
            <a:endParaRPr lang="en-US" sz="1600" dirty="0"/>
          </a:p>
        </p:txBody>
      </p:sp>
      <p:sp>
        <p:nvSpPr>
          <p:cNvPr id="9" name="Text 6"/>
          <p:cNvSpPr txBox="1"/>
          <p:nvPr/>
        </p:nvSpPr>
        <p:spPr>
          <a:xfrm>
            <a:off x="640080" y="2148840"/>
            <a:ext cx="228600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Editable schedule with 3 phases</a:t>
            </a:r>
            <a:endParaRPr lang="en-US" sz="1400" dirty="0"/>
          </a:p>
          <a:p>
            <a:pPr marL="342900" indent="-342900">
              <a:spcAft>
                <a:spcPts val="600"/>
              </a:spcAft>
              <a:buSzPct val="100000"/>
              <a:buChar char="•"/>
            </a:pPr>
            <a:r>
              <a:rPr lang="en-US" sz="1400" dirty="0">
                <a:solidFill>
                  <a:schemeClr val="tx1"/>
                </a:solidFill>
              </a:rPr>
              <a:t>Tasks, dates, dependencies and milestones</a:t>
            </a:r>
            <a:endParaRPr lang="en-US" sz="1400" dirty="0"/>
          </a:p>
          <a:p>
            <a:pPr marL="342900" indent="-342900">
              <a:spcAft>
                <a:spcPts val="600"/>
              </a:spcAft>
              <a:buSzPct val="100000"/>
              <a:buChar char="•"/>
            </a:pPr>
            <a:r>
              <a:rPr lang="en-US" sz="1400" dirty="0">
                <a:solidFill>
                  <a:schemeClr val="tx1"/>
                </a:solidFill>
              </a:rPr>
              <a:t>Percentage complete per task</a:t>
            </a:r>
            <a:endParaRPr lang="en-US" sz="1400" dirty="0"/>
          </a:p>
        </p:txBody>
      </p:sp>
      <p:sp>
        <p:nvSpPr>
          <p:cNvPr id="10" name="GitHub card"/>
          <p:cNvSpPr/>
          <p:nvPr/>
        </p:nvSpPr>
        <p:spPr>
          <a:xfrm>
            <a:off x="3246120" y="1234440"/>
            <a:ext cx="2651760" cy="278892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1" name="FaGithub circle"/>
          <p:cNvSpPr/>
          <p:nvPr/>
        </p:nvSpPr>
        <p:spPr>
          <a:xfrm>
            <a:off x="3429000" y="1371600"/>
            <a:ext cx="548640" cy="548640"/>
          </a:xfrm>
          <a:prstGeom prst="ellipse">
            <a:avLst/>
          </a:prstGeom>
          <a:solidFill>
            <a:srgbClr val="4A2F25"/>
          </a:solidFill>
          <a:ln w="12700">
            <a:solidFill>
              <a:srgbClr val="4A2F25"/>
            </a:solidFill>
            <a:prstDash val="solid"/>
          </a:ln>
        </p:spPr>
      </p:sp>
      <p:pic>
        <p:nvPicPr>
          <p:cNvPr id="12" name="Image 1" descr="FaGithub">    </p:cNvPr>
          <p:cNvPicPr>
            <a:picLocks noChangeAspect="1"/>
          </p:cNvPicPr>
          <p:nvPr/>
        </p:nvPicPr>
        <p:blipFill>
          <a:blip r:embed="rId2"/>
          <a:stretch>
            <a:fillRect/>
          </a:stretch>
        </p:blipFill>
        <p:spPr>
          <a:xfrm>
            <a:off x="3571646" y="1514246"/>
            <a:ext cx="263347" cy="263347"/>
          </a:xfrm>
          <a:prstGeom prst="rect">
            <a:avLst/>
          </a:prstGeom>
        </p:spPr>
      </p:pic>
      <p:sp>
        <p:nvSpPr>
          <p:cNvPr id="13" name="Text 9"/>
          <p:cNvSpPr txBox="1"/>
          <p:nvPr/>
        </p:nvSpPr>
        <p:spPr>
          <a:xfrm>
            <a:off x="4114800" y="1353312"/>
            <a:ext cx="1691640" cy="594360"/>
          </a:xfrm>
          <a:prstGeom prst="rect">
            <a:avLst/>
          </a:prstGeom>
          <a:noFill/>
          <a:ln/>
        </p:spPr>
        <p:txBody>
          <a:bodyPr wrap="square" lIns="0" tIns="0" rIns="0" bIns="0" rtlCol="0" anchor="ctr"/>
          <a:lstStyle/>
          <a:p>
            <a:pPr indent="0" marL="0">
              <a:buNone/>
            </a:pPr>
            <a:r>
              <a:rPr lang="en-US" sz="1600" b="1" dirty="0">
                <a:solidFill>
                  <a:schemeClr val="tx2"/>
                </a:solidFill>
              </a:rPr>
              <a:t>GitHub</a:t>
            </a:r>
            <a:endParaRPr lang="en-US" sz="1600" dirty="0"/>
          </a:p>
          <a:p>
            <a:pPr indent="0" marL="0">
              <a:buNone/>
            </a:pPr>
            <a:r>
              <a:rPr lang="en-US" sz="1100" dirty="0">
                <a:solidFill>
                  <a:schemeClr val="accent4"/>
                </a:solidFill>
              </a:rPr>
              <a:t>WIL-Project-2026 (private)</a:t>
            </a:r>
            <a:endParaRPr lang="en-US" sz="1600" dirty="0"/>
          </a:p>
        </p:txBody>
      </p:sp>
      <p:sp>
        <p:nvSpPr>
          <p:cNvPr id="14" name="Text 10"/>
          <p:cNvSpPr txBox="1"/>
          <p:nvPr/>
        </p:nvSpPr>
        <p:spPr>
          <a:xfrm>
            <a:off x="3429000" y="2148840"/>
            <a:ext cx="228600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Code for both apps, with README and setup guide</a:t>
            </a:r>
            <a:endParaRPr lang="en-US" sz="1400" dirty="0"/>
          </a:p>
          <a:p>
            <a:pPr marL="342900" indent="-342900">
              <a:spcAft>
                <a:spcPts val="600"/>
              </a:spcAft>
              <a:buSzPct val="100000"/>
              <a:buChar char="•"/>
            </a:pPr>
            <a:r>
              <a:rPr lang="en-US" sz="1400" dirty="0">
                <a:solidFill>
                  <a:schemeClr val="tx1"/>
                </a:solidFill>
              </a:rPr>
              <a:t>All members have access</a:t>
            </a:r>
            <a:endParaRPr lang="en-US" sz="1400" dirty="0"/>
          </a:p>
          <a:p>
            <a:pPr marL="342900" indent="-342900">
              <a:spcAft>
                <a:spcPts val="600"/>
              </a:spcAft>
              <a:buSzPct val="100000"/>
              <a:buChar char="•"/>
            </a:pPr>
            <a:r>
              <a:rPr lang="en-US" sz="1400" dirty="0">
                <a:solidFill>
                  <a:schemeClr val="tx1"/>
                </a:solidFill>
              </a:rPr>
              <a:t>No keys or passwords committed</a:t>
            </a:r>
            <a:endParaRPr lang="en-US" sz="1400" dirty="0"/>
          </a:p>
        </p:txBody>
      </p:sp>
      <p:sp>
        <p:nvSpPr>
          <p:cNvPr id="15" name="Progress Tracker card"/>
          <p:cNvSpPr/>
          <p:nvPr/>
        </p:nvSpPr>
        <p:spPr>
          <a:xfrm>
            <a:off x="6035040" y="1234440"/>
            <a:ext cx="2651760" cy="278892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6" name="FaTable circle"/>
          <p:cNvSpPr/>
          <p:nvPr/>
        </p:nvSpPr>
        <p:spPr>
          <a:xfrm>
            <a:off x="6217920" y="1371600"/>
            <a:ext cx="548640" cy="548640"/>
          </a:xfrm>
          <a:prstGeom prst="ellipse">
            <a:avLst/>
          </a:prstGeom>
          <a:solidFill>
            <a:srgbClr val="4A2F25"/>
          </a:solidFill>
          <a:ln w="12700">
            <a:solidFill>
              <a:srgbClr val="4A2F25"/>
            </a:solidFill>
            <a:prstDash val="solid"/>
          </a:ln>
        </p:spPr>
      </p:sp>
      <p:pic>
        <p:nvPicPr>
          <p:cNvPr id="17" name="Image 2" descr="FaTable">    </p:cNvPr>
          <p:cNvPicPr>
            <a:picLocks noChangeAspect="1"/>
          </p:cNvPicPr>
          <p:nvPr/>
        </p:nvPicPr>
        <p:blipFill>
          <a:blip r:embed="rId3"/>
          <a:stretch>
            <a:fillRect/>
          </a:stretch>
        </p:blipFill>
        <p:spPr>
          <a:xfrm>
            <a:off x="6360566" y="1514246"/>
            <a:ext cx="263347" cy="263347"/>
          </a:xfrm>
          <a:prstGeom prst="rect">
            <a:avLst/>
          </a:prstGeom>
        </p:spPr>
      </p:pic>
      <p:sp>
        <p:nvSpPr>
          <p:cNvPr id="18" name="Text 13"/>
          <p:cNvSpPr txBox="1"/>
          <p:nvPr/>
        </p:nvSpPr>
        <p:spPr>
          <a:xfrm>
            <a:off x="6903720" y="1353312"/>
            <a:ext cx="1691640" cy="594360"/>
          </a:xfrm>
          <a:prstGeom prst="rect">
            <a:avLst/>
          </a:prstGeom>
          <a:noFill/>
          <a:ln/>
        </p:spPr>
        <p:txBody>
          <a:bodyPr wrap="square" lIns="0" tIns="0" rIns="0" bIns="0" rtlCol="0" anchor="ctr"/>
          <a:lstStyle/>
          <a:p>
            <a:pPr indent="0" marL="0">
              <a:buNone/>
            </a:pPr>
            <a:r>
              <a:rPr lang="en-US" sz="1600" b="1" dirty="0">
                <a:solidFill>
                  <a:schemeClr val="tx2"/>
                </a:solidFill>
              </a:rPr>
              <a:t>Progress Tracker</a:t>
            </a:r>
            <a:endParaRPr lang="en-US" sz="1600" dirty="0"/>
          </a:p>
          <a:p>
            <a:pPr indent="0" marL="0">
              <a:buNone/>
            </a:pPr>
            <a:r>
              <a:rPr lang="en-US" sz="1100" dirty="0">
                <a:solidFill>
                  <a:schemeClr val="accent4"/>
                </a:solidFill>
              </a:rPr>
              <a:t>ITC327W Excel workbook</a:t>
            </a:r>
            <a:endParaRPr lang="en-US" sz="1600" dirty="0"/>
          </a:p>
        </p:txBody>
      </p:sp>
      <p:sp>
        <p:nvSpPr>
          <p:cNvPr id="19" name="Text 14"/>
          <p:cNvSpPr txBox="1"/>
          <p:nvPr/>
        </p:nvSpPr>
        <p:spPr>
          <a:xfrm>
            <a:off x="6217920" y="2148840"/>
            <a:ext cx="228600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Tasks and member contributions</a:t>
            </a:r>
            <a:endParaRPr lang="en-US" sz="1400" dirty="0"/>
          </a:p>
          <a:p>
            <a:pPr marL="342900" indent="-342900">
              <a:spcAft>
                <a:spcPts val="600"/>
              </a:spcAft>
              <a:buSzPct val="100000"/>
              <a:buChar char="•"/>
            </a:pPr>
            <a:r>
              <a:rPr lang="en-US" sz="1400" dirty="0">
                <a:solidFill>
                  <a:schemeClr val="tx1"/>
                </a:solidFill>
              </a:rPr>
              <a:t>Challenges we faced</a:t>
            </a:r>
            <a:endParaRPr lang="en-US" sz="1400" dirty="0"/>
          </a:p>
          <a:p>
            <a:pPr marL="342900" indent="-342900">
              <a:spcAft>
                <a:spcPts val="600"/>
              </a:spcAft>
              <a:buSzPct val="100000"/>
              <a:buChar char="•"/>
            </a:pPr>
            <a:r>
              <a:rPr lang="en-US" sz="1400" dirty="0">
                <a:solidFill>
                  <a:schemeClr val="tx1"/>
                </a:solidFill>
              </a:rPr>
              <a:t>Final group reflection</a:t>
            </a:r>
            <a:endParaRPr lang="en-US" sz="1400" dirty="0"/>
          </a:p>
        </p:txBody>
      </p:sp>
      <p:sp>
        <p:nvSpPr>
          <p:cNvPr id="20" name="Evidence strip"/>
          <p:cNvSpPr/>
          <p:nvPr/>
        </p:nvSpPr>
        <p:spPr>
          <a:xfrm>
            <a:off x="457200" y="4160520"/>
            <a:ext cx="8229600" cy="457200"/>
          </a:xfrm>
          <a:prstGeom prst="roundRect">
            <a:avLst>
              <a:gd name="adj" fmla="val 50000"/>
            </a:avLst>
          </a:prstGeom>
          <a:solidFill>
            <a:schemeClr val="tx2"/>
          </a:solidFill>
          <a:ln w="12700">
            <a:solidFill>
              <a:schemeClr val="tx2"/>
            </a:solidFill>
            <a:prstDash val="solid"/>
          </a:ln>
        </p:spPr>
      </p:sp>
      <p:sp>
        <p:nvSpPr>
          <p:cNvPr id="21" name="Text 16"/>
          <p:cNvSpPr txBox="1"/>
          <p:nvPr/>
        </p:nvSpPr>
        <p:spPr>
          <a:xfrm>
            <a:off x="457200" y="4160520"/>
            <a:ext cx="8229600" cy="457200"/>
          </a:xfrm>
          <a:prstGeom prst="rect">
            <a:avLst/>
          </a:prstGeom>
          <a:noFill/>
          <a:ln/>
        </p:spPr>
        <p:txBody>
          <a:bodyPr wrap="square" lIns="0" tIns="0" rIns="0" bIns="0" rtlCol="0" anchor="ctr"/>
          <a:lstStyle/>
          <a:p>
            <a:pPr algn="ctr" indent="0" marL="0">
              <a:buNone/>
            </a:pPr>
            <a:r>
              <a:rPr lang="en-US" sz="1400" b="1" dirty="0">
                <a:solidFill>
                  <a:schemeClr val="accent3"/>
                </a:solidFill>
              </a:rPr>
              <a:t>Evidence screenshots on the next three slides</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Stakeholder confirmation</a:t>
            </a:r>
            <a:endParaRPr lang="en-US" sz="3400" dirty="0"/>
          </a:p>
        </p:txBody>
      </p:sp>
      <p:sp>
        <p:nvSpPr>
          <p:cNvPr id="3" name="Rubric tag"/>
          <p:cNvSpPr/>
          <p:nvPr/>
        </p:nvSpPr>
        <p:spPr>
          <a:xfrm>
            <a:off x="457200" y="128016"/>
            <a:ext cx="3799332"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3799332" cy="256032"/>
          </a:xfrm>
          <a:prstGeom prst="rect">
            <a:avLst/>
          </a:prstGeom>
          <a:noFill/>
          <a:ln/>
        </p:spPr>
        <p:txBody>
          <a:bodyPr wrap="square" lIns="0" tIns="0" rIns="0" bIns="0" rtlCol="0" anchor="ctr"/>
          <a:lstStyle/>
          <a:p>
            <a:pPr algn="ctr" indent="0" marL="0">
              <a:buNone/>
            </a:pPr>
            <a:r>
              <a:rPr lang="en-US" sz="1100" b="1" dirty="0">
                <a:solidFill>
                  <a:schemeClr val="tx2"/>
                </a:solidFill>
              </a:rPr>
              <a:t>Stakeholder confirmation  ·  evidence video</a:t>
            </a:r>
            <a:endParaRPr lang="en-US" sz="1100" dirty="0"/>
          </a:p>
        </p:txBody>
      </p:sp>
      <p:sp>
        <p:nvSpPr>
          <p:cNvPr id="5" name="Video frame"/>
          <p:cNvSpPr/>
          <p:nvPr/>
        </p:nvSpPr>
        <p:spPr>
          <a:xfrm>
            <a:off x="457200" y="1234440"/>
            <a:ext cx="4937760" cy="2788920"/>
          </a:xfrm>
          <a:prstGeom prst="roundRect">
            <a:avLst>
              <a:gd name="adj" fmla="val 393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6" name="Image 0" descr="Play video">    </p:cNvPr>
          <p:cNvPicPr>
            <a:picLocks noChangeAspect="1"/>
          </p:cNvPicPr>
          <p:nvPr/>
        </p:nvPicPr>
        <p:blipFill>
          <a:blip r:embed="rId1"/>
          <a:stretch>
            <a:fillRect/>
          </a:stretch>
        </p:blipFill>
        <p:spPr>
          <a:xfrm>
            <a:off x="2377440" y="2011680"/>
            <a:ext cx="1097280" cy="1097280"/>
          </a:xfrm>
          <a:prstGeom prst="rect">
            <a:avLst/>
          </a:prstGeom>
        </p:spPr>
      </p:pic>
      <p:sp>
        <p:nvSpPr>
          <p:cNvPr id="7" name="Text 4"/>
          <p:cNvSpPr txBox="1"/>
          <p:nvPr/>
        </p:nvSpPr>
        <p:spPr>
          <a:xfrm>
            <a:off x="457200" y="3246120"/>
            <a:ext cx="4937760" cy="365760"/>
          </a:xfrm>
          <a:prstGeom prst="rect">
            <a:avLst/>
          </a:prstGeom>
          <a:noFill/>
          <a:ln/>
        </p:spPr>
        <p:txBody>
          <a:bodyPr wrap="square" lIns="0" tIns="0" rIns="0" bIns="0" rtlCol="0" anchor="ctr"/>
          <a:lstStyle/>
          <a:p>
            <a:pPr algn="ctr" indent="0" marL="0">
              <a:buNone/>
            </a:pPr>
            <a:r>
              <a:rPr lang="en-US" sz="1400" dirty="0">
                <a:solidFill>
                  <a:schemeClr val="bg1"/>
                </a:solidFill>
              </a:rPr>
              <a:t>Stakeholder confirmation video</a:t>
            </a:r>
            <a:endParaRPr lang="en-US" sz="1400" dirty="0"/>
          </a:p>
        </p:txBody>
      </p:sp>
      <p:sp>
        <p:nvSpPr>
          <p:cNvPr id="8" name="Text 5"/>
          <p:cNvSpPr txBox="1"/>
          <p:nvPr/>
        </p:nvSpPr>
        <p:spPr>
          <a:xfrm>
            <a:off x="5669280" y="123444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What was confirmed</a:t>
            </a:r>
            <a:endParaRPr lang="en-US" sz="1800" dirty="0"/>
          </a:p>
        </p:txBody>
      </p:sp>
      <p:sp>
        <p:nvSpPr>
          <p:cNvPr id="9" name="Text 6"/>
          <p:cNvSpPr txBox="1"/>
          <p:nvPr/>
        </p:nvSpPr>
        <p:spPr>
          <a:xfrm>
            <a:off x="5669280" y="1737360"/>
            <a:ext cx="30175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Phehello Secondary School reviewed the Phase 3 system</a:t>
            </a:r>
            <a:endParaRPr lang="en-US" sz="1400" dirty="0"/>
          </a:p>
          <a:p>
            <a:pPr marL="342900" indent="-342900">
              <a:spcAft>
                <a:spcPts val="800"/>
              </a:spcAft>
              <a:buSzPct val="100000"/>
              <a:buChar char="•"/>
            </a:pPr>
            <a:r>
              <a:rPr lang="en-US" sz="1400" dirty="0">
                <a:solidFill>
                  <a:schemeClr val="tx1"/>
                </a:solidFill>
              </a:rPr>
              <a:t>Parent, Financial Clerk and Administrator functions</a:t>
            </a:r>
            <a:endParaRPr lang="en-US" sz="1400" dirty="0"/>
          </a:p>
          <a:p>
            <a:pPr marL="342900" indent="-342900">
              <a:spcAft>
                <a:spcPts val="800"/>
              </a:spcAft>
              <a:buSzPct val="100000"/>
              <a:buChar char="•"/>
            </a:pPr>
            <a:r>
              <a:rPr lang="en-US" sz="1400" dirty="0">
                <a:solidFill>
                  <a:schemeClr val="tx1"/>
                </a:solidFill>
              </a:rPr>
              <a:t>All learner and parent data shown was fictional</a:t>
            </a:r>
            <a:endParaRPr lang="en-US" sz="1400" dirty="0"/>
          </a:p>
        </p:txBody>
      </p:sp>
      <p:sp>
        <p:nvSpPr>
          <p:cNvPr id="10" name="Text 7"/>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200" i="1" dirty="0">
                <a:solidFill>
                  <a:schemeClr val="accent2"/>
                </a:solidFill>
              </a:rPr>
              <a:t>Form: Stakeholder Confirmation of Phase 3 Deliverables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chool crest" descr="Phehello High School crest">    </p:cNvPr>
          <p:cNvPicPr>
            <a:picLocks noChangeAspect="1"/>
          </p:cNvPicPr>
          <p:nvPr/>
        </p:nvPicPr>
        <p:blipFill>
          <a:blip r:embed="rId1"/>
          <a:stretch>
            <a:fillRect/>
          </a:stretch>
        </p:blipFill>
        <p:spPr>
          <a:xfrm>
            <a:off x="3749040" y="365760"/>
            <a:ext cx="1645920" cy="2084832"/>
          </a:xfrm>
          <a:prstGeom prst="rect">
            <a:avLst/>
          </a:prstGeom>
        </p:spPr>
      </p:pic>
      <p:sp>
        <p:nvSpPr>
          <p:cNvPr id="3" name="Title"/>
          <p:cNvSpPr txBox="1"/>
          <p:nvPr/>
        </p:nvSpPr>
        <p:spPr>
          <a:xfrm>
            <a:off x="457200" y="2606040"/>
            <a:ext cx="8229600" cy="73152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4" name="Text 1"/>
          <p:cNvSpPr txBox="1"/>
          <p:nvPr/>
        </p:nvSpPr>
        <p:spPr>
          <a:xfrm>
            <a:off x="457200" y="3337560"/>
            <a:ext cx="8229600" cy="457200"/>
          </a:xfrm>
          <a:prstGeom prst="rect">
            <a:avLst/>
          </a:prstGeom>
          <a:noFill/>
          <a:ln/>
        </p:spPr>
        <p:txBody>
          <a:bodyPr wrap="square" lIns="0" tIns="0" rIns="0" bIns="0" rtlCol="0" anchor="ctr"/>
          <a:lstStyle/>
          <a:p>
            <a:pPr algn="ctr" indent="0" marL="0">
              <a:buNone/>
            </a:pPr>
            <a:r>
              <a:rPr lang="en-US" sz="2600" dirty="0">
                <a:solidFill>
                  <a:schemeClr val="accent1"/>
                </a:solidFill>
                <a:latin typeface="Cambria" pitchFamily="34" charset="0"/>
                <a:ea typeface="Cambria" pitchFamily="34" charset="-122"/>
                <a:cs typeface="Cambria" pitchFamily="34" charset="-120"/>
              </a:rPr>
              <a:t>Questions?</a:t>
            </a:r>
            <a:endParaRPr lang="en-US" sz="2600" dirty="0"/>
          </a:p>
        </p:txBody>
      </p:sp>
      <p:sp>
        <p:nvSpPr>
          <p:cNvPr id="5" name="Text 2"/>
          <p:cNvSpPr txBox="1"/>
          <p:nvPr/>
        </p:nvSpPr>
        <p:spPr>
          <a:xfrm>
            <a:off x="457200" y="4114800"/>
            <a:ext cx="8229600" cy="274320"/>
          </a:xfrm>
          <a:prstGeom prst="rect">
            <a:avLst/>
          </a:prstGeom>
          <a:noFill/>
          <a:ln/>
        </p:spPr>
        <p:txBody>
          <a:bodyPr wrap="square" lIns="0" tIns="0" rIns="0" bIns="0" rtlCol="0" anchor="ctr"/>
          <a:lstStyle/>
          <a:p>
            <a:pPr algn="ctr" indent="0" marL="0">
              <a:buNone/>
            </a:pPr>
            <a:r>
              <a:rPr lang="en-US" sz="1200" dirty="0">
                <a:solidFill>
                  <a:schemeClr val="accent3"/>
                </a:solidFill>
              </a:rPr>
              <a:t>Group Ctrl-Alt-Defeat  ·  ITC327W Phase 3  ·  Phehello Secondary School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rogress Tracker">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Progress Tracker</a:t>
            </a:r>
            <a:endParaRPr lang="en-US" sz="3400" dirty="0"/>
          </a:p>
        </p:txBody>
      </p:sp>
      <p:sp>
        <p:nvSpPr>
          <p:cNvPr id="3" name="Rubric tag"/>
          <p:cNvSpPr/>
          <p:nvPr/>
        </p:nvSpPr>
        <p:spPr>
          <a:xfrm>
            <a:off x="457200" y="128016"/>
            <a:ext cx="4343400"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4343400" cy="256032"/>
          </a:xfrm>
          <a:prstGeom prst="rect">
            <a:avLst/>
          </a:prstGeom>
          <a:noFill/>
          <a:ln/>
        </p:spPr>
        <p:txBody>
          <a:bodyPr wrap="square" lIns="0" tIns="0" rIns="0" bIns="0" rtlCol="0" anchor="ctr"/>
          <a:lstStyle/>
          <a:p>
            <a:pPr algn="ctr" indent="0" marL="0">
              <a:buNone/>
            </a:pPr>
            <a:r>
              <a:rPr lang="en-US" sz="1100" b="1" dirty="0">
                <a:solidFill>
                  <a:schemeClr val="tx2"/>
                </a:solidFill>
              </a:rPr>
              <a:t>Microsoft Project, GitHub and Progress Tracker (5)</a:t>
            </a:r>
            <a:endParaRPr lang="en-US" sz="1100" dirty="0"/>
          </a:p>
        </p:txBody>
      </p:sp>
      <p:pic>
        <p:nvPicPr>
          <p:cNvPr id="5" name="Evidence screenshot" descr="Progress Tracker workbook showing completed tasks and assigned students"/>
          <p:cNvPicPr>
            <a:picLocks noChangeAspect="1"/>
          </p:cNvPicPr>
          <p:nvPr/>
        </p:nvPicPr>
        <p:blipFill>
          <a:blip r:embed="rId2"/>
          <a:stretch>
            <a:fillRect/>
          </a:stretch>
        </p:blipFill>
        <p:spPr>
          <a:xfrm>
            <a:off x="1181666" y="1234440"/>
            <a:ext cx="6780667" cy="3474720"/>
          </a:xfrm>
          <a:prstGeom prst="rect">
            <a:avLst/>
          </a:prstGeom>
          <a:ln w="12700">
            <a:solidFill>
              <a:schemeClr val="bg2"/>
            </a:solidFill>
          </a:ln>
          <a:effectLst>
            <a:outerShdw blurRad="101600" dist="25400" dir="5400000" algn="bl" rotWithShape="0">
              <a:srgbClr val="000000">
                <a:alpha val="14000"/>
              </a:srgbClr>
            </a:outerShdw>
          </a:effectLst>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GitHub repository">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GitHub repository</a:t>
            </a:r>
            <a:endParaRPr lang="en-US" sz="3400" dirty="0"/>
          </a:p>
        </p:txBody>
      </p:sp>
      <p:sp>
        <p:nvSpPr>
          <p:cNvPr id="3" name="Rubric tag"/>
          <p:cNvSpPr/>
          <p:nvPr/>
        </p:nvSpPr>
        <p:spPr>
          <a:xfrm>
            <a:off x="457200" y="128016"/>
            <a:ext cx="4343400"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4343400" cy="256032"/>
          </a:xfrm>
          <a:prstGeom prst="rect">
            <a:avLst/>
          </a:prstGeom>
          <a:noFill/>
          <a:ln/>
        </p:spPr>
        <p:txBody>
          <a:bodyPr wrap="square" lIns="0" tIns="0" rIns="0" bIns="0" rtlCol="0" anchor="ctr"/>
          <a:lstStyle/>
          <a:p>
            <a:pPr algn="ctr" indent="0" marL="0">
              <a:buNone/>
            </a:pPr>
            <a:r>
              <a:rPr lang="en-US" sz="1100" b="1" dirty="0">
                <a:solidFill>
                  <a:schemeClr val="tx2"/>
                </a:solidFill>
              </a:rPr>
              <a:t>Microsoft Project, GitHub and Progress Tracker (5)</a:t>
            </a:r>
            <a:endParaRPr lang="en-US" sz="1100" dirty="0"/>
          </a:p>
        </p:txBody>
      </p:sp>
      <p:pic>
        <p:nvPicPr>
          <p:cNvPr id="5" name="Evidence screenshot" descr="GitHub repository WIL-Project-2026 with README and contributors"/>
          <p:cNvPicPr>
            <a:picLocks noChangeAspect="1"/>
          </p:cNvPicPr>
          <p:nvPr/>
        </p:nvPicPr>
        <p:blipFill>
          <a:blip r:embed="rId2"/>
          <a:stretch>
            <a:fillRect/>
          </a:stretch>
        </p:blipFill>
        <p:spPr>
          <a:xfrm>
            <a:off x="865632" y="1234440"/>
            <a:ext cx="7412736" cy="3474720"/>
          </a:xfrm>
          <a:prstGeom prst="rect">
            <a:avLst/>
          </a:prstGeom>
          <a:ln w="12700">
            <a:solidFill>
              <a:schemeClr val="bg2"/>
            </a:solidFill>
          </a:ln>
          <a:effectLst>
            <a:outerShdw blurRad="101600" dist="25400" dir="5400000" algn="bl" rotWithShape="0">
              <a:srgbClr val="000000">
                <a:alpha val="14000"/>
              </a:srgbClr>
            </a:outerShdw>
          </a:effectLst>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Microsoft Project schedule">
    <p:spTree>
      <p:nvGrpSpPr>
        <p:cNvPr id="1" name=""/>
        <p:cNvGrpSpPr/>
        <p:nvPr/>
      </p:nvGrpSpPr>
      <p:grpSpPr>
        <a:xfrm>
          <a:off x="0" y="0"/>
          <a:ext cx="0" cy="0"/>
          <a:chOff x="0" y="0"/>
          <a:chExt cx="0" cy="0"/>
        </a:xfrm>
      </p:grpSpPr>
      <p:sp>
        <p:nvSpPr>
          <p:cNvPr id="2" name="Title"/>
          <p:cNvSpPr txBox="1"/>
          <p:nvPr/>
        </p:nvSpPr>
        <p:spPr>
          <a:xfrm>
            <a:off x="457200" y="411480"/>
            <a:ext cx="8229600" cy="64008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Microsoft Project schedule</a:t>
            </a:r>
            <a:endParaRPr lang="en-US" sz="3400" dirty="0"/>
          </a:p>
        </p:txBody>
      </p:sp>
      <p:sp>
        <p:nvSpPr>
          <p:cNvPr id="3" name="Rubric tag"/>
          <p:cNvSpPr/>
          <p:nvPr/>
        </p:nvSpPr>
        <p:spPr>
          <a:xfrm>
            <a:off x="457200" y="128016"/>
            <a:ext cx="4343400" cy="256032"/>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457200" y="128016"/>
            <a:ext cx="4343400" cy="256032"/>
          </a:xfrm>
          <a:prstGeom prst="rect">
            <a:avLst/>
          </a:prstGeom>
          <a:noFill/>
          <a:ln/>
        </p:spPr>
        <p:txBody>
          <a:bodyPr wrap="square" lIns="0" tIns="0" rIns="0" bIns="0" rtlCol="0" anchor="ctr"/>
          <a:lstStyle/>
          <a:p>
            <a:pPr algn="ctr" indent="0" marL="0">
              <a:buNone/>
            </a:pPr>
            <a:r>
              <a:rPr lang="en-US" sz="1100" b="1" dirty="0">
                <a:solidFill>
                  <a:schemeClr val="tx2"/>
                </a:solidFill>
              </a:rPr>
              <a:t>Microsoft Project, GitHub and Progress Tracker (5)</a:t>
            </a:r>
            <a:endParaRPr lang="en-US" sz="1100" dirty="0"/>
          </a:p>
        </p:txBody>
      </p:sp>
      <p:pic>
        <p:nvPicPr>
          <p:cNvPr id="5" name="Evidence screenshot" descr="Microsoft Project Gantt chart showing Phase 3 tasks and dates"/>
          <p:cNvPicPr>
            <a:picLocks noChangeAspect="1"/>
          </p:cNvPicPr>
          <p:nvPr/>
        </p:nvPicPr>
        <p:blipFill>
          <a:blip r:embed="rId2"/>
          <a:stretch>
            <a:fillRect/>
          </a:stretch>
        </p:blipFill>
        <p:spPr>
          <a:xfrm>
            <a:off x="1480088" y="1234440"/>
            <a:ext cx="6183823" cy="3474720"/>
          </a:xfrm>
          <a:prstGeom prst="rect">
            <a:avLst/>
          </a:prstGeom>
          <a:ln w="12700">
            <a:solidFill>
              <a:schemeClr val="bg2"/>
            </a:solidFill>
          </a:ln>
          <a:effectLst>
            <a:outerShdw blurRad="101600" dist="25400" dir="5400000" algn="bl" rotWithShape="0">
              <a:srgbClr val="000000">
                <a:alpha val="14000"/>
              </a:srgbClr>
            </a:outerShdw>
          </a:effectLst>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Phehello">
  <a:themeElements>
    <a:clrScheme name="Phehello">
      <a:dk1>
        <a:srgbClr val="2A1B14"/>
      </a:dk1>
      <a:lt1>
        <a:srgbClr val="FFFFFF"/>
      </a:lt1>
      <a:dk2>
        <a:srgbClr val="4A2F25"/>
      </a:dk2>
      <a:lt2>
        <a:srgbClr val="F6F0EA"/>
      </a:lt2>
      <a:accent1>
        <a:srgbClr val="C9962F"/>
      </a:accent1>
      <a:accent2>
        <a:srgbClr val="6E4636"/>
      </a:accent2>
      <a:accent3>
        <a:srgbClr val="E3C378"/>
      </a:accent3>
      <a:accent4>
        <a:srgbClr val="8C6A5A"/>
      </a:accent4>
      <a:accent5>
        <a:srgbClr val="2E7D4F"/>
      </a:accent5>
      <a:accent6>
        <a:srgbClr val="A23B2A"/>
      </a:accent6>
      <a:hlink>
        <a:srgbClr val="C9962F"/>
      </a:hlink>
      <a:folHlink>
        <a:srgbClr val="8C6A5A"/>
      </a:folHlink>
    </a:clrScheme>
    <a:fontScheme name="Phehell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Phehello Secondary Online Enrolment System - Phase 3 Final Presentation</dc:title>
  <dc:subject>PptxGenJS Presentation</dc:subject>
  <dc:creator>Group Ctrl-Alt-Defeat</dc:creator>
  <cp:lastModifiedBy>Group Ctrl-Alt-Defeat</cp:lastModifiedBy>
  <cp:revision>1</cp:revision>
  <dcterms:created xsi:type="dcterms:W3CDTF">2026-10-27T09:04:29Z</dcterms:created>
  <dcterms:modified xsi:type="dcterms:W3CDTF">2026-10-27T09:04:29Z</dcterms:modified>
</cp:coreProperties>
</file>