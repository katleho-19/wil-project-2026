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60" r:id="rId5"/>
    <p:sldId id="261" r:id="rId6"/>
    <p:sldId id="262" r:id="rId7"/>
    <p:sldId id="263" r:id="rId8"/>
    <p:sldId id="264" r:id="rId9"/>
    <p:sldId id="287" r:id="rId10"/>
    <p:sldId id="266" r:id="rId11"/>
    <p:sldId id="267" r:id="rId12"/>
    <p:sldId id="282" r:id="rId13"/>
    <p:sldId id="283" r:id="rId14"/>
    <p:sldId id="286" r:id="rId15"/>
    <p:sldId id="284" r:id="rId16"/>
    <p:sldId id="285" r:id="rId17"/>
    <p:sldId id="268"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558" y="9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607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Good day. We are Ctrl+Alt+Defeat: Makhoali, Lebusa, Mahlatsi, Lepitla, Motaung and Adegbola. This is our Phase 2 presentation for ITC327W: the system architecture and design for the Phehello Secondary School online enrolment system. Phase 1 gave us the confirmed requirements; Phase 2 turns them into a design. First, a quick reminder of the problem we are solving.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PROBLEM → STAKEHOLDER → SOLUTION (lecturer requirement: brief intro straight after the cover)</a:t>
            </a:r>
          </a:p>
          <a:p>
            <a:r>
              <a:t>PROBLEM: Enrolling a learner at Phehello is fully paper-based. A parent collects a form, fills it in by hand, gathers four documents (immunisation record, birth certificate, previous school progress report, transfer letter), travels to the school, and pays the enrolment fee to the financial clerk. If any document is wrong or missing, the parent has to travel back. The school told us this is hardest on young and working parents, and some travel on foot. Parents also cannot see the status of their application. On the school side, the clerk and administrator spend their time on one-on-one handling instead of their other duties.</a:t>
            </a:r>
          </a:p>
          <a:p>
            <a:endParaRPr/>
          </a:p>
          <a:p>
            <a:r>
              <a:t>STAKEHOLDER: Phehello Secondary is a public secondary school in Odendaalsrus. The Principal, Ms Maleshoane Gweneth Adegbola, agreed to be our official stakeholder on 20 August. Because of her workload she delegated her secretary, Zukiswa Khondlo, who took part in our formal interview on 24 August and confirmed our findings.</a:t>
            </a:r>
          </a:p>
          <a:p>
            <a:endParaRPr/>
          </a:p>
          <a:p>
            <a:r>
              <a:t>SOLUTION: A prototype with two applications on one shared backend: a Flutter mobile app where parents apply, upload documents and proof of payment, and track status; and an ASP.NET web app where the Financial Clerk verifies payment and the Administrator reviews and decides. The shared backend is Supabase. Today we cover four things: the architecture, use cases and sequence diagrams, the database design and the interface design, followed by our project-management evidence.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[2:00] Walk the diagram top to bottom.</a:t>
            </a:r>
          </a:p>
          <a:p>
            <a:r>
              <a:t>Top: three user types. The parent uses the Flutter app. The Administrator and Financial Clerk use the ASP.NET app.</a:t>
            </a:r>
          </a:p>
          <a:p>
            <a:r>
              <a:t>Middle: the two applications. They never talk to each other directly.</a:t>
            </a:r>
          </a:p>
          <a:p>
            <a:r>
              <a:t>Bottom: one shared Supabase backend with three services: Authentication (sign-in, roles, sessions), Database (applications, learners, payments, status) and Storage (documents, proofs of payment, confirmation letters).</a:t>
            </a:r>
          </a:p>
          <a:p>
            <a:r>
              <a:t>Why this shape: both apps read and write the same backend, so an application submitted on Flutter is visible to staff on ASP.NET, and a status change by staff shows up for the parent (IR1-IR3). The apps stay loosely coupled.</a:t>
            </a:r>
          </a:p>
          <a:p>
            <a:endParaRPr/>
          </a:p>
          <a:p>
            <a:r>
              <a:t>WHAT HTTPS MEANS IN OUR SYSTEM (lecturer requirement). Point to the blue arrows:</a:t>
            </a:r>
          </a:p>
          <a:p>
            <a:r>
              <a:t>HTTPS is ordinary HTTP, the way apps request and send data, but sent through an encrypted TLS connection. So every blue arrow is an encrypted request and response between an app and Supabase.</a:t>
            </a:r>
          </a:p>
          <a:p>
            <a:r>
              <a:t>- Flutter to Supabase (left pair of arrows): the parent's sign-in, application data, learner details, supporting documents and proof of payment go UP to Supabase. Back DOWN to Flutter come the application status, payment-verification status, notifications and messages.</a:t>
            </a:r>
          </a:p>
          <a:p>
            <a:r>
              <a:t>- ASP.NET to Supabase (right pair of arrows): staff sign-in, payment-verification results, approve/reject decisions, notes, messages, reminders and confirmation-letter data go UP. Submitted applications, documents, proofs of payment and the running count come DOWN for review.</a:t>
            </a:r>
          </a:p>
          <a:p>
            <a:r>
              <a:t>- There is no arrow between Flutter and ASP.NET. The two apps only ever exchange data through Supabase.</a:t>
            </a:r>
          </a:p>
          <a:p>
            <a:r>
              <a:t>Why it matters: parents upload birth certificates and payment proofs, often on mobile data or shared Wi-Fi. HTTPS means nobody on the network can read or alter that data in transit, and the certificate proves the app is talking to the real Supabase (NFR2).</a:t>
            </a:r>
          </a:p>
          <a:p>
            <a:r>
              <a:t>If asked for the technical definition: the server presents a certificate, the app checks it, both sides agree a secret key, and everything after is encrypted with it.</a:t>
            </a:r>
          </a:p>
          <a:p>
            <a:r>
              <a:t>Honest limit: HTTPS only protects data while it travels. Who may read it once it arrives is controlled by Supabase Authentication, Row Level Security and role-based access (NFR1, NFR6).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 Three roles, two applications. Parent: Flutter. Financial Clerk and Administrator: ASP.NET, each with their own dashboard. The clerk only sees payment information and cannot approve or reject applications. The Administrator is the only role that can approve, reject or request corrections (NFR6). This mirrors the two staff roles the school described in the interview. Keep it brisk.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Parent/Guardian use cases: register, sign in, submit an application, and track application and payment status. Submitting an application &lt;&lt;include&gt;&gt;s three things: viewing the payment information (the R200 fee and bank details, FR15), uploading the supporting documents, and uploading proof of payment. &lt;&lt;include&gt;&gt; means they are always part of submitting, not optional.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Staff use cases on one ASP.NET app. The Financial Clerk signs in and verifies proof of payment. The Administrator views applications, approves or rejects, requests corrections, leaves notes, sends reminders and views the application count. Two relationships: Approve/Reject &lt;&lt;include&gt;&gt;s Generate Confirmation Letter, because the parent always receives a formal record of the outcome. Message Parent &lt;&lt;extend&gt;&gt;s Request Corrections, because we only message the parent when a correction is actually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 Three sequence diagrams: left, the parent submits an application; middle, the Administrator approves, rejects or requests corrections; right, the Financial Clerk verifies proof of payment.</a:t>
            </a:r>
          </a:p>
          <a:p>
            <a:r>
              <a:t>Key message on every diagram: the apps never call each other. The parent app writes to Supabase; staff apps read from Supabase and write the decision back; the parent sees the update through Supabase. Every call between an app and Supabase is over HTTPS.</a:t>
            </a:r>
          </a:p>
          <a:p>
            <a:r>
              <a:t>In the third diagram the clerk compares the parent's proof of payment with the school's own payment records using the payment reference the parent entered. Payment is never processed online; the system only verifies proof.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 Eleven tables. Core logic: an application must have at least one document and one payment record. A learner can have several applications over time. A new payment row is inserted for each re-upload, so the full history of payment attempts is kept after a rejection. profiles.id matches the Supabase auth user id and stores the role.</a:t>
            </a:r>
          </a:p>
          <a:p>
            <a:r>
              <a:t>Deliberate design choices to mention: confirmation letters and school payment records store the learner's name and ID as text, so a letter stays as issued even if the profile is edited later. No cascading deletes on payments, letters or status history, so financial and audit history cannot disappear silently. The per-document verification columns exist but are not used yet, because this phase only verifies proof of payment.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AEC99-9134-7BBE-5DFD-DFAD17642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5C09B-123F-1F59-DEF0-544F6E152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ACBB8-E81C-83B6-0131-9E40A8D45495}"/>
              </a:ext>
            </a:extLst>
          </p:cNvPr>
          <p:cNvSpPr>
            <a:spLocks noGrp="1"/>
          </p:cNvSpPr>
          <p:nvPr>
            <p:ph type="body" idx="1"/>
          </p:nvPr>
        </p:nvSpPr>
        <p:spPr/>
        <p:txBody>
          <a:bodyPr/>
          <a:lstStyle/>
          <a:p>
            <a:r>
              <a:t>[0:20] Full ERD for reference. Point out the central APPLICATIONS table with learners, documents, payments, notes, status history and notifications around it. If a panel member asks about a specific table, come back to the previous slide.</a:t>
            </a:r>
          </a:p>
        </p:txBody>
      </p:sp>
      <p:sp>
        <p:nvSpPr>
          <p:cNvPr id="4" name="Slide Number Placeholder 3">
            <a:extLst>
              <a:ext uri="{FF2B5EF4-FFF2-40B4-BE49-F238E27FC236}">
                <a16:creationId xmlns:a16="http://schemas.microsoft.com/office/drawing/2014/main" id="{8ECA710F-4028-A2E0-75DC-80D045E7224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707482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 Left: the parent journey from Register to Notifications and Help. Right: the Administrator and Financial Clerk flows. Every screen maps back to a requirement; the chips on the right show the mapping (for example Payment Information is FR15, Proof of Payment is FR4). The staff login uses one page with a role selector, and each role lands on its own dashboard.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81812-E999-3623-6FD7-3B6233CEB9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B11993-4DAD-AEA8-E811-2C0612DA4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B2EA8-D6BC-5378-6917-AEEAF99406E6}"/>
              </a:ext>
            </a:extLst>
          </p:cNvPr>
          <p:cNvSpPr>
            <a:spLocks noGrp="1"/>
          </p:cNvSpPr>
          <p:nvPr>
            <p:ph type="body" idx="1"/>
          </p:nvPr>
        </p:nvSpPr>
        <p:spPr/>
        <p:txBody>
          <a:bodyPr/>
          <a:lstStyle/>
          <a:p>
            <a:r>
              <a:t>[0:45] Low-fidelity Flutter wireframes in the school's colours: the secretary chose brown and white on 14 September. Note the six-step form (learner, academic, medical, guardian, payment, proof), and the Payment Information screen that shows the R200 fee and the school's banking details and captures the payment reference. The full interactive version is in Figma via the link on the slide.</a:t>
            </a:r>
          </a:p>
        </p:txBody>
      </p:sp>
      <p:sp>
        <p:nvSpPr>
          <p:cNvPr id="4" name="Slide Number Placeholder 3">
            <a:extLst>
              <a:ext uri="{FF2B5EF4-FFF2-40B4-BE49-F238E27FC236}">
                <a16:creationId xmlns:a16="http://schemas.microsoft.com/office/drawing/2014/main" id="{0F8EA4DA-C0E3-AD3E-F3C6-C74CC73823E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08412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 ASP.NET screens for both staff roles. Administrator: dashboard with the running application count, filtered lists, application review with approve / request corrections / reject, notes, messages, reminders and confirmation letter preview. Financial Clerk: dashboard, payment verification next to the proof of payment, and verified payments. These are wireframes, not the finished build.</a:t>
            </a:r>
          </a:p>
        </p:txBody>
      </p:sp>
      <p:sp>
        <p:nvSpPr>
          <p:cNvPr id="4" name="Slide Number Placeholder 3"/>
          <p:cNvSpPr>
            <a:spLocks noGrp="1"/>
          </p:cNvSpPr>
          <p:nvPr>
            <p:ph type="sldNum" sz="quarter" idx="10"/>
          </p:nvPr>
        </p:nvSpPr>
        <p:spPr/>
        <p:txBody>
          <a:bodyPr/>
          <a:lstStyle/>
          <a:p>
            <a:fld id="{A1B2C3D4-1387-4CA6-816F-3879F97B5C99}" type="slidenum">
              <a:rPr lang="en-US"/>
              <a:t>12</a:t>
            </a:fld>
            <a:endParaRPr lang="en-US"/>
          </a:p>
        </p:txBody>
      </p:sp>
    </p:spTree>
    <p:extLst>
      <p:ext uri="{BB962C8B-B14F-4D97-AF65-F5344CB8AC3E}">
        <p14:creationId xmlns:p14="http://schemas.microsoft.com/office/powerpoint/2010/main" val="1818432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 Every design has an editable source: Software Ideas Modeler files in the ZIP, dbdiagram.io for the ERD, Figma for wireframes, GitHub for the repository. The SRS contains an alignment table linking each requirement to its use case, sequence diagram, ERD tables and screens. One disclosure: the architecture diagram colours were adjusted for print clarity; the source file keeps the original colours.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The Microsoft Project file shows Phase 2 tasks, dependencies, responsibilities and the Phase 2 milestone. The editable .mpp file is submitted with the SRS.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The repository is private and all six members have access (it was public at first; we identified that as a risk in the feasibility study and corrected it). No passwords, API keys or confidential stakeholder details are committed.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 The Progress Tracker is a separate Excel workbook with task progress, individual contributions, challenges and the group reflection.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 To close: architecture, database and interface design are complete and aligned across all 15 functional requirements. The schema is implemented in Supabase. Next step is the high-fidelity interactive prototype and then the build. Return to the problem: our design means a parent can apply, upload documents and track status without repeated trips, and staff can process applications without paper.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www.figma.com/design/afkx2OMta474iXNnlscqO5/Flutter-and-ASP.NET-interfaces?t=oVbnTCBoJvalux20-1"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hyperlink" Target="https://dbdiagram.io/d/ERD-6ab5c1300f25a52d0100e2b7"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github.com/Katleho-19/WIL-Project-2026" TargetMode="External"/><Relationship Id="rId4" Type="http://schemas.openxmlformats.org/officeDocument/2006/relationships/hyperlink" Target="https://www.figma.com/design/afkx2OMta474iXNnlscqO5/Flutter-and-ASP.NET-interfaces?t=oVbnTCBoJvalux20-1"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E24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E2417"/>
          </a:solidFill>
          <a:ln/>
        </p:spPr>
        <p:txBody>
          <a:bodyPr/>
          <a:lstStyle/>
          <a:p>
            <a:endParaRPr lang="en-ZA"/>
          </a:p>
        </p:txBody>
      </p:sp>
      <p:sp>
        <p:nvSpPr>
          <p:cNvPr id="3" name="Shape 1"/>
          <p:cNvSpPr/>
          <p:nvPr/>
        </p:nvSpPr>
        <p:spPr>
          <a:xfrm>
            <a:off x="8778240" y="-2011680"/>
            <a:ext cx="5486400" cy="5486400"/>
          </a:xfrm>
          <a:prstGeom prst="ellipse">
            <a:avLst/>
          </a:prstGeom>
          <a:solidFill>
            <a:srgbClr val="6B4226"/>
          </a:solidFill>
          <a:ln/>
        </p:spPr>
        <p:txBody>
          <a:bodyPr/>
          <a:lstStyle/>
          <a:p>
            <a:endParaRPr lang="en-ZA"/>
          </a:p>
        </p:txBody>
      </p:sp>
      <p:sp>
        <p:nvSpPr>
          <p:cNvPr id="4" name="Shape 2"/>
          <p:cNvSpPr/>
          <p:nvPr/>
        </p:nvSpPr>
        <p:spPr>
          <a:xfrm>
            <a:off x="10424160" y="4389120"/>
            <a:ext cx="3108960" cy="3108960"/>
          </a:xfrm>
          <a:prstGeom prst="ellipse">
            <a:avLst/>
          </a:prstGeom>
          <a:solidFill>
            <a:srgbClr val="C99A3D"/>
          </a:solidFill>
          <a:ln/>
        </p:spPr>
        <p:txBody>
          <a:bodyPr/>
          <a:lstStyle/>
          <a:p>
            <a:endParaRPr lang="en-ZA"/>
          </a:p>
        </p:txBody>
      </p:sp>
      <p:sp>
        <p:nvSpPr>
          <p:cNvPr id="5" name="Text 3"/>
          <p:cNvSpPr txBox="1"/>
          <p:nvPr/>
        </p:nvSpPr>
        <p:spPr>
          <a:xfrm>
            <a:off x="822960" y="1371600"/>
            <a:ext cx="7315200" cy="365760"/>
          </a:xfrm>
          <a:prstGeom prst="rect">
            <a:avLst/>
          </a:prstGeom>
          <a:noFill/>
          <a:ln/>
        </p:spPr>
        <p:txBody>
          <a:bodyPr wrap="square" lIns="0" tIns="0" rIns="0" bIns="0" rtlCol="0" anchor="ctr"/>
          <a:lstStyle/>
          <a:p>
            <a:pPr marL="0" indent="0">
              <a:buNone/>
            </a:pPr>
            <a:r>
              <a:rPr lang="en-US" sz="1300" b="1" kern="0" spc="200" dirty="0">
                <a:solidFill>
                  <a:srgbClr val="C99A3D"/>
                </a:solidFill>
                <a:latin typeface="Calibri" pitchFamily="34" charset="0"/>
                <a:ea typeface="Calibri" pitchFamily="34" charset="-122"/>
                <a:cs typeface="Calibri" pitchFamily="34" charset="-120"/>
              </a:rPr>
              <a:t>ITC327W  ·  UNIT 3  ·  CTRL+ALT+DEFEAT</a:t>
            </a:r>
            <a:endParaRPr lang="en-US" sz="1300" dirty="0"/>
          </a:p>
        </p:txBody>
      </p:sp>
      <p:sp>
        <p:nvSpPr>
          <p:cNvPr id="6" name="Text 4"/>
          <p:cNvSpPr txBox="1"/>
          <p:nvPr/>
        </p:nvSpPr>
        <p:spPr>
          <a:xfrm>
            <a:off x="777240" y="1874520"/>
            <a:ext cx="9601200" cy="1920240"/>
          </a:xfrm>
          <a:prstGeom prst="rect">
            <a:avLst/>
          </a:prstGeom>
          <a:noFill/>
          <a:ln/>
        </p:spPr>
        <p:txBody>
          <a:bodyPr wrap="square" lIns="0" tIns="0" rIns="0" bIns="0" rtlCol="0" anchor="ctr"/>
          <a:lstStyle/>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Phase 2: System Architecture</a:t>
            </a:r>
            <a:endParaRPr lang="en-US" sz="4600" dirty="0"/>
          </a:p>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&amp; Design</a:t>
            </a:r>
            <a:endParaRPr lang="en-US" sz="4600" dirty="0"/>
          </a:p>
        </p:txBody>
      </p:sp>
      <p:sp>
        <p:nvSpPr>
          <p:cNvPr id="7" name="Text 5"/>
          <p:cNvSpPr txBox="1"/>
          <p:nvPr/>
        </p:nvSpPr>
        <p:spPr>
          <a:xfrm>
            <a:off x="822960" y="3794760"/>
            <a:ext cx="8686800" cy="457200"/>
          </a:xfrm>
          <a:prstGeom prst="rect">
            <a:avLst/>
          </a:prstGeom>
          <a:noFill/>
          <a:ln/>
        </p:spPr>
        <p:txBody>
          <a:bodyPr wrap="square" lIns="0" tIns="0" rIns="0" bIns="0" rtlCol="0" anchor="ctr"/>
          <a:lstStyle/>
          <a:p>
            <a:pPr marL="0" indent="0">
              <a:buNone/>
            </a:pPr>
            <a:r>
              <a:rPr lang="en-US" sz="1800" dirty="0">
                <a:solidFill>
                  <a:srgbClr val="E7DCCF"/>
                </a:solidFill>
                <a:latin typeface="Calibri" pitchFamily="34" charset="0"/>
                <a:ea typeface="Calibri" pitchFamily="34" charset="-122"/>
                <a:cs typeface="Calibri" pitchFamily="34" charset="-120"/>
              </a:rPr>
              <a:t>Phehello Secondary School — Online Enrolment System</a:t>
            </a:r>
            <a:endParaRPr lang="en-US" sz="1800" dirty="0"/>
          </a:p>
        </p:txBody>
      </p:sp>
      <p:sp>
        <p:nvSpPr>
          <p:cNvPr id="8" name="Shape 6"/>
          <p:cNvSpPr/>
          <p:nvPr/>
        </p:nvSpPr>
        <p:spPr>
          <a:xfrm>
            <a:off x="822960" y="4434840"/>
            <a:ext cx="2743200" cy="0"/>
          </a:xfrm>
          <a:prstGeom prst="line">
            <a:avLst/>
          </a:prstGeom>
          <a:noFill/>
          <a:ln w="25400">
            <a:solidFill>
              <a:srgbClr val="C99A3D"/>
            </a:solidFill>
            <a:prstDash val="solid"/>
          </a:ln>
        </p:spPr>
        <p:txBody>
          <a:bodyPr/>
          <a:lstStyle/>
          <a:p>
            <a:endParaRPr lang="en-ZA"/>
          </a:p>
        </p:txBody>
      </p:sp>
      <p:sp>
        <p:nvSpPr>
          <p:cNvPr id="9" name="Text 7"/>
          <p:cNvSpPr txBox="1"/>
          <p:nvPr/>
        </p:nvSpPr>
        <p:spPr>
          <a:xfrm>
            <a:off x="822960" y="4617720"/>
            <a:ext cx="7863840" cy="731520"/>
          </a:xfrm>
          <a:prstGeom prst="rect">
            <a:avLst/>
          </a:prstGeom>
          <a:noFill/>
          <a:ln/>
        </p:spPr>
        <p:txBody>
          <a:bodyPr wrap="square" lIns="0" tIns="0" rIns="0" bIns="0" rtlCol="0" anchor="ctr"/>
          <a:lstStyle/>
          <a:p>
            <a:pPr marL="0" indent="0">
              <a:lnSpc>
                <a:spcPts val="1800"/>
              </a:lnSpc>
              <a:buNone/>
            </a:pPr>
            <a:r>
              <a:rPr lang="en-US" sz="1300" i="1" dirty="0">
                <a:solidFill>
                  <a:srgbClr val="C9B8A6"/>
                </a:solidFill>
                <a:latin typeface="Calibri" pitchFamily="34" charset="0"/>
                <a:ea typeface="Calibri" pitchFamily="34" charset="-122"/>
                <a:cs typeface="Calibri" pitchFamily="34" charset="-120"/>
              </a:rPr>
              <a:t>Building on the confirmed requirements and refined scope from Phase 1, this phase presents the architecture, database and interface design for the prototype.</a:t>
            </a:r>
            <a:endParaRPr lang="en-US" sz="1300" dirty="0"/>
          </a:p>
        </p:txBody>
      </p:sp>
      <p:sp>
        <p:nvSpPr>
          <p:cNvPr id="10" name="Text 8"/>
          <p:cNvSpPr txBox="1"/>
          <p:nvPr/>
        </p:nvSpPr>
        <p:spPr>
          <a:xfrm>
            <a:off x="822960" y="6172200"/>
            <a:ext cx="7315200" cy="320040"/>
          </a:xfrm>
          <a:prstGeom prst="rect">
            <a:avLst/>
          </a:prstGeom>
          <a:noFill/>
          <a:ln/>
        </p:spPr>
        <p:txBody>
          <a:bodyPr wrap="square" lIns="0" tIns="0" rIns="0" bIns="0" rtlCol="0" anchor="ctr"/>
          <a:lstStyle/>
          <a:p>
            <a:pPr marL="0" indent="0">
              <a:buNone/>
            </a:pPr>
            <a:r>
              <a:rPr lang="en-US" sz="1100" dirty="0">
                <a:solidFill>
                  <a:srgbClr val="9C7A5B"/>
                </a:solidFill>
                <a:latin typeface="Calibri" pitchFamily="34" charset="0"/>
                <a:ea typeface="Calibri" pitchFamily="34" charset="-122"/>
                <a:cs typeface="Calibri" pitchFamily="34" charset="-120"/>
              </a:rPr>
              <a:t>Makhoali · Lebusa · Mahlatsi · Lepitla · Motaung · Adegbola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Label 2"/>
          <p:cNvSpPr txBox="1"/>
          <p:nvPr/>
        </p:nvSpPr>
        <p:spPr>
          <a:xfrm>
            <a:off x="548640" y="365760"/>
            <a:ext cx="9144000" cy="320040"/>
          </a:xfrm>
          <a:prstGeom prst="rect">
            <a:avLst/>
          </a:prstGeom>
          <a:noFill/>
          <a:ln/>
        </p:spPr>
        <p:txBody>
          <a:bodyPr wrap="square" lIns="0" tIns="0" rIns="0" bIns="0" rtlCol="0" anchor="ctr"/>
          <a:lstStyle/>
          <a:p>
            <a:pPr marL="0" indent="0" algn="l">
              <a:buNone/>
            </a:pPr>
            <a:r>
              <a:rPr lang="en-US" sz="1200" b="1" kern="0" spc="200" dirty="0">
                <a:solidFill>
                  <a:srgbClr val="C99A3D"/>
                </a:solidFill>
                <a:latin typeface="Calibri" pitchFamily="34" charset="0"/>
                <a:ea typeface="Calibri" pitchFamily="34" charset="-122"/>
                <a:cs typeface="Calibri" pitchFamily="34" charset="-120"/>
              </a:rPr>
              <a:t>PROJECT INTRODUCTION</a:t>
            </a:r>
          </a:p>
        </p:txBody>
      </p:sp>
      <p:sp>
        <p:nvSpPr>
          <p:cNvPr id="3" name="Title 3"/>
          <p:cNvSpPr txBox="1"/>
          <p:nvPr/>
        </p:nvSpPr>
        <p:spPr>
          <a:xfrm>
            <a:off x="548640" y="658368"/>
            <a:ext cx="11064240" cy="685800"/>
          </a:xfrm>
          <a:prstGeom prst="rect">
            <a:avLst/>
          </a:prstGeom>
          <a:noFill/>
          <a:ln/>
        </p:spPr>
        <p:txBody>
          <a:bodyPr wrap="square" lIns="0" tIns="0" rIns="0" bIns="0" rtlCol="0" anchor="ctr"/>
          <a:lstStyle/>
          <a:p>
            <a:pPr marL="0" indent="0" algn="l">
              <a:buNone/>
            </a:pPr>
            <a:r>
              <a:rPr lang="en-US" sz="3000" b="1" dirty="0">
                <a:solidFill>
                  <a:srgbClr val="3E2417"/>
                </a:solidFill>
                <a:latin typeface="Cambria" pitchFamily="34" charset="0"/>
                <a:ea typeface="Cambria" pitchFamily="34" charset="-122"/>
                <a:cs typeface="Cambria" pitchFamily="34" charset="-120"/>
              </a:rPr>
              <a:t>The problem, the stakeholder and our solution</a:t>
            </a:r>
          </a:p>
        </p:txBody>
      </p:sp>
      <p:sp>
        <p:nvSpPr>
          <p:cNvPr id="4" name="Intro 4"/>
          <p:cNvSpPr txBox="1"/>
          <p:nvPr/>
        </p:nvSpPr>
        <p:spPr>
          <a:xfrm>
            <a:off x="548640" y="1450000"/>
            <a:ext cx="11064240" cy="380000"/>
          </a:xfrm>
          <a:prstGeom prst="rect">
            <a:avLst/>
          </a:prstGeom>
          <a:noFill/>
          <a:ln/>
        </p:spPr>
        <p:txBody>
          <a:bodyPr wrap="square" lIns="0" tIns="0" rIns="0" bIns="0" rtlCol="0" anchor="ctr"/>
          <a:lstStyle/>
          <a:p>
            <a:pPr marL="0" indent="0" algn="l">
              <a:buNone/>
            </a:pPr>
            <a:r>
              <a:rPr lang="en-US" sz="1400" dirty="0">
                <a:solidFill>
                  <a:srgbClr val="7A6A5C"/>
                </a:solidFill>
                <a:latin typeface="Calibri" pitchFamily="34" charset="0"/>
                <a:ea typeface="Calibri" pitchFamily="34" charset="-122"/>
                <a:cs typeface="Calibri" pitchFamily="34" charset="-120"/>
              </a:rPr>
              <a:t>Phehello Secondary School — Online Enrolment System</a:t>
            </a:r>
          </a:p>
        </p:txBody>
      </p:sp>
      <p:sp>
        <p:nvSpPr>
          <p:cNvPr id="5" name="Card 5"/>
          <p:cNvSpPr/>
          <p:nvPr/>
        </p:nvSpPr>
        <p:spPr>
          <a:xfrm>
            <a:off x="548640" y="2050000"/>
            <a:ext cx="3514344" cy="4000000"/>
          </a:xfrm>
          <a:prstGeom prst="roundRect">
            <a:avLst>
              <a:gd name="adj" fmla="val 2500"/>
            </a:avLst>
          </a:prstGeom>
          <a:solidFill>
            <a:srgbClr val="FAF8F6"/>
          </a:solidFill>
          <a:ln w="12700">
            <a:solidFill>
              <a:srgbClr val="E7DCCF"/>
            </a:solidFill>
            <a:prstDash val="solid"/>
          </a:ln>
        </p:spPr>
        <p:txBody>
          <a:bodyPr wrap="square" lIns="0" tIns="0" rIns="0" bIns="0" rtlCol="0" anchor="ctr"/>
          <a:lstStyle/>
          <a:p>
            <a:endParaRPr lang="en-ZA"/>
          </a:p>
        </p:txBody>
      </p:sp>
      <p:sp>
        <p:nvSpPr>
          <p:cNvPr id="6" name="Badge 6"/>
          <p:cNvSpPr/>
          <p:nvPr/>
        </p:nvSpPr>
        <p:spPr>
          <a:xfrm>
            <a:off x="777240" y="2278600"/>
            <a:ext cx="502920" cy="502920"/>
          </a:xfrm>
          <a:prstGeom prst="ellipse">
            <a:avLst/>
          </a:prstGeom>
          <a:solidFill>
            <a:srgbClr val="3E2417"/>
          </a:solidFill>
          <a:ln>
            <a:noFill/>
          </a:ln>
        </p:spPr>
        <p:txBody>
          <a:bodyPr wrap="square" lIns="0" tIns="0" rIns="0" bIns="0" rtlCol="0" anchor="ctr"/>
          <a:lstStyle/>
          <a:p>
            <a:pPr marL="0" indent="0" algn="ctr">
              <a:buNone/>
            </a:pPr>
            <a:r>
              <a:rPr lang="en-US" sz="1500" b="1" dirty="0">
                <a:solidFill>
                  <a:srgbClr val="C99A3D"/>
                </a:solidFill>
                <a:latin typeface="Cambria" pitchFamily="34" charset="0"/>
                <a:ea typeface="Cambria" pitchFamily="34" charset="-122"/>
                <a:cs typeface="Cambria" pitchFamily="34" charset="-120"/>
              </a:rPr>
              <a:t>01</a:t>
            </a:r>
          </a:p>
        </p:txBody>
      </p:sp>
      <p:sp>
        <p:nvSpPr>
          <p:cNvPr id="7" name="Heading 7"/>
          <p:cNvSpPr txBox="1"/>
          <p:nvPr/>
        </p:nvSpPr>
        <p:spPr>
          <a:xfrm>
            <a:off x="777240" y="2910000"/>
            <a:ext cx="3057144" cy="400000"/>
          </a:xfrm>
          <a:prstGeom prst="rect">
            <a:avLst/>
          </a:prstGeom>
          <a:noFill/>
          <a:ln/>
        </p:spPr>
        <p:txBody>
          <a:bodyPr wrap="square" lIns="0" tIns="0" rIns="0" bIns="0" rtlCol="0" anchor="ctr"/>
          <a:lstStyle/>
          <a:p>
            <a:pPr marL="0" indent="0" algn="l">
              <a:buNone/>
            </a:pPr>
            <a:r>
              <a:rPr lang="en-US" sz="2200" b="1" dirty="0">
                <a:solidFill>
                  <a:srgbClr val="3E2417"/>
                </a:solidFill>
                <a:latin typeface="Cambria" pitchFamily="34" charset="0"/>
                <a:ea typeface="Cambria" pitchFamily="34" charset="-122"/>
                <a:cs typeface="Cambria" pitchFamily="34" charset="-120"/>
              </a:rPr>
              <a:t>The problem</a:t>
            </a:r>
          </a:p>
        </p:txBody>
      </p:sp>
      <p:sp>
        <p:nvSpPr>
          <p:cNvPr id="8" name="Body 8"/>
          <p:cNvSpPr txBox="1"/>
          <p:nvPr/>
        </p:nvSpPr>
        <p:spPr>
          <a:xfrm>
            <a:off x="777240" y="3430000"/>
            <a:ext cx="3057144" cy="2420000"/>
          </a:xfrm>
          <a:prstGeom prst="rect">
            <a:avLst/>
          </a:prstGeom>
          <a:noFill/>
          <a:ln/>
        </p:spPr>
        <p:txBody>
          <a:bodyPr wrap="square" lIns="0" tIns="0" rIns="0" bIns="0" rtlCol="0" anchor="t"/>
          <a:lstStyle/>
          <a:p>
            <a:pPr marL="0" indent="0" algn="l">
              <a:lnSpc>
                <a:spcPts val="1800"/>
              </a:lnSpc>
              <a:spcAft>
                <a:spcPts val="700"/>
              </a:spcAft>
              <a:buNone/>
            </a:pPr>
            <a:r>
              <a:rPr lang="en-US" sz="1400" b="1" dirty="0">
                <a:solidFill>
                  <a:srgbClr val="3E2417"/>
                </a:solidFill>
                <a:latin typeface="Calibri" pitchFamily="34" charset="0"/>
                <a:ea typeface="Calibri" pitchFamily="34" charset="-122"/>
                <a:cs typeface="Calibri" pitchFamily="34" charset="-120"/>
              </a:rPr>
              <a:t>Enrolment is fully manual and paper-based.</a:t>
            </a:r>
          </a:p>
          <a:p>
            <a:pPr marL="0" indent="0" algn="l">
              <a:lnSpc>
                <a:spcPts val="1800"/>
              </a:lnSpc>
              <a:spcAft>
                <a:spcPts val="700"/>
              </a:spcAft>
              <a:buNone/>
            </a:pPr>
            <a:r>
              <a:rPr lang="en-US" sz="1400" dirty="0">
                <a:solidFill>
                  <a:srgbClr val="5C4A3C"/>
                </a:solidFill>
                <a:latin typeface="Calibri" pitchFamily="34" charset="0"/>
                <a:ea typeface="Calibri" pitchFamily="34" charset="-122"/>
                <a:cs typeface="Calibri" pitchFamily="34" charset="-120"/>
              </a:rPr>
              <a:t>Parents make repeated trips when documents are wrong or incomplete. This is costly for young and working parents, some of whom travel on foot.</a:t>
            </a:r>
          </a:p>
          <a:p>
            <a:pPr marL="0" indent="0" algn="l">
              <a:lnSpc>
                <a:spcPts val="1800"/>
              </a:lnSpc>
              <a:spcAft>
                <a:spcPts val="700"/>
              </a:spcAft>
              <a:buNone/>
            </a:pPr>
            <a:r>
              <a:rPr lang="en-US" sz="1400" dirty="0">
                <a:solidFill>
                  <a:srgbClr val="5C4A3C"/>
                </a:solidFill>
                <a:latin typeface="Calibri" pitchFamily="34" charset="0"/>
                <a:ea typeface="Calibri" pitchFamily="34" charset="-122"/>
                <a:cs typeface="Calibri" pitchFamily="34" charset="-120"/>
              </a:rPr>
              <a:t>Parents cannot track their application status, and staff lose time to one-on-one handling.</a:t>
            </a:r>
          </a:p>
        </p:txBody>
      </p:sp>
      <p:sp>
        <p:nvSpPr>
          <p:cNvPr id="9" name="Card 9"/>
          <p:cNvSpPr/>
          <p:nvPr/>
        </p:nvSpPr>
        <p:spPr>
          <a:xfrm>
            <a:off x="4337304" y="2050000"/>
            <a:ext cx="3514344" cy="4000000"/>
          </a:xfrm>
          <a:prstGeom prst="roundRect">
            <a:avLst>
              <a:gd name="adj" fmla="val 2500"/>
            </a:avLst>
          </a:prstGeom>
          <a:solidFill>
            <a:srgbClr val="3E2417"/>
          </a:solidFill>
          <a:ln>
            <a:noFill/>
          </a:ln>
        </p:spPr>
        <p:txBody>
          <a:bodyPr wrap="square" lIns="0" tIns="0" rIns="0" bIns="0" rtlCol="0" anchor="ctr"/>
          <a:lstStyle/>
          <a:p>
            <a:endParaRPr lang="en-ZA"/>
          </a:p>
        </p:txBody>
      </p:sp>
      <p:sp>
        <p:nvSpPr>
          <p:cNvPr id="10" name="Badge 10"/>
          <p:cNvSpPr/>
          <p:nvPr/>
        </p:nvSpPr>
        <p:spPr>
          <a:xfrm>
            <a:off x="4565904" y="2278600"/>
            <a:ext cx="502920" cy="502920"/>
          </a:xfrm>
          <a:prstGeom prst="ellipse">
            <a:avLst/>
          </a:prstGeom>
          <a:solidFill>
            <a:srgbClr val="C99A3D"/>
          </a:solidFill>
          <a:ln>
            <a:noFill/>
          </a:ln>
        </p:spPr>
        <p:txBody>
          <a:bodyPr wrap="square" lIns="0" tIns="0" rIns="0" bIns="0" rtlCol="0" anchor="ctr"/>
          <a:lstStyle/>
          <a:p>
            <a:pPr marL="0" indent="0" algn="ctr">
              <a:buNone/>
            </a:pPr>
            <a:r>
              <a:rPr lang="en-US" sz="1500" b="1" dirty="0">
                <a:solidFill>
                  <a:srgbClr val="3E2417"/>
                </a:solidFill>
                <a:latin typeface="Cambria" pitchFamily="34" charset="0"/>
                <a:ea typeface="Cambria" pitchFamily="34" charset="-122"/>
                <a:cs typeface="Cambria" pitchFamily="34" charset="-120"/>
              </a:rPr>
              <a:t>02</a:t>
            </a:r>
          </a:p>
        </p:txBody>
      </p:sp>
      <p:sp>
        <p:nvSpPr>
          <p:cNvPr id="11" name="Heading 11"/>
          <p:cNvSpPr txBox="1"/>
          <p:nvPr/>
        </p:nvSpPr>
        <p:spPr>
          <a:xfrm>
            <a:off x="4565904" y="2910000"/>
            <a:ext cx="3057144" cy="40000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The stakeholder</a:t>
            </a:r>
          </a:p>
        </p:txBody>
      </p:sp>
      <p:sp>
        <p:nvSpPr>
          <p:cNvPr id="12" name="Body 12"/>
          <p:cNvSpPr txBox="1"/>
          <p:nvPr/>
        </p:nvSpPr>
        <p:spPr>
          <a:xfrm>
            <a:off x="4565904" y="3430000"/>
            <a:ext cx="3057144" cy="2420000"/>
          </a:xfrm>
          <a:prstGeom prst="rect">
            <a:avLst/>
          </a:prstGeom>
          <a:noFill/>
          <a:ln/>
        </p:spPr>
        <p:txBody>
          <a:bodyPr wrap="square" lIns="0" tIns="0" rIns="0" bIns="0" rtlCol="0" anchor="t"/>
          <a:lstStyle/>
          <a:p>
            <a:pPr marL="0" indent="0" algn="l">
              <a:lnSpc>
                <a:spcPts val="1800"/>
              </a:lnSpc>
              <a:spcAft>
                <a:spcPts val="700"/>
              </a:spcAft>
              <a:buNone/>
            </a:pPr>
            <a:r>
              <a:rPr lang="en-US" sz="1400" b="1" dirty="0">
                <a:solidFill>
                  <a:srgbClr val="FFFFFF"/>
                </a:solidFill>
                <a:latin typeface="Calibri" pitchFamily="34" charset="0"/>
                <a:ea typeface="Calibri" pitchFamily="34" charset="-122"/>
                <a:cs typeface="Calibri" pitchFamily="34" charset="-120"/>
              </a:rPr>
              <a:t>Phehello Secondary School, a public secondary school in Odendaalsrus.</a:t>
            </a:r>
          </a:p>
          <a:p>
            <a:pPr marL="0" indent="0" algn="l">
              <a:lnSpc>
                <a:spcPts val="1800"/>
              </a:lnSpc>
              <a:spcAft>
                <a:spcPts val="700"/>
              </a:spcAft>
              <a:buNone/>
            </a:pPr>
            <a:r>
              <a:rPr lang="en-US" sz="1400" dirty="0">
                <a:solidFill>
                  <a:srgbClr val="E7DCCF"/>
                </a:solidFill>
                <a:latin typeface="Calibri" pitchFamily="34" charset="0"/>
                <a:ea typeface="Calibri" pitchFamily="34" charset="-122"/>
                <a:cs typeface="Calibri" pitchFamily="34" charset="-120"/>
              </a:rPr>
              <a:t>Sponsor: Principal Maleshoane Gweneth Adegbola.</a:t>
            </a:r>
          </a:p>
          <a:p>
            <a:pPr marL="0" indent="0" algn="l">
              <a:lnSpc>
                <a:spcPts val="1800"/>
              </a:lnSpc>
              <a:spcAft>
                <a:spcPts val="700"/>
              </a:spcAft>
              <a:buNone/>
            </a:pPr>
            <a:r>
              <a:rPr lang="en-US" sz="1400" dirty="0">
                <a:solidFill>
                  <a:srgbClr val="E7DCCF"/>
                </a:solidFill>
                <a:latin typeface="Calibri" pitchFamily="34" charset="0"/>
                <a:ea typeface="Calibri" pitchFamily="34" charset="-122"/>
                <a:cs typeface="Calibri" pitchFamily="34" charset="-120"/>
              </a:rPr>
              <a:t>Representative: Zukiswa Khondlo, Secretary to the Principal, who confirmed the requirements at the 24 August 2026 interview.</a:t>
            </a:r>
          </a:p>
        </p:txBody>
      </p:sp>
      <p:sp>
        <p:nvSpPr>
          <p:cNvPr id="13" name="Card 13"/>
          <p:cNvSpPr/>
          <p:nvPr/>
        </p:nvSpPr>
        <p:spPr>
          <a:xfrm>
            <a:off x="8125968" y="2050000"/>
            <a:ext cx="3514344" cy="4000000"/>
          </a:xfrm>
          <a:prstGeom prst="roundRect">
            <a:avLst>
              <a:gd name="adj" fmla="val 2500"/>
            </a:avLst>
          </a:prstGeom>
          <a:solidFill>
            <a:srgbClr val="FAF8F6"/>
          </a:solidFill>
          <a:ln w="12700">
            <a:solidFill>
              <a:srgbClr val="E7DCCF"/>
            </a:solidFill>
            <a:prstDash val="solid"/>
          </a:ln>
        </p:spPr>
        <p:txBody>
          <a:bodyPr wrap="square" lIns="0" tIns="0" rIns="0" bIns="0" rtlCol="0" anchor="ctr"/>
          <a:lstStyle/>
          <a:p>
            <a:endParaRPr lang="en-ZA"/>
          </a:p>
        </p:txBody>
      </p:sp>
      <p:sp>
        <p:nvSpPr>
          <p:cNvPr id="14" name="Badge 14"/>
          <p:cNvSpPr/>
          <p:nvPr/>
        </p:nvSpPr>
        <p:spPr>
          <a:xfrm>
            <a:off x="8354568" y="2278600"/>
            <a:ext cx="502920" cy="502920"/>
          </a:xfrm>
          <a:prstGeom prst="ellipse">
            <a:avLst/>
          </a:prstGeom>
          <a:solidFill>
            <a:srgbClr val="3E2417"/>
          </a:solidFill>
          <a:ln>
            <a:noFill/>
          </a:ln>
        </p:spPr>
        <p:txBody>
          <a:bodyPr wrap="square" lIns="0" tIns="0" rIns="0" bIns="0" rtlCol="0" anchor="ctr"/>
          <a:lstStyle/>
          <a:p>
            <a:pPr marL="0" indent="0" algn="ctr">
              <a:buNone/>
            </a:pPr>
            <a:r>
              <a:rPr lang="en-US" sz="1500" b="1" dirty="0">
                <a:solidFill>
                  <a:srgbClr val="C99A3D"/>
                </a:solidFill>
                <a:latin typeface="Cambria" pitchFamily="34" charset="0"/>
                <a:ea typeface="Cambria" pitchFamily="34" charset="-122"/>
                <a:cs typeface="Cambria" pitchFamily="34" charset="-120"/>
              </a:rPr>
              <a:t>03</a:t>
            </a:r>
          </a:p>
        </p:txBody>
      </p:sp>
      <p:sp>
        <p:nvSpPr>
          <p:cNvPr id="15" name="Heading 15"/>
          <p:cNvSpPr txBox="1"/>
          <p:nvPr/>
        </p:nvSpPr>
        <p:spPr>
          <a:xfrm>
            <a:off x="8354568" y="2910000"/>
            <a:ext cx="3057144" cy="400000"/>
          </a:xfrm>
          <a:prstGeom prst="rect">
            <a:avLst/>
          </a:prstGeom>
          <a:noFill/>
          <a:ln/>
        </p:spPr>
        <p:txBody>
          <a:bodyPr wrap="square" lIns="0" tIns="0" rIns="0" bIns="0" rtlCol="0" anchor="ctr"/>
          <a:lstStyle/>
          <a:p>
            <a:pPr marL="0" indent="0" algn="l">
              <a:buNone/>
            </a:pPr>
            <a:r>
              <a:rPr lang="en-US" sz="2200" b="1" dirty="0">
                <a:solidFill>
                  <a:srgbClr val="3E2417"/>
                </a:solidFill>
                <a:latin typeface="Cambria" pitchFamily="34" charset="0"/>
                <a:ea typeface="Cambria" pitchFamily="34" charset="-122"/>
                <a:cs typeface="Cambria" pitchFamily="34" charset="-120"/>
              </a:rPr>
              <a:t>Our solution</a:t>
            </a:r>
          </a:p>
        </p:txBody>
      </p:sp>
      <p:sp>
        <p:nvSpPr>
          <p:cNvPr id="16" name="Body 16"/>
          <p:cNvSpPr txBox="1"/>
          <p:nvPr/>
        </p:nvSpPr>
        <p:spPr>
          <a:xfrm>
            <a:off x="8354568" y="3430000"/>
            <a:ext cx="3057144" cy="2420000"/>
          </a:xfrm>
          <a:prstGeom prst="rect">
            <a:avLst/>
          </a:prstGeom>
          <a:noFill/>
          <a:ln/>
        </p:spPr>
        <p:txBody>
          <a:bodyPr wrap="square" lIns="0" tIns="0" rIns="0" bIns="0" rtlCol="0" anchor="t"/>
          <a:lstStyle/>
          <a:p>
            <a:pPr marL="0" indent="0" algn="l">
              <a:lnSpc>
                <a:spcPts val="1800"/>
              </a:lnSpc>
              <a:spcAft>
                <a:spcPts val="700"/>
              </a:spcAft>
              <a:buNone/>
            </a:pPr>
            <a:r>
              <a:rPr lang="en-US" sz="1400" b="1" dirty="0">
                <a:solidFill>
                  <a:srgbClr val="3E2417"/>
                </a:solidFill>
                <a:latin typeface="Calibri" pitchFamily="34" charset="0"/>
                <a:ea typeface="Calibri" pitchFamily="34" charset="-122"/>
                <a:cs typeface="Calibri" pitchFamily="34" charset="-120"/>
              </a:rPr>
              <a:t>One integrated system on a shared Supabase backend.</a:t>
            </a:r>
          </a:p>
          <a:p>
            <a:pPr marL="0" indent="0" algn="l">
              <a:lnSpc>
                <a:spcPts val="1800"/>
              </a:lnSpc>
              <a:spcAft>
                <a:spcPts val="700"/>
              </a:spcAft>
              <a:buNone/>
            </a:pPr>
            <a:r>
              <a:rPr lang="en-US" sz="1400" dirty="0">
                <a:solidFill>
                  <a:srgbClr val="5C4A3C"/>
                </a:solidFill>
                <a:latin typeface="Calibri" pitchFamily="34" charset="0"/>
                <a:ea typeface="Calibri" pitchFamily="34" charset="-122"/>
                <a:cs typeface="Calibri" pitchFamily="34" charset="-120"/>
              </a:rPr>
              <a:t>Flutter mobile app: parents apply, upload documents and proof of payment, and track status.</a:t>
            </a:r>
          </a:p>
          <a:p>
            <a:pPr marL="0" indent="0" algn="l">
              <a:lnSpc>
                <a:spcPts val="1800"/>
              </a:lnSpc>
              <a:spcAft>
                <a:spcPts val="700"/>
              </a:spcAft>
              <a:buNone/>
            </a:pPr>
            <a:r>
              <a:rPr lang="en-US" sz="1400" dirty="0">
                <a:solidFill>
                  <a:srgbClr val="5C4A3C"/>
                </a:solidFill>
                <a:latin typeface="Calibri" pitchFamily="34" charset="0"/>
                <a:ea typeface="Calibri" pitchFamily="34" charset="-122"/>
                <a:cs typeface="Calibri" pitchFamily="34" charset="-120"/>
              </a:rPr>
              <a:t>ASP.NET web app: the Financial Clerk verifies payment; the Administrator reviews and decides.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System Architecture Design</a:t>
            </a:r>
            <a:endParaRPr lang="en-US" sz="3000" dirty="0"/>
          </a:p>
        </p:txBody>
      </p:sp>
      <p:sp>
        <p:nvSpPr>
          <p:cNvPr id="20" name="Text 18"/>
          <p:cNvSpPr txBox="1"/>
          <p:nvPr/>
        </p:nvSpPr>
        <p:spPr>
          <a:xfrm>
            <a:off x="777240" y="5029200"/>
            <a:ext cx="21031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Authentication</a:t>
            </a:r>
            <a:endParaRPr lang="en-US" sz="1150" dirty="0"/>
          </a:p>
        </p:txBody>
      </p:sp>
      <p:sp>
        <p:nvSpPr>
          <p:cNvPr id="22" name="Text 20"/>
          <p:cNvSpPr txBox="1"/>
          <p:nvPr/>
        </p:nvSpPr>
        <p:spPr>
          <a:xfrm>
            <a:off x="3063240" y="5029200"/>
            <a:ext cx="21031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Database</a:t>
            </a:r>
            <a:endParaRPr lang="en-US" sz="1150" dirty="0"/>
          </a:p>
        </p:txBody>
      </p:sp>
      <p:sp>
        <p:nvSpPr>
          <p:cNvPr id="24" name="Text 22"/>
          <p:cNvSpPr txBox="1"/>
          <p:nvPr/>
        </p:nvSpPr>
        <p:spPr>
          <a:xfrm>
            <a:off x="5349240" y="5029200"/>
            <a:ext cx="21031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Storage</a:t>
            </a:r>
            <a:endParaRPr lang="en-US" sz="1150" dirty="0"/>
          </a:p>
        </p:txBody>
      </p:sp>
      <p:sp>
        <p:nvSpPr>
          <p:cNvPr id="26" name="Shape 24"/>
          <p:cNvSpPr/>
          <p:nvPr/>
        </p:nvSpPr>
        <p:spPr>
          <a:xfrm>
            <a:off x="7772400" y="1783080"/>
            <a:ext cx="3886200" cy="4526280"/>
          </a:xfrm>
          <a:prstGeom prst="roundRect">
            <a:avLst>
              <a:gd name="adj" fmla="val 1882"/>
            </a:avLst>
          </a:prstGeom>
          <a:solidFill>
            <a:srgbClr val="FAF8F6"/>
          </a:solidFill>
          <a:ln w="12700">
            <a:solidFill>
              <a:srgbClr val="E7DCCF"/>
            </a:solidFill>
            <a:prstDash val="solid"/>
          </a:ln>
        </p:spPr>
        <p:txBody>
          <a:bodyPr/>
          <a:lstStyle/>
          <a:p>
            <a:endParaRPr lang="en-ZA"/>
          </a:p>
        </p:txBody>
      </p:sp>
      <p:sp>
        <p:nvSpPr>
          <p:cNvPr id="27" name="Text 25"/>
          <p:cNvSpPr txBox="1"/>
          <p:nvPr/>
        </p:nvSpPr>
        <p:spPr>
          <a:xfrm>
            <a:off x="8001000" y="1965960"/>
            <a:ext cx="3474720" cy="320040"/>
          </a:xfrm>
          <a:prstGeom prst="rect">
            <a:avLst/>
          </a:prstGeom>
          <a:noFill/>
          <a:ln/>
        </p:spPr>
        <p:txBody>
          <a:bodyPr wrap="square" lIns="0" tIns="0" rIns="0" bIns="0" rtlCol="0" anchor="ctr"/>
          <a:lstStyle/>
          <a:p>
            <a:pPr marL="0" indent="0">
              <a:buNone/>
            </a:pPr>
            <a:r>
              <a:rPr lang="en-US" sz="1350" b="1" dirty="0">
                <a:solidFill>
                  <a:srgbClr val="3E2417"/>
                </a:solidFill>
                <a:latin typeface="Cambria" pitchFamily="34" charset="0"/>
                <a:ea typeface="Cambria" pitchFamily="34" charset="-122"/>
                <a:cs typeface="Cambria" pitchFamily="34" charset="-120"/>
              </a:rPr>
              <a:t>Why this shape</a:t>
            </a:r>
            <a:endParaRPr lang="en-US" sz="1350" dirty="0"/>
          </a:p>
        </p:txBody>
      </p:sp>
      <p:sp>
        <p:nvSpPr>
          <p:cNvPr id="60" name="Text 60"/>
          <p:cNvSpPr txBox="1"/>
          <p:nvPr/>
        </p:nvSpPr>
        <p:spPr>
          <a:xfrm>
            <a:off x="8001000" y="2330000"/>
            <a:ext cx="3474720" cy="1050000"/>
          </a:xfrm>
          <a:prstGeom prst="rect">
            <a:avLst/>
          </a:prstGeom>
          <a:noFill/>
          <a:ln/>
        </p:spPr>
        <p:txBody>
          <a:bodyPr wrap="square" lIns="0" tIns="0" rIns="0" bIns="0" rtlCol="0" anchor="t"/>
          <a:lstStyle/>
          <a:p>
            <a:pPr marL="0" indent="0" algn="l">
              <a:lnSpc>
                <a:spcPts val="1500"/>
              </a:lnSpc>
              <a:buNone/>
            </a:pPr>
            <a:r>
              <a:rPr lang="en-US" sz="1100" dirty="0">
                <a:solidFill>
                  <a:srgbClr val="5C4A3C"/>
                </a:solidFill>
                <a:latin typeface="Calibri" pitchFamily="34" charset="0"/>
                <a:ea typeface="Calibri" pitchFamily="34" charset="-122"/>
                <a:cs typeface="Calibri" pitchFamily="34" charset="-120"/>
              </a:rPr>
              <a:t>Both apps talk to the same Supabase backend, never to each other. A submission on Flutter is visible to staff on ASP.NET, and a staff decision is reflected back to the parent (IR1–IR3).</a:t>
            </a:r>
          </a:p>
        </p:txBody>
      </p:sp>
      <p:sp>
        <p:nvSpPr>
          <p:cNvPr id="61" name="Text 61"/>
          <p:cNvSpPr txBox="1"/>
          <p:nvPr/>
        </p:nvSpPr>
        <p:spPr>
          <a:xfrm>
            <a:off x="8001000" y="3250000"/>
            <a:ext cx="3474720" cy="320040"/>
          </a:xfrm>
          <a:prstGeom prst="rect">
            <a:avLst/>
          </a:prstGeom>
          <a:noFill/>
          <a:ln/>
        </p:spPr>
        <p:txBody>
          <a:bodyPr wrap="square" lIns="0" tIns="0" rIns="0" bIns="0" rtlCol="0" anchor="ctr"/>
          <a:lstStyle/>
          <a:p>
            <a:pPr marL="0" indent="0" algn="l">
              <a:buNone/>
            </a:pPr>
            <a:r>
              <a:rPr lang="en-US" sz="1350" b="1" dirty="0">
                <a:solidFill>
                  <a:srgbClr val="3E2417"/>
                </a:solidFill>
                <a:latin typeface="Cambria" pitchFamily="34" charset="0"/>
                <a:ea typeface="Cambria" pitchFamily="34" charset="-122"/>
                <a:cs typeface="Cambria" pitchFamily="34" charset="-120"/>
              </a:rPr>
              <a:t>What HTTPS means in our system</a:t>
            </a:r>
          </a:p>
        </p:txBody>
      </p:sp>
      <p:sp>
        <p:nvSpPr>
          <p:cNvPr id="62" name="Text 62"/>
          <p:cNvSpPr txBox="1"/>
          <p:nvPr/>
        </p:nvSpPr>
        <p:spPr>
          <a:xfrm>
            <a:off x="8001000" y="3630000"/>
            <a:ext cx="3474720" cy="2350000"/>
          </a:xfrm>
          <a:prstGeom prst="rect">
            <a:avLst/>
          </a:prstGeom>
          <a:noFill/>
          <a:ln/>
        </p:spPr>
        <p:txBody>
          <a:bodyPr wrap="square" lIns="0" tIns="0" rIns="0" bIns="0" rtlCol="0" anchor="t"/>
          <a:lstStyle/>
          <a:p>
            <a:pPr marL="0" indent="0" algn="l">
              <a:lnSpc>
                <a:spcPts val="1500"/>
              </a:lnSpc>
              <a:spcAft>
                <a:spcPts val="500"/>
              </a:spcAft>
              <a:buNone/>
            </a:pPr>
            <a:r>
              <a:rPr lang="en-US" sz="1100" dirty="0">
                <a:solidFill>
                  <a:srgbClr val="5C4A3C"/>
                </a:solidFill>
                <a:latin typeface="Calibri" pitchFamily="34" charset="0"/>
                <a:ea typeface="Calibri" pitchFamily="34" charset="-122"/>
                <a:cs typeface="Calibri" pitchFamily="34" charset="-120"/>
              </a:rPr>
              <a:t>HTTPS is HTTP sent over an encrypted (TLS) connection. Every blue arrow is an encrypted request and response.</a:t>
            </a:r>
          </a:p>
          <a:p>
            <a:pPr marL="0" indent="0" algn="l">
              <a:lnSpc>
                <a:spcPts val="1500"/>
              </a:lnSpc>
              <a:spcAft>
                <a:spcPts val="500"/>
              </a:spcAft>
              <a:buNone/>
            </a:pPr>
            <a:r>
              <a:rPr lang="en-US" sz="1100" b="1" dirty="0">
                <a:solidFill>
                  <a:srgbClr val="3E2417"/>
                </a:solidFill>
                <a:latin typeface="Calibri" pitchFamily="34" charset="0"/>
                <a:ea typeface="Calibri" pitchFamily="34" charset="-122"/>
                <a:cs typeface="Calibri" pitchFamily="34" charset="-120"/>
              </a:rPr>
              <a:t>Flutter ⇄ Supabase: </a:t>
            </a:r>
            <a:r>
              <a:rPr lang="en-US" sz="1100" dirty="0">
                <a:solidFill>
                  <a:srgbClr val="5C4A3C"/>
                </a:solidFill>
                <a:latin typeface="Calibri" pitchFamily="34" charset="0"/>
                <a:ea typeface="Calibri" pitchFamily="34" charset="-122"/>
                <a:cs typeface="Calibri" pitchFamily="34" charset="-120"/>
              </a:rPr>
              <a:t>parent sign-in, application data, documents and proof of payment go up; status, notifications and messages come back.</a:t>
            </a:r>
          </a:p>
          <a:p>
            <a:pPr marL="0" indent="0" algn="l">
              <a:lnSpc>
                <a:spcPts val="1500"/>
              </a:lnSpc>
              <a:spcAft>
                <a:spcPts val="500"/>
              </a:spcAft>
              <a:buNone/>
            </a:pPr>
            <a:r>
              <a:rPr lang="en-US" sz="1100" b="1" dirty="0">
                <a:solidFill>
                  <a:srgbClr val="3E2417"/>
                </a:solidFill>
                <a:latin typeface="Calibri" pitchFamily="34" charset="0"/>
                <a:ea typeface="Calibri" pitchFamily="34" charset="-122"/>
                <a:cs typeface="Calibri" pitchFamily="34" charset="-120"/>
              </a:rPr>
              <a:t>ASP.NET ⇄ Supabase: </a:t>
            </a:r>
            <a:r>
              <a:rPr lang="en-US" sz="1100" dirty="0">
                <a:solidFill>
                  <a:srgbClr val="5C4A3C"/>
                </a:solidFill>
                <a:latin typeface="Calibri" pitchFamily="34" charset="0"/>
                <a:ea typeface="Calibri" pitchFamily="34" charset="-122"/>
                <a:cs typeface="Calibri" pitchFamily="34" charset="-120"/>
              </a:rPr>
              <a:t>staff sign-in, payment checks, decisions, notes and letters go up; applications and documents come down for review.</a:t>
            </a:r>
          </a:p>
          <a:p>
            <a:pPr marL="0" indent="0" algn="l">
              <a:lnSpc>
                <a:spcPts val="1500"/>
              </a:lnSpc>
              <a:buNone/>
            </a:pPr>
            <a:r>
              <a:rPr lang="en-US" sz="1100" i="1" dirty="0">
                <a:solidFill>
                  <a:srgbClr val="5C4A3C"/>
                </a:solidFill>
                <a:latin typeface="Calibri" pitchFamily="34" charset="0"/>
                <a:ea typeface="Calibri" pitchFamily="34" charset="-122"/>
                <a:cs typeface="Calibri" pitchFamily="34" charset="-120"/>
              </a:rPr>
              <a:t>HTTPS protects data in transit; Supabase Auth and role-based access decide who can read it.</a:t>
            </a:r>
          </a:p>
        </p:txBody>
      </p:sp>
      <p:pic>
        <p:nvPicPr>
          <p:cNvPr id="5" name="Picture 4">
            <a:extLst>
              <a:ext uri="{FF2B5EF4-FFF2-40B4-BE49-F238E27FC236}">
                <a16:creationId xmlns:a16="http://schemas.microsoft.com/office/drawing/2014/main" id="{C4F2A833-6130-CFB7-D4DD-A633CFE1FA58}"/>
              </a:ext>
            </a:extLst>
          </p:cNvPr>
          <p:cNvPicPr>
            <a:picLocks noChangeAspect="1"/>
          </p:cNvPicPr>
          <p:nvPr/>
        </p:nvPicPr>
        <p:blipFill>
          <a:blip r:embed="rId3"/>
          <a:stretch>
            <a:fillRect/>
          </a:stretch>
        </p:blipFill>
        <p:spPr>
          <a:xfrm>
            <a:off x="886691" y="1764916"/>
            <a:ext cx="5760000" cy="45444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USER ROLES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Three roles, two applications, clearly separated access</a:t>
            </a:r>
            <a:endParaRPr lang="en-US" sz="3000" dirty="0"/>
          </a:p>
        </p:txBody>
      </p:sp>
      <p:sp>
        <p:nvSpPr>
          <p:cNvPr id="4" name="Shape 2"/>
          <p:cNvSpPr/>
          <p:nvPr/>
        </p:nvSpPr>
        <p:spPr>
          <a:xfrm>
            <a:off x="548640" y="1645920"/>
            <a:ext cx="3520440" cy="4343400"/>
          </a:xfrm>
          <a:prstGeom prst="roundRect">
            <a:avLst>
              <a:gd name="adj" fmla="val 2078"/>
            </a:avLst>
          </a:prstGeom>
          <a:solidFill>
            <a:srgbClr val="FAF8F6"/>
          </a:solidFill>
          <a:ln w="12700">
            <a:solidFill>
              <a:srgbClr val="E7DCCF"/>
            </a:solidFill>
            <a:prstDash val="solid"/>
          </a:ln>
        </p:spPr>
        <p:txBody>
          <a:bodyPr/>
          <a:lstStyle/>
          <a:p>
            <a:endParaRPr lang="en-ZA"/>
          </a:p>
        </p:txBody>
      </p:sp>
      <p:sp>
        <p:nvSpPr>
          <p:cNvPr id="5" name="Text 3"/>
          <p:cNvSpPr txBox="1"/>
          <p:nvPr/>
        </p:nvSpPr>
        <p:spPr>
          <a:xfrm>
            <a:off x="822960" y="1920240"/>
            <a:ext cx="2971800" cy="457200"/>
          </a:xfrm>
          <a:prstGeom prst="rect">
            <a:avLst/>
          </a:prstGeom>
          <a:noFill/>
          <a:ln/>
        </p:spPr>
        <p:txBody>
          <a:bodyPr wrap="square" lIns="0" tIns="0" rIns="0" bIns="0" rtlCol="0" anchor="ctr"/>
          <a:lstStyle/>
          <a:p>
            <a:pPr marL="0" indent="0">
              <a:buNone/>
            </a:pPr>
            <a:r>
              <a:rPr lang="en-US" sz="1600" b="1" dirty="0">
                <a:solidFill>
                  <a:srgbClr val="3E2417"/>
                </a:solidFill>
                <a:latin typeface="Cambria" pitchFamily="34" charset="0"/>
                <a:ea typeface="Cambria" pitchFamily="34" charset="-122"/>
                <a:cs typeface="Cambria" pitchFamily="34" charset="-120"/>
              </a:rPr>
              <a:t>Parent / Guardian</a:t>
            </a:r>
            <a:endParaRPr lang="en-US" sz="1600" dirty="0"/>
          </a:p>
        </p:txBody>
      </p:sp>
      <p:sp>
        <p:nvSpPr>
          <p:cNvPr id="6" name="Text 4"/>
          <p:cNvSpPr txBox="1"/>
          <p:nvPr/>
        </p:nvSpPr>
        <p:spPr>
          <a:xfrm>
            <a:off x="822960" y="2359152"/>
            <a:ext cx="2971800" cy="274320"/>
          </a:xfrm>
          <a:prstGeom prst="rect">
            <a:avLst/>
          </a:prstGeom>
          <a:noFill/>
          <a:ln/>
        </p:spPr>
        <p:txBody>
          <a:bodyPr wrap="square" lIns="0" tIns="0" rIns="0" bIns="0" rtlCol="0" anchor="ctr"/>
          <a:lstStyle/>
          <a:p>
            <a:pPr marL="0" indent="0">
              <a:buNone/>
            </a:pPr>
            <a:r>
              <a:rPr lang="en-US" sz="950" b="1" kern="0" spc="100" dirty="0">
                <a:solidFill>
                  <a:srgbClr val="7A6A5C"/>
                </a:solidFill>
                <a:latin typeface="Calibri" pitchFamily="34" charset="0"/>
                <a:ea typeface="Calibri" pitchFamily="34" charset="-122"/>
                <a:cs typeface="Calibri" pitchFamily="34" charset="-120"/>
              </a:rPr>
              <a:t>FLUTTER MOBILE APP</a:t>
            </a:r>
            <a:endParaRPr lang="en-US" sz="950" dirty="0"/>
          </a:p>
        </p:txBody>
      </p:sp>
      <p:sp>
        <p:nvSpPr>
          <p:cNvPr id="7" name="Text 5"/>
          <p:cNvSpPr txBox="1"/>
          <p:nvPr/>
        </p:nvSpPr>
        <p:spPr>
          <a:xfrm>
            <a:off x="822960" y="2834640"/>
            <a:ext cx="2971800" cy="2926080"/>
          </a:xfrm>
          <a:prstGeom prst="rect">
            <a:avLst/>
          </a:prstGeom>
          <a:noFill/>
          <a:ln/>
        </p:spPr>
        <p:txBody>
          <a:bodyPr wrap="square" lIns="0" tIns="0" rIns="0" bIns="0" rtlCol="0" anchor="ctr"/>
          <a:lstStyle/>
          <a:p>
            <a:pPr marL="342900" indent="-342900">
              <a:lnSpc>
                <a:spcPts val="1600"/>
              </a:lnSpc>
              <a:spcAft>
                <a:spcPts val="1000"/>
              </a:spcAft>
              <a:buSzPct val="100000"/>
              <a:buChar char="•"/>
            </a:pPr>
            <a:r>
              <a:rPr lang="en-US" sz="1200" dirty="0">
                <a:solidFill>
                  <a:srgbClr val="2B1B12"/>
                </a:solidFill>
                <a:latin typeface="Calibri" pitchFamily="34" charset="0"/>
                <a:ea typeface="Calibri" pitchFamily="34" charset="-122"/>
                <a:cs typeface="Calibri" pitchFamily="34" charset="-120"/>
              </a:rPr>
              <a:t>Register &amp; sign in</a:t>
            </a:r>
            <a:endParaRPr lang="en-US" sz="1200" dirty="0"/>
          </a:p>
          <a:p>
            <a:pPr marL="342900" indent="-342900">
              <a:lnSpc>
                <a:spcPts val="1600"/>
              </a:lnSpc>
              <a:spcAft>
                <a:spcPts val="1000"/>
              </a:spcAft>
              <a:buSzPct val="100000"/>
              <a:buChar char="•"/>
            </a:pPr>
            <a:r>
              <a:rPr lang="en-US" sz="1200" dirty="0">
                <a:solidFill>
                  <a:srgbClr val="2B1B12"/>
                </a:solidFill>
                <a:latin typeface="Calibri" pitchFamily="34" charset="0"/>
                <a:ea typeface="Calibri" pitchFamily="34" charset="-122"/>
                <a:cs typeface="Calibri" pitchFamily="34" charset="-120"/>
              </a:rPr>
              <a:t>Submit enrolment application</a:t>
            </a:r>
            <a:endParaRPr lang="en-US" sz="1200" dirty="0"/>
          </a:p>
          <a:p>
            <a:pPr marL="342900" indent="-342900">
              <a:lnSpc>
                <a:spcPts val="1600"/>
              </a:lnSpc>
              <a:spcAft>
                <a:spcPts val="1000"/>
              </a:spcAft>
              <a:buSzPct val="100000"/>
              <a:buChar char="•"/>
            </a:pPr>
            <a:r>
              <a:rPr lang="en-US" sz="1200" dirty="0">
                <a:solidFill>
                  <a:srgbClr val="2B1B12"/>
                </a:solidFill>
                <a:latin typeface="Calibri" pitchFamily="34" charset="0"/>
                <a:ea typeface="Calibri" pitchFamily="34" charset="-122"/>
                <a:cs typeface="Calibri" pitchFamily="34" charset="-120"/>
              </a:rPr>
              <a:t>Upload documents &amp; proof of payment</a:t>
            </a:r>
            <a:endParaRPr lang="en-US" sz="1200" dirty="0"/>
          </a:p>
          <a:p>
            <a:pPr marL="342900" indent="-342900">
              <a:lnSpc>
                <a:spcPts val="1600"/>
              </a:lnSpc>
              <a:spcAft>
                <a:spcPts val="1000"/>
              </a:spcAft>
              <a:buSzPct val="100000"/>
              <a:buChar char="•"/>
            </a:pPr>
            <a:r>
              <a:rPr lang="en-US" sz="1200" dirty="0">
                <a:solidFill>
                  <a:srgbClr val="2B1B12"/>
                </a:solidFill>
                <a:latin typeface="Calibri" pitchFamily="34" charset="0"/>
                <a:ea typeface="Calibri" pitchFamily="34" charset="-122"/>
                <a:cs typeface="Calibri" pitchFamily="34" charset="-120"/>
              </a:rPr>
              <a:t>Track application &amp; payment status</a:t>
            </a:r>
            <a:endParaRPr lang="en-US" sz="1200" dirty="0"/>
          </a:p>
        </p:txBody>
      </p:sp>
      <p:sp>
        <p:nvSpPr>
          <p:cNvPr id="8" name="Shape 6"/>
          <p:cNvSpPr/>
          <p:nvPr/>
        </p:nvSpPr>
        <p:spPr>
          <a:xfrm>
            <a:off x="4343400" y="1645920"/>
            <a:ext cx="3520440" cy="4343400"/>
          </a:xfrm>
          <a:prstGeom prst="roundRect">
            <a:avLst>
              <a:gd name="adj" fmla="val 2078"/>
            </a:avLst>
          </a:prstGeom>
          <a:solidFill>
            <a:srgbClr val="3E2417"/>
          </a:solidFill>
          <a:ln w="12700">
            <a:solidFill>
              <a:srgbClr val="E7DCCF"/>
            </a:solidFill>
            <a:prstDash val="solid"/>
          </a:ln>
        </p:spPr>
        <p:txBody>
          <a:bodyPr/>
          <a:lstStyle/>
          <a:p>
            <a:endParaRPr lang="en-ZA"/>
          </a:p>
        </p:txBody>
      </p:sp>
      <p:sp>
        <p:nvSpPr>
          <p:cNvPr id="9" name="Text 7"/>
          <p:cNvSpPr txBox="1"/>
          <p:nvPr/>
        </p:nvSpPr>
        <p:spPr>
          <a:xfrm>
            <a:off x="4617720" y="1920240"/>
            <a:ext cx="297180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Financial Clerk</a:t>
            </a:r>
            <a:endParaRPr lang="en-US" sz="1600" dirty="0"/>
          </a:p>
        </p:txBody>
      </p:sp>
      <p:sp>
        <p:nvSpPr>
          <p:cNvPr id="10" name="Text 8"/>
          <p:cNvSpPr txBox="1"/>
          <p:nvPr/>
        </p:nvSpPr>
        <p:spPr>
          <a:xfrm>
            <a:off x="4617720" y="2359152"/>
            <a:ext cx="2971800" cy="274320"/>
          </a:xfrm>
          <a:prstGeom prst="rect">
            <a:avLst/>
          </a:prstGeom>
          <a:noFill/>
          <a:ln/>
        </p:spPr>
        <p:txBody>
          <a:bodyPr wrap="square" lIns="0" tIns="0" rIns="0" bIns="0" rtlCol="0" anchor="ctr"/>
          <a:lstStyle/>
          <a:p>
            <a:pPr marL="0" indent="0">
              <a:buNone/>
            </a:pPr>
            <a:r>
              <a:rPr lang="en-US" sz="950" b="1" kern="0" spc="100" dirty="0">
                <a:solidFill>
                  <a:srgbClr val="C99A3D"/>
                </a:solidFill>
                <a:latin typeface="Calibri" pitchFamily="34" charset="0"/>
                <a:ea typeface="Calibri" pitchFamily="34" charset="-122"/>
                <a:cs typeface="Calibri" pitchFamily="34" charset="-120"/>
              </a:rPr>
              <a:t>ASP.NET WEB APP</a:t>
            </a:r>
            <a:endParaRPr lang="en-US" sz="950" dirty="0"/>
          </a:p>
        </p:txBody>
      </p:sp>
      <p:sp>
        <p:nvSpPr>
          <p:cNvPr id="11" name="Text 9"/>
          <p:cNvSpPr txBox="1"/>
          <p:nvPr/>
        </p:nvSpPr>
        <p:spPr>
          <a:xfrm>
            <a:off x="4617720" y="2834640"/>
            <a:ext cx="2971800" cy="2926080"/>
          </a:xfrm>
          <a:prstGeom prst="rect">
            <a:avLst/>
          </a:prstGeom>
          <a:noFill/>
          <a:ln/>
        </p:spPr>
        <p:txBody>
          <a:bodyPr wrap="square" lIns="0" tIns="0" rIns="0" bIns="0" rtlCol="0" anchor="ctr"/>
          <a:lstStyle/>
          <a:p>
            <a:pPr marL="342900" indent="-342900">
              <a:lnSpc>
                <a:spcPts val="1600"/>
              </a:lnSpc>
              <a:spcAft>
                <a:spcPts val="1000"/>
              </a:spcAft>
              <a:buSzPct val="100000"/>
              <a:buChar char="•"/>
            </a:pPr>
            <a:r>
              <a:rPr lang="en-US" sz="1200" dirty="0">
                <a:solidFill>
                  <a:srgbClr val="E7DCCF"/>
                </a:solidFill>
                <a:latin typeface="Calibri" pitchFamily="34" charset="0"/>
                <a:ea typeface="Calibri" pitchFamily="34" charset="-122"/>
                <a:cs typeface="Calibri" pitchFamily="34" charset="-120"/>
              </a:rPr>
              <a:t>Sign in with staff role</a:t>
            </a:r>
            <a:endParaRPr lang="en-US" sz="1200" dirty="0"/>
          </a:p>
          <a:p>
            <a:pPr marL="342900" indent="-342900">
              <a:lnSpc>
                <a:spcPts val="1600"/>
              </a:lnSpc>
              <a:spcAft>
                <a:spcPts val="1000"/>
              </a:spcAft>
              <a:buSzPct val="100000"/>
              <a:buChar char="•"/>
            </a:pPr>
            <a:r>
              <a:rPr lang="en-US" sz="1200" dirty="0">
                <a:solidFill>
                  <a:srgbClr val="E7DCCF"/>
                </a:solidFill>
                <a:latin typeface="Calibri" pitchFamily="34" charset="0"/>
                <a:ea typeface="Calibri" pitchFamily="34" charset="-122"/>
                <a:cs typeface="Calibri" pitchFamily="34" charset="-120"/>
              </a:rPr>
              <a:t>View submitted proof of payment</a:t>
            </a:r>
            <a:endParaRPr lang="en-US" sz="1200" dirty="0"/>
          </a:p>
          <a:p>
            <a:pPr marL="342900" indent="-342900">
              <a:lnSpc>
                <a:spcPts val="1600"/>
              </a:lnSpc>
              <a:spcAft>
                <a:spcPts val="1000"/>
              </a:spcAft>
              <a:buSzPct val="100000"/>
              <a:buChar char="•"/>
            </a:pPr>
            <a:r>
              <a:rPr lang="en-US" sz="1200" dirty="0">
                <a:solidFill>
                  <a:srgbClr val="E7DCCF"/>
                </a:solidFill>
                <a:latin typeface="Calibri" pitchFamily="34" charset="0"/>
                <a:ea typeface="Calibri" pitchFamily="34" charset="-122"/>
                <a:cs typeface="Calibri" pitchFamily="34" charset="-120"/>
              </a:rPr>
              <a:t>Verify payment against school records</a:t>
            </a:r>
            <a:endParaRPr lang="en-US" sz="1200" dirty="0"/>
          </a:p>
          <a:p>
            <a:pPr marL="342900" indent="-342900">
              <a:lnSpc>
                <a:spcPts val="1600"/>
              </a:lnSpc>
              <a:spcAft>
                <a:spcPts val="1000"/>
              </a:spcAft>
              <a:buSzPct val="100000"/>
              <a:buChar char="•"/>
            </a:pPr>
            <a:r>
              <a:rPr lang="en-US" sz="1200" dirty="0">
                <a:solidFill>
                  <a:srgbClr val="E7DCCF"/>
                </a:solidFill>
                <a:latin typeface="Calibri" pitchFamily="34" charset="0"/>
                <a:ea typeface="Calibri" pitchFamily="34" charset="-122"/>
                <a:cs typeface="Calibri" pitchFamily="34" charset="-120"/>
              </a:rPr>
              <a:t>Cannot approve/reject applications</a:t>
            </a:r>
            <a:endParaRPr lang="en-US" sz="1200" dirty="0"/>
          </a:p>
        </p:txBody>
      </p:sp>
      <p:sp>
        <p:nvSpPr>
          <p:cNvPr id="12" name="Shape 10"/>
          <p:cNvSpPr/>
          <p:nvPr/>
        </p:nvSpPr>
        <p:spPr>
          <a:xfrm>
            <a:off x="8138160" y="1645920"/>
            <a:ext cx="3520440" cy="4343400"/>
          </a:xfrm>
          <a:prstGeom prst="roundRect">
            <a:avLst>
              <a:gd name="adj" fmla="val 2078"/>
            </a:avLst>
          </a:prstGeom>
          <a:solidFill>
            <a:srgbClr val="FAF8F6"/>
          </a:solidFill>
          <a:ln w="12700">
            <a:solidFill>
              <a:srgbClr val="E7DCCF"/>
            </a:solidFill>
            <a:prstDash val="solid"/>
          </a:ln>
        </p:spPr>
        <p:txBody>
          <a:bodyPr/>
          <a:lstStyle/>
          <a:p>
            <a:endParaRPr lang="en-ZA"/>
          </a:p>
        </p:txBody>
      </p:sp>
      <p:sp>
        <p:nvSpPr>
          <p:cNvPr id="13" name="Text 11"/>
          <p:cNvSpPr txBox="1"/>
          <p:nvPr/>
        </p:nvSpPr>
        <p:spPr>
          <a:xfrm>
            <a:off x="8412480" y="1920240"/>
            <a:ext cx="2971800" cy="457200"/>
          </a:xfrm>
          <a:prstGeom prst="rect">
            <a:avLst/>
          </a:prstGeom>
          <a:noFill/>
          <a:ln/>
        </p:spPr>
        <p:txBody>
          <a:bodyPr wrap="square" lIns="0" tIns="0" rIns="0" bIns="0" rtlCol="0" anchor="ctr"/>
          <a:lstStyle/>
          <a:p>
            <a:pPr marL="0" indent="0">
              <a:buNone/>
            </a:pPr>
            <a:r>
              <a:rPr lang="en-US" sz="1600" b="1" dirty="0">
                <a:solidFill>
                  <a:srgbClr val="3E2417"/>
                </a:solidFill>
                <a:latin typeface="Cambria" pitchFamily="34" charset="0"/>
                <a:ea typeface="Cambria" pitchFamily="34" charset="-122"/>
                <a:cs typeface="Cambria" pitchFamily="34" charset="-120"/>
              </a:rPr>
              <a:t>Administrator</a:t>
            </a:r>
            <a:endParaRPr lang="en-US" sz="1600" dirty="0"/>
          </a:p>
        </p:txBody>
      </p:sp>
      <p:sp>
        <p:nvSpPr>
          <p:cNvPr id="14" name="Text 12"/>
          <p:cNvSpPr txBox="1"/>
          <p:nvPr/>
        </p:nvSpPr>
        <p:spPr>
          <a:xfrm>
            <a:off x="8412480" y="2359152"/>
            <a:ext cx="2971800" cy="274320"/>
          </a:xfrm>
          <a:prstGeom prst="rect">
            <a:avLst/>
          </a:prstGeom>
          <a:noFill/>
          <a:ln/>
        </p:spPr>
        <p:txBody>
          <a:bodyPr wrap="square" lIns="0" tIns="0" rIns="0" bIns="0" rtlCol="0" anchor="ctr"/>
          <a:lstStyle/>
          <a:p>
            <a:pPr marL="0" indent="0">
              <a:buNone/>
            </a:pPr>
            <a:r>
              <a:rPr lang="en-US" sz="950" b="1" kern="0" spc="100" dirty="0">
                <a:solidFill>
                  <a:srgbClr val="7A6A5C"/>
                </a:solidFill>
                <a:latin typeface="Calibri" pitchFamily="34" charset="0"/>
                <a:ea typeface="Calibri" pitchFamily="34" charset="-122"/>
                <a:cs typeface="Calibri" pitchFamily="34" charset="-120"/>
              </a:rPr>
              <a:t>ASP.NET WEB APP</a:t>
            </a:r>
            <a:endParaRPr lang="en-US" sz="950" dirty="0"/>
          </a:p>
        </p:txBody>
      </p:sp>
      <p:sp>
        <p:nvSpPr>
          <p:cNvPr id="15" name="Text 13"/>
          <p:cNvSpPr txBox="1"/>
          <p:nvPr/>
        </p:nvSpPr>
        <p:spPr>
          <a:xfrm>
            <a:off x="8412480" y="2834640"/>
            <a:ext cx="2971800" cy="2926080"/>
          </a:xfrm>
          <a:prstGeom prst="rect">
            <a:avLst/>
          </a:prstGeom>
          <a:noFill/>
          <a:ln/>
        </p:spPr>
        <p:txBody>
          <a:bodyPr wrap="square" lIns="0" tIns="0" rIns="0" bIns="0" rtlCol="0" anchor="ctr"/>
          <a:lstStyle/>
          <a:p>
            <a:pPr marL="342900" indent="-342900">
              <a:lnSpc>
                <a:spcPts val="1600"/>
              </a:lnSpc>
              <a:spcAft>
                <a:spcPts val="1000"/>
              </a:spcAft>
              <a:buSzPct val="100000"/>
              <a:buChar char="•"/>
            </a:pPr>
            <a:r>
              <a:rPr lang="en-US" sz="1200" dirty="0">
                <a:solidFill>
                  <a:srgbClr val="2B1B12"/>
                </a:solidFill>
                <a:latin typeface="Calibri" pitchFamily="34" charset="0"/>
                <a:ea typeface="Calibri" pitchFamily="34" charset="-122"/>
                <a:cs typeface="Calibri" pitchFamily="34" charset="-120"/>
              </a:rPr>
              <a:t>View &amp; review applications</a:t>
            </a:r>
            <a:endParaRPr lang="en-US" sz="1200" dirty="0"/>
          </a:p>
          <a:p>
            <a:pPr marL="342900" indent="-342900">
              <a:lnSpc>
                <a:spcPts val="1600"/>
              </a:lnSpc>
              <a:spcAft>
                <a:spcPts val="1000"/>
              </a:spcAft>
              <a:buSzPct val="100000"/>
              <a:buChar char="•"/>
            </a:pPr>
            <a:r>
              <a:rPr lang="en-US" sz="1200" dirty="0">
                <a:solidFill>
                  <a:srgbClr val="2B1B12"/>
                </a:solidFill>
                <a:latin typeface="Calibri" pitchFamily="34" charset="0"/>
                <a:ea typeface="Calibri" pitchFamily="34" charset="-122"/>
                <a:cs typeface="Calibri" pitchFamily="34" charset="-120"/>
              </a:rPr>
              <a:t>Approve, reject or request corrections</a:t>
            </a:r>
            <a:endParaRPr lang="en-US" sz="1200" dirty="0"/>
          </a:p>
          <a:p>
            <a:pPr marL="342900" indent="-342900">
              <a:lnSpc>
                <a:spcPts val="1600"/>
              </a:lnSpc>
              <a:spcAft>
                <a:spcPts val="1000"/>
              </a:spcAft>
              <a:buSzPct val="100000"/>
              <a:buChar char="•"/>
            </a:pPr>
            <a:r>
              <a:rPr lang="en-US" sz="1200" dirty="0">
                <a:solidFill>
                  <a:srgbClr val="2B1B12"/>
                </a:solidFill>
                <a:latin typeface="Calibri" pitchFamily="34" charset="0"/>
                <a:ea typeface="Calibri" pitchFamily="34" charset="-122"/>
                <a:cs typeface="Calibri" pitchFamily="34" charset="-120"/>
              </a:rPr>
              <a:t>Message parents, send reminders</a:t>
            </a:r>
            <a:endParaRPr lang="en-US" sz="1200" dirty="0"/>
          </a:p>
          <a:p>
            <a:pPr marL="342900" indent="-342900">
              <a:lnSpc>
                <a:spcPts val="1600"/>
              </a:lnSpc>
              <a:spcAft>
                <a:spcPts val="1000"/>
              </a:spcAft>
              <a:buSzPct val="100000"/>
              <a:buChar char="•"/>
            </a:pPr>
            <a:r>
              <a:rPr lang="en-US" sz="1200" dirty="0">
                <a:solidFill>
                  <a:srgbClr val="2B1B12"/>
                </a:solidFill>
                <a:latin typeface="Calibri" pitchFamily="34" charset="0"/>
                <a:ea typeface="Calibri" pitchFamily="34" charset="-122"/>
                <a:cs typeface="Calibri" pitchFamily="34" charset="-120"/>
              </a:rPr>
              <a:t>Generate confirmation letters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USE CASES — PARENT / GUARDIAN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Use Case diagram – Flutter for Parents/Guardians</a:t>
            </a:r>
            <a:endParaRPr lang="en-US" sz="3000" dirty="0"/>
          </a:p>
        </p:txBody>
      </p:sp>
      <p:sp>
        <p:nvSpPr>
          <p:cNvPr id="16" name="Shape 14"/>
          <p:cNvSpPr/>
          <p:nvPr/>
        </p:nvSpPr>
        <p:spPr>
          <a:xfrm>
            <a:off x="548640" y="5257800"/>
            <a:ext cx="11064240" cy="1051560"/>
          </a:xfrm>
          <a:prstGeom prst="roundRect">
            <a:avLst>
              <a:gd name="adj" fmla="val 6957"/>
            </a:avLst>
          </a:prstGeom>
          <a:solidFill>
            <a:srgbClr val="EFE6DA"/>
          </a:solidFill>
          <a:ln/>
        </p:spPr>
        <p:txBody>
          <a:bodyPr/>
          <a:lstStyle/>
          <a:p>
            <a:endParaRPr lang="en-ZA"/>
          </a:p>
        </p:txBody>
      </p:sp>
      <p:sp>
        <p:nvSpPr>
          <p:cNvPr id="17" name="Text 15"/>
          <p:cNvSpPr txBox="1"/>
          <p:nvPr/>
        </p:nvSpPr>
        <p:spPr>
          <a:xfrm>
            <a:off x="777240" y="5394960"/>
            <a:ext cx="10607040" cy="777240"/>
          </a:xfrm>
          <a:prstGeom prst="rect">
            <a:avLst/>
          </a:prstGeom>
          <a:noFill/>
          <a:ln/>
        </p:spPr>
        <p:txBody>
          <a:bodyPr wrap="square" lIns="0" tIns="0" rIns="0" bIns="0" rtlCol="0" anchor="ctr"/>
          <a:lstStyle/>
          <a:p>
            <a:pPr marL="0" indent="0">
              <a:lnSpc>
                <a:spcPts val="1600"/>
              </a:lnSpc>
              <a:buNone/>
            </a:pPr>
            <a:r>
              <a:rPr lang="en-US" sz="1200" b="1" dirty="0">
                <a:solidFill>
                  <a:srgbClr val="3E2417"/>
                </a:solidFill>
                <a:latin typeface="Calibri" pitchFamily="34" charset="0"/>
                <a:ea typeface="Calibri" pitchFamily="34" charset="-122"/>
                <a:cs typeface="Calibri" pitchFamily="34" charset="-120"/>
              </a:rPr>
              <a:t>&lt;&lt;include&gt;&gt;  </a:t>
            </a:r>
            <a:r>
              <a:rPr lang="en-US" sz="1200" dirty="0">
                <a:solidFill>
                  <a:srgbClr val="2B1B12"/>
                </a:solidFill>
                <a:latin typeface="Calibri" pitchFamily="34" charset="0"/>
                <a:ea typeface="Calibri" pitchFamily="34" charset="-122"/>
                <a:cs typeface="Calibri" pitchFamily="34" charset="-120"/>
              </a:rPr>
              <a:t>Submitting an application includes viewing payment information, uploading documents and uploading proof of payment (FR15) — all required before submission is complete.</a:t>
            </a:r>
            <a:endParaRPr lang="en-US" sz="1200" dirty="0"/>
          </a:p>
        </p:txBody>
      </p:sp>
      <p:pic>
        <p:nvPicPr>
          <p:cNvPr id="20" name="Picture 19">
            <a:extLst>
              <a:ext uri="{FF2B5EF4-FFF2-40B4-BE49-F238E27FC236}">
                <a16:creationId xmlns:a16="http://schemas.microsoft.com/office/drawing/2014/main" id="{E8CBEA5C-CF3C-5E3E-B4B1-9921345E558E}"/>
              </a:ext>
            </a:extLst>
          </p:cNvPr>
          <p:cNvPicPr>
            <a:picLocks noChangeAspect="1"/>
          </p:cNvPicPr>
          <p:nvPr/>
        </p:nvPicPr>
        <p:blipFill>
          <a:blip r:embed="rId3"/>
          <a:stretch>
            <a:fillRect/>
          </a:stretch>
        </p:blipFill>
        <p:spPr>
          <a:xfrm>
            <a:off x="3173032" y="1206360"/>
            <a:ext cx="4301682" cy="396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USE CASES — STAFF</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Use Case Diagram - Financial Clerk and Administrator, on one ASP.NET web app</a:t>
            </a:r>
            <a:endParaRPr lang="en-US" sz="3000" dirty="0"/>
          </a:p>
        </p:txBody>
      </p:sp>
      <p:sp>
        <p:nvSpPr>
          <p:cNvPr id="26" name="Shape 24"/>
          <p:cNvSpPr/>
          <p:nvPr/>
        </p:nvSpPr>
        <p:spPr>
          <a:xfrm>
            <a:off x="548640" y="5532120"/>
            <a:ext cx="11064240" cy="822960"/>
          </a:xfrm>
          <a:prstGeom prst="roundRect">
            <a:avLst>
              <a:gd name="adj" fmla="val 8889"/>
            </a:avLst>
          </a:prstGeom>
          <a:solidFill>
            <a:srgbClr val="EFE6DA"/>
          </a:solidFill>
          <a:ln/>
        </p:spPr>
        <p:txBody>
          <a:bodyPr/>
          <a:lstStyle/>
          <a:p>
            <a:endParaRPr lang="en-ZA"/>
          </a:p>
        </p:txBody>
      </p:sp>
      <p:sp>
        <p:nvSpPr>
          <p:cNvPr id="27" name="Text 25"/>
          <p:cNvSpPr txBox="1"/>
          <p:nvPr/>
        </p:nvSpPr>
        <p:spPr>
          <a:xfrm>
            <a:off x="777240" y="5641848"/>
            <a:ext cx="10607040" cy="594360"/>
          </a:xfrm>
          <a:prstGeom prst="rect">
            <a:avLst/>
          </a:prstGeom>
          <a:noFill/>
          <a:ln/>
        </p:spPr>
        <p:txBody>
          <a:bodyPr wrap="square" lIns="0" tIns="0" rIns="0" bIns="0" rtlCol="0" anchor="ctr"/>
          <a:lstStyle/>
          <a:p>
            <a:pPr marL="0" indent="0">
              <a:lnSpc>
                <a:spcPts val="1500"/>
              </a:lnSpc>
              <a:buNone/>
            </a:pPr>
            <a:r>
              <a:rPr lang="en-US" sz="1100" i="1" dirty="0">
                <a:solidFill>
                  <a:srgbClr val="2B1B12"/>
                </a:solidFill>
                <a:latin typeface="Calibri" pitchFamily="34" charset="0"/>
                <a:ea typeface="Calibri" pitchFamily="34" charset="-122"/>
                <a:cs typeface="Calibri" pitchFamily="34" charset="-120"/>
              </a:rPr>
              <a:t>&lt;&lt;extend&gt;&gt; Message Parent extends Request Corrections — only triggered when a correction is actually needed. &lt;&lt;include&gt;&gt; Approve/Reject Application always includes Generate Confirmation Letter, whichever way the application is decided.</a:t>
            </a:r>
            <a:endParaRPr lang="en-US" sz="1100" dirty="0"/>
          </a:p>
        </p:txBody>
      </p:sp>
      <p:pic>
        <p:nvPicPr>
          <p:cNvPr id="6" name="Picture 5">
            <a:extLst>
              <a:ext uri="{FF2B5EF4-FFF2-40B4-BE49-F238E27FC236}">
                <a16:creationId xmlns:a16="http://schemas.microsoft.com/office/drawing/2014/main" id="{0CBD6573-183B-AE41-FB7D-0AB632CB02DE}"/>
              </a:ext>
            </a:extLst>
          </p:cNvPr>
          <p:cNvPicPr>
            <a:picLocks noChangeAspect="1"/>
          </p:cNvPicPr>
          <p:nvPr/>
        </p:nvPicPr>
        <p:blipFill>
          <a:blip r:embed="rId3"/>
          <a:stretch>
            <a:fillRect/>
          </a:stretch>
        </p:blipFill>
        <p:spPr>
          <a:xfrm>
            <a:off x="4013742" y="1212120"/>
            <a:ext cx="3565862" cy="432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KEY INTERACTION FLOWS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Three sequence diagrams across Flutter and ASP.NET</a:t>
            </a:r>
            <a:endParaRPr lang="en-US" sz="3000" dirty="0"/>
          </a:p>
        </p:txBody>
      </p:sp>
      <p:pic>
        <p:nvPicPr>
          <p:cNvPr id="41" name="Picture SD2"/>
          <p:cNvPicPr>
            <a:picLocks noChangeAspect="1"/>
          </p:cNvPicPr>
          <p:nvPr/>
        </p:nvPicPr>
        <p:blipFill>
          <a:blip r:embed="rId3"/>
          <a:stretch>
            <a:fillRect/>
          </a:stretch>
        </p:blipFill>
        <p:spPr>
          <a:xfrm>
            <a:off x="4453950" y="1222310"/>
            <a:ext cx="3350831" cy="4888712"/>
          </a:xfrm>
          <a:prstGeom prst="rect">
            <a:avLst/>
          </a:prstGeom>
        </p:spPr>
      </p:pic>
      <p:pic>
        <p:nvPicPr>
          <p:cNvPr id="4" name="Picture 3">
            <a:extLst>
              <a:ext uri="{FF2B5EF4-FFF2-40B4-BE49-F238E27FC236}">
                <a16:creationId xmlns:a16="http://schemas.microsoft.com/office/drawing/2014/main" id="{7C6798BE-DAE3-0752-CB45-3185D4972D44}"/>
              </a:ext>
            </a:extLst>
          </p:cNvPr>
          <p:cNvPicPr>
            <a:picLocks noChangeAspect="1"/>
          </p:cNvPicPr>
          <p:nvPr/>
        </p:nvPicPr>
        <p:blipFill>
          <a:blip r:embed="rId4"/>
          <a:stretch>
            <a:fillRect/>
          </a:stretch>
        </p:blipFill>
        <p:spPr>
          <a:xfrm>
            <a:off x="579120" y="1222310"/>
            <a:ext cx="3593852" cy="4888800"/>
          </a:xfrm>
          <a:prstGeom prst="rect">
            <a:avLst/>
          </a:prstGeom>
        </p:spPr>
      </p:pic>
      <p:pic>
        <p:nvPicPr>
          <p:cNvPr id="6" name="Picture 5">
            <a:extLst>
              <a:ext uri="{FF2B5EF4-FFF2-40B4-BE49-F238E27FC236}">
                <a16:creationId xmlns:a16="http://schemas.microsoft.com/office/drawing/2014/main" id="{EDA00A88-399F-EC2E-6686-F7F961BBF4E3}"/>
              </a:ext>
            </a:extLst>
          </p:cNvPr>
          <p:cNvPicPr>
            <a:picLocks noChangeAspect="1"/>
          </p:cNvPicPr>
          <p:nvPr/>
        </p:nvPicPr>
        <p:blipFill>
          <a:blip r:embed="rId5"/>
          <a:stretch>
            <a:fillRect/>
          </a:stretch>
        </p:blipFill>
        <p:spPr>
          <a:xfrm>
            <a:off x="7970435" y="1222222"/>
            <a:ext cx="3642445" cy="4888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DATABASE DESIGN</a:t>
            </a:r>
            <a:endParaRPr lang="en-US" sz="1200" dirty="0"/>
          </a:p>
        </p:txBody>
      </p:sp>
      <p:sp>
        <p:nvSpPr>
          <p:cNvPr id="3" name="Text 1"/>
          <p:cNvSpPr txBox="1"/>
          <p:nvPr/>
        </p:nvSpPr>
        <p:spPr>
          <a:xfrm>
            <a:off x="548640" y="658368"/>
            <a:ext cx="11365992"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ERD and Database Design - Eleven entities behind the enrolment workflow</a:t>
            </a:r>
            <a:endParaRPr lang="en-US" sz="3000" dirty="0"/>
          </a:p>
        </p:txBody>
      </p:sp>
      <p:pic>
        <p:nvPicPr>
          <p:cNvPr id="31" name="Picture 30" descr="final_erd.png"/>
          <p:cNvPicPr>
            <a:picLocks noChangeAspect="1"/>
          </p:cNvPicPr>
          <p:nvPr/>
        </p:nvPicPr>
        <p:blipFill>
          <a:blip r:embed="rId3"/>
          <a:stretch>
            <a:fillRect/>
          </a:stretch>
        </p:blipFill>
        <p:spPr>
          <a:xfrm>
            <a:off x="548640" y="1691640"/>
            <a:ext cx="4100766" cy="4808360"/>
          </a:xfrm>
          <a:prstGeom prst="rect">
            <a:avLst/>
          </a:prstGeom>
        </p:spPr>
      </p:pic>
      <p:sp>
        <p:nvSpPr>
          <p:cNvPr id="27" name="Shape 25"/>
          <p:cNvSpPr/>
          <p:nvPr/>
        </p:nvSpPr>
        <p:spPr>
          <a:xfrm>
            <a:off x="4869406" y="4111640"/>
            <a:ext cx="6743474" cy="2388360"/>
          </a:xfrm>
          <a:prstGeom prst="roundRect">
            <a:avLst>
              <a:gd name="adj" fmla="val 2807"/>
            </a:avLst>
          </a:prstGeom>
          <a:solidFill>
            <a:srgbClr val="EFE6DA"/>
          </a:solidFill>
          <a:ln/>
        </p:spPr>
        <p:txBody>
          <a:bodyPr/>
          <a:lstStyle/>
          <a:p>
            <a:endParaRPr lang="en-ZA"/>
          </a:p>
        </p:txBody>
      </p:sp>
      <p:sp>
        <p:nvSpPr>
          <p:cNvPr id="25" name="Text 23"/>
          <p:cNvSpPr txBox="1"/>
          <p:nvPr/>
        </p:nvSpPr>
        <p:spPr>
          <a:xfrm>
            <a:off x="5098006" y="4248800"/>
            <a:ext cx="6286274" cy="320040"/>
          </a:xfrm>
          <a:prstGeom prst="rect">
            <a:avLst/>
          </a:prstGeom>
          <a:noFill/>
          <a:ln/>
        </p:spPr>
        <p:txBody>
          <a:bodyPr wrap="square" lIns="0" tIns="0" rIns="0" bIns="0" rtlCol="0" anchor="ctr"/>
          <a:lstStyle/>
          <a:p>
            <a:pPr marL="0" indent="0">
              <a:buNone/>
            </a:pPr>
            <a:r>
              <a:rPr lang="en-US" sz="1400" b="1" dirty="0">
                <a:solidFill>
                  <a:srgbClr val="3E2417"/>
                </a:solidFill>
                <a:latin typeface="Cambria" pitchFamily="34" charset="0"/>
                <a:ea typeface="Cambria" pitchFamily="34" charset="-122"/>
                <a:cs typeface="Cambria" pitchFamily="34" charset="-120"/>
              </a:rPr>
              <a:t>Key attributes tracked</a:t>
            </a:r>
            <a:endParaRPr lang="en-US" sz="1400" dirty="0"/>
          </a:p>
        </p:txBody>
      </p:sp>
      <p:sp>
        <p:nvSpPr>
          <p:cNvPr id="26" name="Text 24"/>
          <p:cNvSpPr txBox="1"/>
          <p:nvPr/>
        </p:nvSpPr>
        <p:spPr>
          <a:xfrm>
            <a:off x="5098006" y="4568840"/>
            <a:ext cx="6286274" cy="178836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2B1B12"/>
                </a:solidFill>
                <a:latin typeface="Calibri" pitchFamily="34" charset="0"/>
                <a:ea typeface="Calibri" pitchFamily="34" charset="-122"/>
                <a:cs typeface="Calibri" pitchFamily="34" charset="-120"/>
              </a:rPr>
              <a:t>APPLICATIONS — status, payment_verification_status, submitted_at, reviewed_by</a:t>
            </a:r>
            <a:endParaRPr lang="en-US" sz="1200" dirty="0"/>
          </a:p>
          <a:p>
            <a:pPr marL="342900" indent="-342900">
              <a:lnSpc>
                <a:spcPts val="1600"/>
              </a:lnSpc>
              <a:spcAft>
                <a:spcPts val="800"/>
              </a:spcAft>
              <a:buSzPct val="100000"/>
              <a:buChar char="•"/>
            </a:pPr>
            <a:r>
              <a:rPr lang="en-US" sz="1200" dirty="0">
                <a:solidFill>
                  <a:srgbClr val="2B1B12"/>
                </a:solidFill>
                <a:latin typeface="Calibri" pitchFamily="34" charset="0"/>
                <a:ea typeface="Calibri" pitchFamily="34" charset="-122"/>
                <a:cs typeface="Calibri" pitchFamily="34" charset="-120"/>
              </a:rPr>
              <a:t>PAYMENTS — payment_reference, amount, verification_status, verified_by</a:t>
            </a:r>
            <a:endParaRPr lang="en-US" sz="1200" dirty="0"/>
          </a:p>
          <a:p>
            <a:pPr marL="342900" indent="-342900">
              <a:lnSpc>
                <a:spcPts val="1600"/>
              </a:lnSpc>
              <a:spcAft>
                <a:spcPts val="800"/>
              </a:spcAft>
              <a:buSzPct val="100000"/>
              <a:buChar char="•"/>
            </a:pPr>
            <a:r>
              <a:rPr lang="en-US" sz="1200" dirty="0">
                <a:solidFill>
                  <a:srgbClr val="2B1B12"/>
                </a:solidFill>
                <a:latin typeface="Calibri" pitchFamily="34" charset="0"/>
                <a:ea typeface="Calibri" pitchFamily="34" charset="-122"/>
                <a:cs typeface="Calibri" pitchFamily="34" charset="-120"/>
              </a:rPr>
              <a:t>APPLICATION_DOCUMENTS — document_type, storage_path, verification_status</a:t>
            </a:r>
            <a:endParaRPr lang="en-US" sz="1200" dirty="0"/>
          </a:p>
          <a:p>
            <a:pPr marL="342900" indent="-342900">
              <a:lnSpc>
                <a:spcPts val="1600"/>
              </a:lnSpc>
              <a:spcAft>
                <a:spcPts val="800"/>
              </a:spcAft>
              <a:buSzPct val="100000"/>
              <a:buChar char="•"/>
            </a:pPr>
            <a:r>
              <a:rPr lang="en-US" sz="1200" dirty="0">
                <a:solidFill>
                  <a:srgbClr val="2B1B12"/>
                </a:solidFill>
                <a:latin typeface="Calibri" pitchFamily="34" charset="0"/>
                <a:ea typeface="Calibri" pitchFamily="34" charset="-122"/>
                <a:cs typeface="Calibri" pitchFamily="34" charset="-120"/>
              </a:rPr>
              <a:t>LEARNERS — id_number, student_number, date_of_birth, previous_school_name</a:t>
            </a:r>
            <a:endParaRPr lang="en-US" sz="1200" dirty="0"/>
          </a:p>
          <a:p>
            <a:pPr marL="342900" indent="-342900">
              <a:lnSpc>
                <a:spcPts val="1600"/>
              </a:lnSpc>
              <a:spcAft>
                <a:spcPts val="800"/>
              </a:spcAft>
              <a:buSzPct val="100000"/>
              <a:buChar char="•"/>
            </a:pPr>
            <a:r>
              <a:rPr lang="en-US" sz="1200" dirty="0">
                <a:solidFill>
                  <a:srgbClr val="2B1B12"/>
                </a:solidFill>
                <a:latin typeface="Calibri" pitchFamily="34" charset="0"/>
                <a:ea typeface="Calibri" pitchFamily="34" charset="-122"/>
                <a:cs typeface="Calibri" pitchFamily="34" charset="-120"/>
              </a:rPr>
              <a:t>CONFIRMATION_LETTERS — learner_name, learner_id_number, student_number</a:t>
            </a:r>
            <a:endParaRPr lang="en-US" sz="1200" dirty="0"/>
          </a:p>
        </p:txBody>
      </p:sp>
      <p:sp>
        <p:nvSpPr>
          <p:cNvPr id="4" name="Text 23"/>
          <p:cNvSpPr txBox="1"/>
          <p:nvPr/>
        </p:nvSpPr>
        <p:spPr>
          <a:xfrm>
            <a:off x="4869406" y="1691640"/>
            <a:ext cx="6743474" cy="320040"/>
          </a:xfrm>
          <a:prstGeom prst="rect">
            <a:avLst/>
          </a:prstGeom>
          <a:noFill/>
          <a:ln/>
        </p:spPr>
        <p:txBody>
          <a:bodyPr wrap="square" lIns="0" tIns="0" rIns="0" bIns="0" rtlCol="0" anchor="ctr"/>
          <a:lstStyle/>
          <a:p>
            <a:pPr marL="0" indent="0">
              <a:buNone/>
            </a:pPr>
            <a:r>
              <a:rPr lang="en-US" sz="1400" b="1" dirty="0">
                <a:solidFill>
                  <a:srgbClr val="3E2417"/>
                </a:solidFill>
                <a:latin typeface="Cambria" pitchFamily="34" charset="0"/>
                <a:ea typeface="Cambria" pitchFamily="34" charset="-122"/>
                <a:cs typeface="Cambria" pitchFamily="34" charset="-120"/>
              </a:rPr>
              <a:t>Core relationship logic</a:t>
            </a:r>
            <a:endParaRPr lang="en-US" sz="1400" dirty="0"/>
          </a:p>
        </p:txBody>
      </p:sp>
      <p:sp>
        <p:nvSpPr>
          <p:cNvPr id="5" name="Text 24"/>
          <p:cNvSpPr txBox="1"/>
          <p:nvPr/>
        </p:nvSpPr>
        <p:spPr>
          <a:xfrm>
            <a:off x="4869406" y="2061640"/>
            <a:ext cx="6743474" cy="195000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2B1B12"/>
                </a:solidFill>
                <a:latin typeface="Calibri" pitchFamily="34" charset="0"/>
                <a:ea typeface="Calibri" pitchFamily="34" charset="-122"/>
                <a:cs typeface="Calibri" pitchFamily="34" charset="-120"/>
              </a:rPr>
              <a:t>Every application must have at least one supporting document and one payment record.</a:t>
            </a:r>
            <a:endParaRPr lang="en-US" sz="1200" dirty="0"/>
          </a:p>
          <a:p>
            <a:pPr marL="342900" indent="-342900">
              <a:lnSpc>
                <a:spcPts val="1600"/>
              </a:lnSpc>
              <a:spcAft>
                <a:spcPts val="800"/>
              </a:spcAft>
              <a:buSzPct val="100000"/>
              <a:buChar char="•"/>
            </a:pPr>
            <a:r>
              <a:rPr lang="en-US" sz="1200" dirty="0">
                <a:solidFill>
                  <a:srgbClr val="2B1B12"/>
                </a:solidFill>
                <a:latin typeface="Calibri" pitchFamily="34" charset="0"/>
                <a:ea typeface="Calibri" pitchFamily="34" charset="-122"/>
                <a:cs typeface="Calibri" pitchFamily="34" charset="-120"/>
              </a:rPr>
              <a:t>A learner may have several applications over time; a new payment row is added for each re-upload, so full payment history is kept.</a:t>
            </a:r>
            <a:endParaRPr lang="en-US" sz="1200" dirty="0"/>
          </a:p>
          <a:p>
            <a:pPr marL="342900" indent="-342900">
              <a:lnSpc>
                <a:spcPts val="1600"/>
              </a:lnSpc>
              <a:spcAft>
                <a:spcPts val="800"/>
              </a:spcAft>
              <a:buSzPct val="100000"/>
              <a:buChar char="•"/>
            </a:pPr>
            <a:r>
              <a:rPr lang="en-US" sz="1200" dirty="0">
                <a:solidFill>
                  <a:srgbClr val="2B1B12"/>
                </a:solidFill>
                <a:latin typeface="Calibri" pitchFamily="34" charset="0"/>
                <a:ea typeface="Calibri" pitchFamily="34" charset="-122"/>
                <a:cs typeface="Calibri" pitchFamily="34" charset="-120"/>
              </a:rPr>
              <a:t>profiles.id matches Supabase auth.users.id and stores the Parent / Financial Clerk / Administrator role.</a:t>
            </a:r>
            <a:endParaRPr lang="en-US" sz="1200" dirty="0"/>
          </a:p>
          <a:p>
            <a:pPr marL="342900" indent="-342900">
              <a:lnSpc>
                <a:spcPts val="1600"/>
              </a:lnSpc>
              <a:spcAft>
                <a:spcPts val="800"/>
              </a:spcAft>
              <a:buSzPct val="100000"/>
              <a:buChar char="•"/>
            </a:pPr>
            <a:r>
              <a:rPr lang="en-US" sz="1200" dirty="0">
                <a:solidFill>
                  <a:srgbClr val="2B1B12"/>
                </a:solidFill>
                <a:latin typeface="Calibri" pitchFamily="34" charset="0"/>
                <a:ea typeface="Calibri" pitchFamily="34" charset="-122"/>
                <a:cs typeface="Calibri" pitchFamily="34" charset="-120"/>
              </a:rPr>
              <a:t>confirmation_letters and school_payment_records store the learner’s name/ID as text, independent of later profile edits.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D346D59-A40B-55BC-5D1B-1961F6C6A13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E4F2F99-1C0D-540E-4C15-EF0D9A93601D}"/>
              </a:ext>
            </a:extLst>
          </p:cNvPr>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DATABASE DESIGN</a:t>
            </a:r>
            <a:endParaRPr lang="en-US" sz="1200" dirty="0"/>
          </a:p>
        </p:txBody>
      </p:sp>
      <p:sp>
        <p:nvSpPr>
          <p:cNvPr id="3" name="Text 1">
            <a:extLst>
              <a:ext uri="{FF2B5EF4-FFF2-40B4-BE49-F238E27FC236}">
                <a16:creationId xmlns:a16="http://schemas.microsoft.com/office/drawing/2014/main" id="{31AB194D-A7E1-779A-B2F8-D737842E1036}"/>
              </a:ext>
            </a:extLst>
          </p:cNvPr>
          <p:cNvSpPr txBox="1"/>
          <p:nvPr/>
        </p:nvSpPr>
        <p:spPr>
          <a:xfrm>
            <a:off x="548640" y="658368"/>
            <a:ext cx="11365992" cy="685800"/>
          </a:xfrm>
          <a:prstGeom prst="rect">
            <a:avLst/>
          </a:prstGeom>
          <a:noFill/>
          <a:ln/>
        </p:spPr>
        <p:txBody>
          <a:bodyPr wrap="square" lIns="0" tIns="0" rIns="0" bIns="0" rtlCol="0" anchor="ctr"/>
          <a:lstStyle/>
          <a:p>
            <a:pPr marL="0" indent="0">
              <a:buNone/>
            </a:pPr>
            <a:r>
              <a:rPr lang="en-US" sz="2500" b="1" dirty="0">
                <a:solidFill>
                  <a:srgbClr val="3E2417"/>
                </a:solidFill>
                <a:latin typeface="Cambria" pitchFamily="34" charset="0"/>
                <a:ea typeface="Cambria" pitchFamily="34" charset="-122"/>
                <a:cs typeface="Cambria" pitchFamily="34" charset="-120"/>
              </a:rPr>
              <a:t>ERD and Database Design - Eleven entities behind the enrolment workflow</a:t>
            </a:r>
            <a:endParaRPr lang="en-US" sz="2500" dirty="0"/>
          </a:p>
        </p:txBody>
      </p:sp>
      <p:pic>
        <p:nvPicPr>
          <p:cNvPr id="7" name="Picture 6">
            <a:extLst>
              <a:ext uri="{FF2B5EF4-FFF2-40B4-BE49-F238E27FC236}">
                <a16:creationId xmlns:a16="http://schemas.microsoft.com/office/drawing/2014/main" id="{D6A15649-D476-B071-6519-9D57256CB89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41000"/>
                    </a14:imgEffect>
                    <a14:imgEffect>
                      <a14:brightnessContrast bright="-6000"/>
                    </a14:imgEffect>
                  </a14:imgLayer>
                </a14:imgProps>
              </a:ext>
            </a:extLst>
          </a:blip>
          <a:stretch>
            <a:fillRect/>
          </a:stretch>
        </p:blipFill>
        <p:spPr>
          <a:xfrm>
            <a:off x="2305455" y="1344168"/>
            <a:ext cx="7645941" cy="5400000"/>
          </a:xfrm>
          <a:prstGeom prst="rect">
            <a:avLst/>
          </a:prstGeom>
          <a:ln>
            <a:solidFill>
              <a:schemeClr val="tx1"/>
            </a:solidFill>
          </a:ln>
        </p:spPr>
      </p:pic>
    </p:spTree>
    <p:extLst>
      <p:ext uri="{BB962C8B-B14F-4D97-AF65-F5344CB8AC3E}">
        <p14:creationId xmlns:p14="http://schemas.microsoft.com/office/powerpoint/2010/main" val="907060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INTERFACE DESIGN</a:t>
            </a:r>
            <a:endParaRPr lang="en-US" sz="1200" dirty="0"/>
          </a:p>
        </p:txBody>
      </p:sp>
      <p:sp>
        <p:nvSpPr>
          <p:cNvPr id="3" name="Text 1"/>
          <p:cNvSpPr txBox="1"/>
          <p:nvPr/>
        </p:nvSpPr>
        <p:spPr>
          <a:xfrm>
            <a:off x="548640" y="658368"/>
            <a:ext cx="11365992"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Interface Design - Required screens and how users move through them</a:t>
            </a:r>
            <a:endParaRPr lang="en-US" sz="3000" dirty="0"/>
          </a:p>
        </p:txBody>
      </p:sp>
      <p:sp>
        <p:nvSpPr>
          <p:cNvPr id="4" name="Text 2"/>
          <p:cNvSpPr txBox="1"/>
          <p:nvPr/>
        </p:nvSpPr>
        <p:spPr>
          <a:xfrm>
            <a:off x="548640" y="1600200"/>
            <a:ext cx="5120640" cy="274320"/>
          </a:xfrm>
          <a:prstGeom prst="rect">
            <a:avLst/>
          </a:prstGeom>
          <a:noFill/>
          <a:ln/>
        </p:spPr>
        <p:txBody>
          <a:bodyPr wrap="square" lIns="0" tIns="0" rIns="0" bIns="0" rtlCol="0" anchor="ctr"/>
          <a:lstStyle/>
          <a:p>
            <a:pPr marL="0" indent="0">
              <a:buNone/>
            </a:pPr>
            <a:r>
              <a:rPr lang="en-US" sz="1100" b="1" kern="0" spc="150" dirty="0">
                <a:solidFill>
                  <a:srgbClr val="C99A3D"/>
                </a:solidFill>
                <a:latin typeface="Calibri" pitchFamily="34" charset="0"/>
                <a:ea typeface="Calibri" pitchFamily="34" charset="-122"/>
                <a:cs typeface="Calibri" pitchFamily="34" charset="-120"/>
              </a:rPr>
              <a:t>FLUTTER (PARENT)</a:t>
            </a:r>
            <a:endParaRPr lang="en-US" sz="1100" dirty="0"/>
          </a:p>
        </p:txBody>
      </p:sp>
      <p:sp>
        <p:nvSpPr>
          <p:cNvPr id="5" name="Text 3"/>
          <p:cNvSpPr txBox="1"/>
          <p:nvPr/>
        </p:nvSpPr>
        <p:spPr>
          <a:xfrm>
            <a:off x="548640" y="1920240"/>
            <a:ext cx="5120640" cy="1188720"/>
          </a:xfrm>
          <a:prstGeom prst="rect">
            <a:avLst/>
          </a:prstGeom>
          <a:noFill/>
          <a:ln/>
        </p:spPr>
        <p:txBody>
          <a:bodyPr wrap="square" lIns="0" tIns="0" rIns="0" bIns="0" rtlCol="0" anchor="ctr"/>
          <a:lstStyle/>
          <a:p>
            <a:pPr marL="0" indent="0">
              <a:lnSpc>
                <a:spcPts val="1900"/>
              </a:lnSpc>
              <a:buNone/>
            </a:pPr>
            <a:r>
              <a:rPr lang="en-US" sz="1200" dirty="0">
                <a:solidFill>
                  <a:srgbClr val="2B1B12"/>
                </a:solidFill>
                <a:latin typeface="Calibri" pitchFamily="34" charset="0"/>
                <a:ea typeface="Calibri" pitchFamily="34" charset="-122"/>
                <a:cs typeface="Calibri" pitchFamily="34" charset="-120"/>
              </a:rPr>
              <a:t>Register → Login → Home → Learner Details → Enrolment Form → Documents → Payment Information → Proof of Payment → Submit → Status → Notifications → Help &amp; Support</a:t>
            </a:r>
            <a:endParaRPr lang="en-US" sz="1200" dirty="0"/>
          </a:p>
        </p:txBody>
      </p:sp>
      <p:sp>
        <p:nvSpPr>
          <p:cNvPr id="6" name="Text 4"/>
          <p:cNvSpPr txBox="1"/>
          <p:nvPr/>
        </p:nvSpPr>
        <p:spPr>
          <a:xfrm>
            <a:off x="548640" y="3246120"/>
            <a:ext cx="5120640" cy="274320"/>
          </a:xfrm>
          <a:prstGeom prst="rect">
            <a:avLst/>
          </a:prstGeom>
          <a:noFill/>
          <a:ln/>
        </p:spPr>
        <p:txBody>
          <a:bodyPr wrap="square" lIns="0" tIns="0" rIns="0" bIns="0" rtlCol="0" anchor="ctr"/>
          <a:lstStyle/>
          <a:p>
            <a:pPr marL="0" indent="0">
              <a:buNone/>
            </a:pPr>
            <a:r>
              <a:rPr lang="en-US" sz="1100" b="1" kern="0" spc="150" dirty="0">
                <a:solidFill>
                  <a:srgbClr val="C99A3D"/>
                </a:solidFill>
                <a:latin typeface="Calibri" pitchFamily="34" charset="0"/>
                <a:ea typeface="Calibri" pitchFamily="34" charset="-122"/>
                <a:cs typeface="Calibri" pitchFamily="34" charset="-120"/>
              </a:rPr>
              <a:t>ASP.NET (ADMINISTRATOR)</a:t>
            </a:r>
            <a:endParaRPr lang="en-US" sz="1100" dirty="0"/>
          </a:p>
        </p:txBody>
      </p:sp>
      <p:sp>
        <p:nvSpPr>
          <p:cNvPr id="7" name="Text 5"/>
          <p:cNvSpPr txBox="1"/>
          <p:nvPr/>
        </p:nvSpPr>
        <p:spPr>
          <a:xfrm>
            <a:off x="548640" y="3566160"/>
            <a:ext cx="5120640" cy="1188720"/>
          </a:xfrm>
          <a:prstGeom prst="rect">
            <a:avLst/>
          </a:prstGeom>
          <a:noFill/>
          <a:ln/>
        </p:spPr>
        <p:txBody>
          <a:bodyPr wrap="square" lIns="0" tIns="0" rIns="0" bIns="0" rtlCol="0" anchor="ctr"/>
          <a:lstStyle/>
          <a:p>
            <a:pPr marL="0" indent="0">
              <a:lnSpc>
                <a:spcPts val="1900"/>
              </a:lnSpc>
              <a:buNone/>
            </a:pPr>
            <a:r>
              <a:rPr lang="en-US" sz="1200" dirty="0">
                <a:solidFill>
                  <a:srgbClr val="2B1B12"/>
                </a:solidFill>
                <a:latin typeface="Calibri" pitchFamily="34" charset="0"/>
                <a:ea typeface="Calibri" pitchFamily="34" charset="-122"/>
                <a:cs typeface="Calibri" pitchFamily="34" charset="-120"/>
              </a:rPr>
              <a:t>Login → Dashboard → Application List → Application Details → Review → Approve / Reject / Request Corrections → Notes / Message Parent → Confirmation Letter; Send Reminder from the menu</a:t>
            </a:r>
            <a:endParaRPr lang="en-US" sz="1200" dirty="0"/>
          </a:p>
        </p:txBody>
      </p:sp>
      <p:sp>
        <p:nvSpPr>
          <p:cNvPr id="8" name="Text 6"/>
          <p:cNvSpPr txBox="1"/>
          <p:nvPr/>
        </p:nvSpPr>
        <p:spPr>
          <a:xfrm>
            <a:off x="548640" y="4892040"/>
            <a:ext cx="5120640" cy="274320"/>
          </a:xfrm>
          <a:prstGeom prst="rect">
            <a:avLst/>
          </a:prstGeom>
          <a:noFill/>
          <a:ln/>
        </p:spPr>
        <p:txBody>
          <a:bodyPr wrap="square" lIns="0" tIns="0" rIns="0" bIns="0" rtlCol="0" anchor="ctr"/>
          <a:lstStyle/>
          <a:p>
            <a:pPr marL="0" indent="0">
              <a:buNone/>
            </a:pPr>
            <a:r>
              <a:rPr lang="en-US" sz="1100" b="1" kern="0" spc="150" dirty="0">
                <a:solidFill>
                  <a:srgbClr val="C99A3D"/>
                </a:solidFill>
                <a:latin typeface="Calibri" pitchFamily="34" charset="0"/>
                <a:ea typeface="Calibri" pitchFamily="34" charset="-122"/>
                <a:cs typeface="Calibri" pitchFamily="34" charset="-120"/>
              </a:rPr>
              <a:t>ASP.NET (FINANCIAL CLERK)</a:t>
            </a:r>
            <a:endParaRPr lang="en-US" sz="1100" dirty="0"/>
          </a:p>
        </p:txBody>
      </p:sp>
      <p:sp>
        <p:nvSpPr>
          <p:cNvPr id="9" name="Text 7"/>
          <p:cNvSpPr txBox="1"/>
          <p:nvPr/>
        </p:nvSpPr>
        <p:spPr>
          <a:xfrm>
            <a:off x="548640" y="5212080"/>
            <a:ext cx="5120640" cy="914400"/>
          </a:xfrm>
          <a:prstGeom prst="rect">
            <a:avLst/>
          </a:prstGeom>
          <a:noFill/>
          <a:ln/>
        </p:spPr>
        <p:txBody>
          <a:bodyPr wrap="square" lIns="0" tIns="0" rIns="0" bIns="0" rtlCol="0" anchor="ctr"/>
          <a:lstStyle/>
          <a:p>
            <a:pPr>
              <a:lnSpc>
                <a:spcPts val="1900"/>
              </a:lnSpc>
            </a:pPr>
            <a:r>
              <a:rPr lang="en-US" sz="1200" dirty="0">
                <a:solidFill>
                  <a:srgbClr val="2B1B12"/>
                </a:solidFill>
                <a:latin typeface="Calibri" pitchFamily="34" charset="0"/>
                <a:ea typeface="Calibri" pitchFamily="34" charset="-122"/>
                <a:cs typeface="Calibri" pitchFamily="34" charset="-120"/>
              </a:rPr>
              <a:t>Login → Dashboard → Payments Verification→ View (opens Proof of Payment)→ Payment Details/Verified Payment</a:t>
            </a:r>
            <a:endParaRPr lang="en-US" sz="1200" dirty="0"/>
          </a:p>
        </p:txBody>
      </p:sp>
      <p:sp>
        <p:nvSpPr>
          <p:cNvPr id="10" name="Shape 8"/>
          <p:cNvSpPr/>
          <p:nvPr/>
        </p:nvSpPr>
        <p:spPr>
          <a:xfrm>
            <a:off x="6126480" y="1600200"/>
            <a:ext cx="5486400" cy="4764960"/>
          </a:xfrm>
          <a:prstGeom prst="roundRect">
            <a:avLst>
              <a:gd name="adj" fmla="val 1600"/>
            </a:avLst>
          </a:prstGeom>
          <a:solidFill>
            <a:srgbClr val="3E2417"/>
          </a:solidFill>
          <a:ln/>
        </p:spPr>
        <p:txBody>
          <a:bodyPr/>
          <a:lstStyle/>
          <a:p>
            <a:endParaRPr lang="en-ZA"/>
          </a:p>
        </p:txBody>
      </p:sp>
      <p:sp>
        <p:nvSpPr>
          <p:cNvPr id="11" name="Text 9"/>
          <p:cNvSpPr txBox="1"/>
          <p:nvPr/>
        </p:nvSpPr>
        <p:spPr>
          <a:xfrm>
            <a:off x="6355080" y="1783080"/>
            <a:ext cx="502920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Every screen maps to a requirement</a:t>
            </a:r>
            <a:endParaRPr lang="en-US" sz="1500" dirty="0"/>
          </a:p>
        </p:txBody>
      </p:sp>
      <p:sp>
        <p:nvSpPr>
          <p:cNvPr id="12" name="Text 10"/>
          <p:cNvSpPr txBox="1"/>
          <p:nvPr/>
        </p:nvSpPr>
        <p:spPr>
          <a:xfrm>
            <a:off x="6355080" y="2331720"/>
            <a:ext cx="3749040" cy="365760"/>
          </a:xfrm>
          <a:prstGeom prst="rect">
            <a:avLst/>
          </a:prstGeom>
          <a:noFill/>
          <a:ln/>
        </p:spPr>
        <p:txBody>
          <a:bodyPr wrap="square" lIns="0" tIns="0" rIns="0" bIns="0" rtlCol="0" anchor="ctr"/>
          <a:lstStyle/>
          <a:p>
            <a:pPr marL="0" indent="0">
              <a:buNone/>
            </a:pPr>
            <a:r>
              <a:rPr lang="en-US" sz="1200" dirty="0">
                <a:solidFill>
                  <a:srgbClr val="E7DCCF"/>
                </a:solidFill>
                <a:latin typeface="Calibri" pitchFamily="34" charset="0"/>
                <a:ea typeface="Calibri" pitchFamily="34" charset="-122"/>
                <a:cs typeface="Calibri" pitchFamily="34" charset="-120"/>
              </a:rPr>
              <a:t>Enrolment Form</a:t>
            </a:r>
            <a:endParaRPr lang="en-US" sz="1200" dirty="0"/>
          </a:p>
        </p:txBody>
      </p:sp>
      <p:sp>
        <p:nvSpPr>
          <p:cNvPr id="13" name="Shape 11"/>
          <p:cNvSpPr/>
          <p:nvPr/>
        </p:nvSpPr>
        <p:spPr>
          <a:xfrm>
            <a:off x="10241280" y="2350008"/>
            <a:ext cx="1097280" cy="292608"/>
          </a:xfrm>
          <a:prstGeom prst="roundRect">
            <a:avLst>
              <a:gd name="adj" fmla="val 18750"/>
            </a:avLst>
          </a:prstGeom>
          <a:solidFill>
            <a:srgbClr val="C99A3D"/>
          </a:solidFill>
          <a:ln/>
        </p:spPr>
        <p:txBody>
          <a:bodyPr/>
          <a:lstStyle/>
          <a:p>
            <a:endParaRPr lang="en-ZA"/>
          </a:p>
        </p:txBody>
      </p:sp>
      <p:sp>
        <p:nvSpPr>
          <p:cNvPr id="14" name="Text 12"/>
          <p:cNvSpPr txBox="1"/>
          <p:nvPr/>
        </p:nvSpPr>
        <p:spPr>
          <a:xfrm>
            <a:off x="10241280" y="2350008"/>
            <a:ext cx="10972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FR2</a:t>
            </a:r>
            <a:endParaRPr lang="en-US" sz="1050" dirty="0"/>
          </a:p>
        </p:txBody>
      </p:sp>
      <p:sp>
        <p:nvSpPr>
          <p:cNvPr id="15" name="Text 13"/>
          <p:cNvSpPr txBox="1"/>
          <p:nvPr/>
        </p:nvSpPr>
        <p:spPr>
          <a:xfrm>
            <a:off x="6355080" y="2834640"/>
            <a:ext cx="3749040" cy="365760"/>
          </a:xfrm>
          <a:prstGeom prst="rect">
            <a:avLst/>
          </a:prstGeom>
          <a:noFill/>
          <a:ln/>
        </p:spPr>
        <p:txBody>
          <a:bodyPr wrap="square" lIns="0" tIns="0" rIns="0" bIns="0" rtlCol="0" anchor="ctr"/>
          <a:lstStyle/>
          <a:p>
            <a:pPr marL="0" indent="0">
              <a:buNone/>
            </a:pPr>
            <a:r>
              <a:rPr lang="en-US" sz="1200" dirty="0">
                <a:solidFill>
                  <a:srgbClr val="E7DCCF"/>
                </a:solidFill>
                <a:latin typeface="Calibri" pitchFamily="34" charset="0"/>
                <a:ea typeface="Calibri" pitchFamily="34" charset="-122"/>
                <a:cs typeface="Calibri" pitchFamily="34" charset="-120"/>
              </a:rPr>
              <a:t>Supporting Documents</a:t>
            </a:r>
            <a:endParaRPr lang="en-US" sz="1200" dirty="0"/>
          </a:p>
        </p:txBody>
      </p:sp>
      <p:sp>
        <p:nvSpPr>
          <p:cNvPr id="16" name="Shape 14"/>
          <p:cNvSpPr/>
          <p:nvPr/>
        </p:nvSpPr>
        <p:spPr>
          <a:xfrm>
            <a:off x="10241280" y="2852928"/>
            <a:ext cx="1097280" cy="292608"/>
          </a:xfrm>
          <a:prstGeom prst="roundRect">
            <a:avLst>
              <a:gd name="adj" fmla="val 18750"/>
            </a:avLst>
          </a:prstGeom>
          <a:solidFill>
            <a:srgbClr val="C99A3D"/>
          </a:solidFill>
          <a:ln/>
        </p:spPr>
        <p:txBody>
          <a:bodyPr/>
          <a:lstStyle/>
          <a:p>
            <a:endParaRPr lang="en-ZA"/>
          </a:p>
        </p:txBody>
      </p:sp>
      <p:sp>
        <p:nvSpPr>
          <p:cNvPr id="17" name="Text 15"/>
          <p:cNvSpPr txBox="1"/>
          <p:nvPr/>
        </p:nvSpPr>
        <p:spPr>
          <a:xfrm>
            <a:off x="10241280" y="2852928"/>
            <a:ext cx="10972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FR3</a:t>
            </a:r>
            <a:endParaRPr lang="en-US" sz="1050" dirty="0"/>
          </a:p>
        </p:txBody>
      </p:sp>
      <p:sp>
        <p:nvSpPr>
          <p:cNvPr id="18" name="Text 16"/>
          <p:cNvSpPr txBox="1"/>
          <p:nvPr/>
        </p:nvSpPr>
        <p:spPr>
          <a:xfrm>
            <a:off x="6355080" y="3337560"/>
            <a:ext cx="3749040" cy="365760"/>
          </a:xfrm>
          <a:prstGeom prst="rect">
            <a:avLst/>
          </a:prstGeom>
          <a:noFill/>
          <a:ln/>
        </p:spPr>
        <p:txBody>
          <a:bodyPr wrap="square" lIns="0" tIns="0" rIns="0" bIns="0" rtlCol="0" anchor="ctr"/>
          <a:lstStyle/>
          <a:p>
            <a:pPr marL="0" indent="0">
              <a:buNone/>
            </a:pPr>
            <a:r>
              <a:rPr lang="en-US" sz="1200" dirty="0">
                <a:solidFill>
                  <a:srgbClr val="E7DCCF"/>
                </a:solidFill>
                <a:latin typeface="Calibri" pitchFamily="34" charset="0"/>
                <a:ea typeface="Calibri" pitchFamily="34" charset="-122"/>
                <a:cs typeface="Calibri" pitchFamily="34" charset="-120"/>
              </a:rPr>
              <a:t>Proof of Payment</a:t>
            </a:r>
            <a:endParaRPr lang="en-US" sz="1200" dirty="0"/>
          </a:p>
        </p:txBody>
      </p:sp>
      <p:sp>
        <p:nvSpPr>
          <p:cNvPr id="19" name="Shape 17"/>
          <p:cNvSpPr/>
          <p:nvPr/>
        </p:nvSpPr>
        <p:spPr>
          <a:xfrm>
            <a:off x="10241280" y="3355848"/>
            <a:ext cx="1097280" cy="292608"/>
          </a:xfrm>
          <a:prstGeom prst="roundRect">
            <a:avLst>
              <a:gd name="adj" fmla="val 18750"/>
            </a:avLst>
          </a:prstGeom>
          <a:solidFill>
            <a:srgbClr val="C99A3D"/>
          </a:solidFill>
          <a:ln/>
        </p:spPr>
        <p:txBody>
          <a:bodyPr/>
          <a:lstStyle/>
          <a:p>
            <a:endParaRPr lang="en-ZA"/>
          </a:p>
        </p:txBody>
      </p:sp>
      <p:sp>
        <p:nvSpPr>
          <p:cNvPr id="20" name="Text 18"/>
          <p:cNvSpPr txBox="1"/>
          <p:nvPr/>
        </p:nvSpPr>
        <p:spPr>
          <a:xfrm>
            <a:off x="10241280" y="3355848"/>
            <a:ext cx="10972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FR4</a:t>
            </a:r>
            <a:endParaRPr lang="en-US" sz="1050" dirty="0"/>
          </a:p>
        </p:txBody>
      </p:sp>
      <p:sp>
        <p:nvSpPr>
          <p:cNvPr id="21" name="Text 19"/>
          <p:cNvSpPr txBox="1"/>
          <p:nvPr/>
        </p:nvSpPr>
        <p:spPr>
          <a:xfrm>
            <a:off x="6355080" y="3840480"/>
            <a:ext cx="3749040" cy="365760"/>
          </a:xfrm>
          <a:prstGeom prst="rect">
            <a:avLst/>
          </a:prstGeom>
          <a:noFill/>
          <a:ln/>
        </p:spPr>
        <p:txBody>
          <a:bodyPr wrap="square" lIns="0" tIns="0" rIns="0" bIns="0" rtlCol="0" anchor="ctr"/>
          <a:lstStyle/>
          <a:p>
            <a:pPr marL="0" indent="0">
              <a:buNone/>
            </a:pPr>
            <a:r>
              <a:rPr lang="en-US" sz="1200" dirty="0">
                <a:solidFill>
                  <a:srgbClr val="E7DCCF"/>
                </a:solidFill>
                <a:latin typeface="Calibri" pitchFamily="34" charset="0"/>
                <a:ea typeface="Calibri" pitchFamily="34" charset="-122"/>
                <a:cs typeface="Calibri" pitchFamily="34" charset="-120"/>
              </a:rPr>
              <a:t>Application Status</a:t>
            </a:r>
            <a:endParaRPr lang="en-US" sz="1200" dirty="0"/>
          </a:p>
        </p:txBody>
      </p:sp>
      <p:sp>
        <p:nvSpPr>
          <p:cNvPr id="22" name="Shape 20"/>
          <p:cNvSpPr/>
          <p:nvPr/>
        </p:nvSpPr>
        <p:spPr>
          <a:xfrm>
            <a:off x="10241280" y="3858768"/>
            <a:ext cx="1097280" cy="292608"/>
          </a:xfrm>
          <a:prstGeom prst="roundRect">
            <a:avLst>
              <a:gd name="adj" fmla="val 18750"/>
            </a:avLst>
          </a:prstGeom>
          <a:solidFill>
            <a:srgbClr val="C99A3D"/>
          </a:solidFill>
          <a:ln/>
        </p:spPr>
        <p:txBody>
          <a:bodyPr/>
          <a:lstStyle/>
          <a:p>
            <a:endParaRPr lang="en-ZA"/>
          </a:p>
        </p:txBody>
      </p:sp>
      <p:sp>
        <p:nvSpPr>
          <p:cNvPr id="23" name="Text 21"/>
          <p:cNvSpPr txBox="1"/>
          <p:nvPr/>
        </p:nvSpPr>
        <p:spPr>
          <a:xfrm>
            <a:off x="10241280" y="3858768"/>
            <a:ext cx="10972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FR5</a:t>
            </a:r>
            <a:endParaRPr lang="en-US" sz="1050" dirty="0"/>
          </a:p>
        </p:txBody>
      </p:sp>
      <p:sp>
        <p:nvSpPr>
          <p:cNvPr id="24" name="Text 22"/>
          <p:cNvSpPr txBox="1"/>
          <p:nvPr/>
        </p:nvSpPr>
        <p:spPr>
          <a:xfrm>
            <a:off x="6355080" y="4343400"/>
            <a:ext cx="3749040" cy="365760"/>
          </a:xfrm>
          <a:prstGeom prst="rect">
            <a:avLst/>
          </a:prstGeom>
          <a:noFill/>
          <a:ln/>
        </p:spPr>
        <p:txBody>
          <a:bodyPr wrap="square" lIns="0" tIns="0" rIns="0" bIns="0" rtlCol="0" anchor="ctr"/>
          <a:lstStyle/>
          <a:p>
            <a:pPr marL="0" indent="0">
              <a:buNone/>
            </a:pPr>
            <a:r>
              <a:rPr lang="en-US" sz="1200" dirty="0">
                <a:solidFill>
                  <a:srgbClr val="E7DCCF"/>
                </a:solidFill>
                <a:latin typeface="Calibri" pitchFamily="34" charset="0"/>
                <a:ea typeface="Calibri" pitchFamily="34" charset="-122"/>
                <a:cs typeface="Calibri" pitchFamily="34" charset="-120"/>
              </a:rPr>
              <a:t>Review Application</a:t>
            </a:r>
            <a:endParaRPr lang="en-US" sz="1200" dirty="0"/>
          </a:p>
        </p:txBody>
      </p:sp>
      <p:sp>
        <p:nvSpPr>
          <p:cNvPr id="25" name="Shape 23"/>
          <p:cNvSpPr/>
          <p:nvPr/>
        </p:nvSpPr>
        <p:spPr>
          <a:xfrm>
            <a:off x="10241280" y="4361688"/>
            <a:ext cx="1097280" cy="292608"/>
          </a:xfrm>
          <a:prstGeom prst="roundRect">
            <a:avLst>
              <a:gd name="adj" fmla="val 18750"/>
            </a:avLst>
          </a:prstGeom>
          <a:solidFill>
            <a:srgbClr val="C99A3D"/>
          </a:solidFill>
          <a:ln/>
        </p:spPr>
        <p:txBody>
          <a:bodyPr/>
          <a:lstStyle/>
          <a:p>
            <a:endParaRPr lang="en-ZA"/>
          </a:p>
        </p:txBody>
      </p:sp>
      <p:sp>
        <p:nvSpPr>
          <p:cNvPr id="26" name="Text 24"/>
          <p:cNvSpPr txBox="1"/>
          <p:nvPr/>
        </p:nvSpPr>
        <p:spPr>
          <a:xfrm>
            <a:off x="10241280" y="4361688"/>
            <a:ext cx="10972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FR8</a:t>
            </a:r>
            <a:endParaRPr lang="en-US" sz="1050" dirty="0"/>
          </a:p>
        </p:txBody>
      </p:sp>
      <p:sp>
        <p:nvSpPr>
          <p:cNvPr id="27" name="Text 25"/>
          <p:cNvSpPr txBox="1"/>
          <p:nvPr/>
        </p:nvSpPr>
        <p:spPr>
          <a:xfrm>
            <a:off x="6355080" y="4846320"/>
            <a:ext cx="3749040" cy="365760"/>
          </a:xfrm>
          <a:prstGeom prst="rect">
            <a:avLst/>
          </a:prstGeom>
          <a:noFill/>
          <a:ln/>
        </p:spPr>
        <p:txBody>
          <a:bodyPr wrap="square" lIns="0" tIns="0" rIns="0" bIns="0" rtlCol="0" anchor="ctr"/>
          <a:lstStyle/>
          <a:p>
            <a:pPr marL="0" indent="0">
              <a:buNone/>
            </a:pPr>
            <a:r>
              <a:rPr lang="en-US" sz="1200" dirty="0">
                <a:solidFill>
                  <a:srgbClr val="E7DCCF"/>
                </a:solidFill>
                <a:latin typeface="Calibri" pitchFamily="34" charset="0"/>
                <a:ea typeface="Calibri" pitchFamily="34" charset="-122"/>
                <a:cs typeface="Calibri" pitchFamily="34" charset="-120"/>
              </a:rPr>
              <a:t>Payment Verification</a:t>
            </a:r>
            <a:endParaRPr lang="en-US" sz="1200" dirty="0"/>
          </a:p>
        </p:txBody>
      </p:sp>
      <p:sp>
        <p:nvSpPr>
          <p:cNvPr id="28" name="Shape 26"/>
          <p:cNvSpPr/>
          <p:nvPr/>
        </p:nvSpPr>
        <p:spPr>
          <a:xfrm>
            <a:off x="10241280" y="4864608"/>
            <a:ext cx="1097280" cy="292608"/>
          </a:xfrm>
          <a:prstGeom prst="roundRect">
            <a:avLst>
              <a:gd name="adj" fmla="val 18750"/>
            </a:avLst>
          </a:prstGeom>
          <a:solidFill>
            <a:srgbClr val="C99A3D"/>
          </a:solidFill>
          <a:ln/>
        </p:spPr>
        <p:txBody>
          <a:bodyPr/>
          <a:lstStyle/>
          <a:p>
            <a:endParaRPr lang="en-ZA"/>
          </a:p>
        </p:txBody>
      </p:sp>
      <p:sp>
        <p:nvSpPr>
          <p:cNvPr id="29" name="Text 27"/>
          <p:cNvSpPr txBox="1"/>
          <p:nvPr/>
        </p:nvSpPr>
        <p:spPr>
          <a:xfrm>
            <a:off x="10241280" y="4864608"/>
            <a:ext cx="10972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FR6</a:t>
            </a:r>
            <a:endParaRPr lang="en-US" sz="1050" dirty="0"/>
          </a:p>
        </p:txBody>
      </p:sp>
      <p:sp>
        <p:nvSpPr>
          <p:cNvPr id="30" name="Text 28"/>
          <p:cNvSpPr txBox="1"/>
          <p:nvPr/>
        </p:nvSpPr>
        <p:spPr>
          <a:xfrm>
            <a:off x="6355080" y="5349240"/>
            <a:ext cx="3749040" cy="365760"/>
          </a:xfrm>
          <a:prstGeom prst="rect">
            <a:avLst/>
          </a:prstGeom>
          <a:noFill/>
          <a:ln/>
        </p:spPr>
        <p:txBody>
          <a:bodyPr wrap="square" lIns="0" tIns="0" rIns="0" bIns="0" rtlCol="0" anchor="ctr"/>
          <a:lstStyle/>
          <a:p>
            <a:pPr marL="0" indent="0">
              <a:buNone/>
            </a:pPr>
            <a:r>
              <a:rPr lang="en-US" sz="1200" dirty="0">
                <a:solidFill>
                  <a:srgbClr val="E7DCCF"/>
                </a:solidFill>
                <a:latin typeface="Calibri" pitchFamily="34" charset="0"/>
                <a:ea typeface="Calibri" pitchFamily="34" charset="-122"/>
                <a:cs typeface="Calibri" pitchFamily="34" charset="-120"/>
              </a:rPr>
              <a:t>Confirmation Letter</a:t>
            </a:r>
            <a:endParaRPr lang="en-US" sz="1200" dirty="0"/>
          </a:p>
        </p:txBody>
      </p:sp>
      <p:sp>
        <p:nvSpPr>
          <p:cNvPr id="31" name="Shape 29"/>
          <p:cNvSpPr/>
          <p:nvPr/>
        </p:nvSpPr>
        <p:spPr>
          <a:xfrm>
            <a:off x="10241280" y="5367528"/>
            <a:ext cx="1097280" cy="292608"/>
          </a:xfrm>
          <a:prstGeom prst="roundRect">
            <a:avLst>
              <a:gd name="adj" fmla="val 18750"/>
            </a:avLst>
          </a:prstGeom>
          <a:solidFill>
            <a:srgbClr val="C99A3D"/>
          </a:solidFill>
          <a:ln/>
        </p:spPr>
        <p:txBody>
          <a:bodyPr/>
          <a:lstStyle/>
          <a:p>
            <a:endParaRPr lang="en-ZA"/>
          </a:p>
        </p:txBody>
      </p:sp>
      <p:sp>
        <p:nvSpPr>
          <p:cNvPr id="32" name="Text 30"/>
          <p:cNvSpPr txBox="1"/>
          <p:nvPr/>
        </p:nvSpPr>
        <p:spPr>
          <a:xfrm>
            <a:off x="10241280" y="5367528"/>
            <a:ext cx="10972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FR12</a:t>
            </a:r>
            <a:endParaRPr lang="en-US" sz="1050" dirty="0"/>
          </a:p>
        </p:txBody>
      </p:sp>
      <p:sp>
        <p:nvSpPr>
          <p:cNvPr id="34" name="Text 28"/>
          <p:cNvSpPr txBox="1"/>
          <p:nvPr/>
        </p:nvSpPr>
        <p:spPr>
          <a:xfrm>
            <a:off x="6355080" y="5849160"/>
            <a:ext cx="3749040" cy="365760"/>
          </a:xfrm>
          <a:prstGeom prst="rect">
            <a:avLst/>
          </a:prstGeom>
          <a:noFill/>
          <a:ln/>
        </p:spPr>
        <p:txBody>
          <a:bodyPr wrap="square" lIns="0" tIns="0" rIns="0" bIns="0" rtlCol="0" anchor="ctr"/>
          <a:lstStyle/>
          <a:p>
            <a:pPr marL="0" indent="0">
              <a:buNone/>
            </a:pPr>
            <a:r>
              <a:rPr lang="en-US" sz="1200" dirty="0">
                <a:solidFill>
                  <a:srgbClr val="E7DCCF"/>
                </a:solidFill>
                <a:latin typeface="Calibri" pitchFamily="34" charset="0"/>
                <a:ea typeface="Calibri" pitchFamily="34" charset="-122"/>
                <a:cs typeface="Calibri" pitchFamily="34" charset="-120"/>
              </a:rPr>
              <a:t>Payment Information</a:t>
            </a:r>
            <a:endParaRPr lang="en-US" sz="1200" dirty="0"/>
          </a:p>
        </p:txBody>
      </p:sp>
      <p:sp>
        <p:nvSpPr>
          <p:cNvPr id="35" name="Shape 29"/>
          <p:cNvSpPr/>
          <p:nvPr/>
        </p:nvSpPr>
        <p:spPr>
          <a:xfrm>
            <a:off x="10241280" y="5867448"/>
            <a:ext cx="1097280" cy="292608"/>
          </a:xfrm>
          <a:prstGeom prst="roundRect">
            <a:avLst>
              <a:gd name="adj" fmla="val 18750"/>
            </a:avLst>
          </a:prstGeom>
          <a:solidFill>
            <a:srgbClr val="C99A3D"/>
          </a:solidFill>
          <a:ln/>
        </p:spPr>
        <p:txBody>
          <a:bodyPr/>
          <a:lstStyle/>
          <a:p>
            <a:endParaRPr lang="en-ZA"/>
          </a:p>
        </p:txBody>
      </p:sp>
      <p:sp>
        <p:nvSpPr>
          <p:cNvPr id="36" name="Text 30"/>
          <p:cNvSpPr txBox="1"/>
          <p:nvPr/>
        </p:nvSpPr>
        <p:spPr>
          <a:xfrm>
            <a:off x="10241280" y="5867448"/>
            <a:ext cx="10972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FR15</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C3EDEF4-DAF9-5685-2AAC-7B82773C438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BD2CA48-C4A4-EF7C-D221-548688401DBC}"/>
              </a:ext>
            </a:extLst>
          </p:cNvPr>
          <p:cNvSpPr txBox="1"/>
          <p:nvPr/>
        </p:nvSpPr>
        <p:spPr>
          <a:xfrm>
            <a:off x="548640" y="365760"/>
            <a:ext cx="9144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99A3D"/>
                </a:solidFill>
                <a:effectLst/>
                <a:uLnTx/>
                <a:uFillTx/>
                <a:latin typeface="Calibri" pitchFamily="34" charset="0"/>
                <a:ea typeface="Calibri" pitchFamily="34" charset="-122"/>
                <a:cs typeface="Calibri" pitchFamily="34" charset="-120"/>
              </a:rPr>
              <a:t>PROTOTYPE STATUS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249DB5D5-8CF3-8F33-E3D8-B0A486089F16}"/>
              </a:ext>
            </a:extLst>
          </p:cNvPr>
          <p:cNvSpPr txBox="1"/>
          <p:nvPr/>
        </p:nvSpPr>
        <p:spPr>
          <a:xfrm>
            <a:off x="548640" y="658368"/>
            <a:ext cx="1106424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3E2417"/>
                </a:solidFill>
                <a:effectLst/>
                <a:uLnTx/>
                <a:uFillTx/>
                <a:latin typeface="Cambria" pitchFamily="34" charset="0"/>
                <a:ea typeface="Cambria" pitchFamily="34" charset="-122"/>
                <a:cs typeface="Cambria" pitchFamily="34" charset="-120"/>
              </a:rPr>
              <a:t>Flutter mobile app — key screens for parents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ECCCA43A-8E0E-E9DB-1BE3-DFD0191A44C1}"/>
              </a:ext>
            </a:extLst>
          </p:cNvPr>
          <p:cNvSpPr txBox="1"/>
          <p:nvPr/>
        </p:nvSpPr>
        <p:spPr>
          <a:xfrm>
            <a:off x="11457432" y="6400800"/>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7A6A5C"/>
              </a:solidFill>
              <a:effectLst/>
              <a:uLnTx/>
              <a:uFillTx/>
              <a:latin typeface="Calibri" pitchFamily="34" charset="0"/>
              <a:ea typeface="Calibri" pitchFamily="34" charset="-122"/>
              <a:cs typeface="Calibri" pitchFamily="34" charset="-12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E026B622-C07F-38E3-7B52-D8B1D869BC77}"/>
              </a:ext>
            </a:extLst>
          </p:cNvPr>
          <p:cNvPicPr>
            <a:picLocks noChangeAspect="1"/>
          </p:cNvPicPr>
          <p:nvPr/>
        </p:nvPicPr>
        <p:blipFill>
          <a:blip r:embed="rId3"/>
          <a:stretch>
            <a:fillRect/>
          </a:stretch>
        </p:blipFill>
        <p:spPr>
          <a:xfrm>
            <a:off x="548640" y="1636776"/>
            <a:ext cx="10908792" cy="4562856"/>
          </a:xfrm>
          <a:prstGeom prst="rect">
            <a:avLst/>
          </a:prstGeom>
        </p:spPr>
      </p:pic>
      <p:sp>
        <p:nvSpPr>
          <p:cNvPr id="18" name="TextBox 17">
            <a:extLst>
              <a:ext uri="{FF2B5EF4-FFF2-40B4-BE49-F238E27FC236}">
                <a16:creationId xmlns:a16="http://schemas.microsoft.com/office/drawing/2014/main" id="{F421EA33-6D86-92BD-B5DA-D354CA09E742}"/>
              </a:ext>
            </a:extLst>
          </p:cNvPr>
          <p:cNvSpPr txBox="1"/>
          <p:nvPr/>
        </p:nvSpPr>
        <p:spPr>
          <a:xfrm>
            <a:off x="93307" y="1344168"/>
            <a:ext cx="1182132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sng" strike="noStrike" kern="1200" cap="none" spc="0" normalizeH="0" baseline="0" noProof="0" dirty="0">
                <a:ln>
                  <a:noFill/>
                </a:ln>
                <a:solidFill>
                  <a:prstClr val="black"/>
                </a:solidFill>
                <a:effectLst/>
                <a:uLnTx/>
                <a:uFillTx/>
                <a:latin typeface="Calibri" panose="020F0502020204030204"/>
                <a:ea typeface="+mn-ea"/>
                <a:cs typeface="+mn-cs"/>
                <a:hlinkClick r:id="rId4"/>
              </a:rPr>
              <a:t>https://www.figma.com/design/afkx2OMta474iXNnlscqO5/Flutter-and-ASP.NET-interfaces?t=oVbnTCBoJvalux20-1</a:t>
            </a:r>
            <a:endPar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694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PROTOTYPE STATUS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ASP.NET web app — key screens across both roles</a:t>
            </a:r>
            <a:endParaRPr lang="en-US" sz="3000" dirty="0"/>
          </a:p>
        </p:txBody>
      </p:sp>
      <p:pic>
        <p:nvPicPr>
          <p:cNvPr id="5" name="Picture 4">
            <a:extLst>
              <a:ext uri="{FF2B5EF4-FFF2-40B4-BE49-F238E27FC236}">
                <a16:creationId xmlns:a16="http://schemas.microsoft.com/office/drawing/2014/main" id="{1C96F061-BD0F-99F5-738A-B91A38EFF97C}"/>
              </a:ext>
            </a:extLst>
          </p:cNvPr>
          <p:cNvPicPr preferRelativeResize="0">
            <a:picLocks/>
          </p:cNvPicPr>
          <p:nvPr/>
        </p:nvPicPr>
        <p:blipFill>
          <a:blip r:embed="rId3"/>
          <a:stretch>
            <a:fillRect/>
          </a:stretch>
        </p:blipFill>
        <p:spPr>
          <a:xfrm>
            <a:off x="516714" y="4017960"/>
            <a:ext cx="3600000" cy="2520000"/>
          </a:xfrm>
          <a:prstGeom prst="rect">
            <a:avLst/>
          </a:prstGeom>
          <a:ln>
            <a:solidFill>
              <a:schemeClr val="tx1"/>
            </a:solidFill>
          </a:ln>
        </p:spPr>
      </p:pic>
      <p:pic>
        <p:nvPicPr>
          <p:cNvPr id="7" name="Picture 6">
            <a:extLst>
              <a:ext uri="{FF2B5EF4-FFF2-40B4-BE49-F238E27FC236}">
                <a16:creationId xmlns:a16="http://schemas.microsoft.com/office/drawing/2014/main" id="{FC51C6F3-A544-68D9-58DA-DB51E666233A}"/>
              </a:ext>
            </a:extLst>
          </p:cNvPr>
          <p:cNvPicPr preferRelativeResize="0">
            <a:picLocks/>
          </p:cNvPicPr>
          <p:nvPr/>
        </p:nvPicPr>
        <p:blipFill>
          <a:blip r:embed="rId4"/>
          <a:stretch>
            <a:fillRect/>
          </a:stretch>
        </p:blipFill>
        <p:spPr>
          <a:xfrm>
            <a:off x="516714" y="1302240"/>
            <a:ext cx="3600000" cy="2520000"/>
          </a:xfrm>
          <a:prstGeom prst="rect">
            <a:avLst/>
          </a:prstGeom>
          <a:ln>
            <a:solidFill>
              <a:schemeClr val="tx1"/>
            </a:solidFill>
          </a:ln>
        </p:spPr>
      </p:pic>
      <p:pic>
        <p:nvPicPr>
          <p:cNvPr id="13" name="Picture 12">
            <a:extLst>
              <a:ext uri="{FF2B5EF4-FFF2-40B4-BE49-F238E27FC236}">
                <a16:creationId xmlns:a16="http://schemas.microsoft.com/office/drawing/2014/main" id="{584AC380-E5F4-AA9B-30FA-DAB76C390E10}"/>
              </a:ext>
            </a:extLst>
          </p:cNvPr>
          <p:cNvPicPr preferRelativeResize="0">
            <a:picLocks/>
          </p:cNvPicPr>
          <p:nvPr/>
        </p:nvPicPr>
        <p:blipFill>
          <a:blip r:embed="rId5"/>
          <a:stretch>
            <a:fillRect/>
          </a:stretch>
        </p:blipFill>
        <p:spPr>
          <a:xfrm>
            <a:off x="4296000" y="4017960"/>
            <a:ext cx="3600000" cy="2520000"/>
          </a:xfrm>
          <a:prstGeom prst="rect">
            <a:avLst/>
          </a:prstGeom>
          <a:ln>
            <a:solidFill>
              <a:schemeClr val="tx1"/>
            </a:solidFill>
          </a:ln>
        </p:spPr>
      </p:pic>
      <p:pic>
        <p:nvPicPr>
          <p:cNvPr id="15" name="Picture 14">
            <a:extLst>
              <a:ext uri="{FF2B5EF4-FFF2-40B4-BE49-F238E27FC236}">
                <a16:creationId xmlns:a16="http://schemas.microsoft.com/office/drawing/2014/main" id="{0D17BAE6-3AB1-C843-CC8E-66B4C75D2D06}"/>
              </a:ext>
            </a:extLst>
          </p:cNvPr>
          <p:cNvPicPr preferRelativeResize="0">
            <a:picLocks/>
          </p:cNvPicPr>
          <p:nvPr/>
        </p:nvPicPr>
        <p:blipFill>
          <a:blip r:embed="rId6"/>
          <a:stretch>
            <a:fillRect/>
          </a:stretch>
        </p:blipFill>
        <p:spPr>
          <a:xfrm>
            <a:off x="8018234" y="4034603"/>
            <a:ext cx="3600000" cy="2520000"/>
          </a:xfrm>
          <a:prstGeom prst="rect">
            <a:avLst/>
          </a:prstGeom>
          <a:ln>
            <a:solidFill>
              <a:schemeClr val="tx1"/>
            </a:solidFill>
          </a:ln>
        </p:spPr>
      </p:pic>
      <p:pic>
        <p:nvPicPr>
          <p:cNvPr id="6" name="Picture 5">
            <a:extLst>
              <a:ext uri="{FF2B5EF4-FFF2-40B4-BE49-F238E27FC236}">
                <a16:creationId xmlns:a16="http://schemas.microsoft.com/office/drawing/2014/main" id="{B7C52D88-BF63-C30C-5AC0-6E54D0961950}"/>
              </a:ext>
            </a:extLst>
          </p:cNvPr>
          <p:cNvPicPr>
            <a:picLocks noChangeAspect="1"/>
          </p:cNvPicPr>
          <p:nvPr/>
        </p:nvPicPr>
        <p:blipFill>
          <a:blip r:embed="rId7"/>
          <a:stretch>
            <a:fillRect/>
          </a:stretch>
        </p:blipFill>
        <p:spPr>
          <a:xfrm>
            <a:off x="8018234" y="1302240"/>
            <a:ext cx="3535340" cy="2520000"/>
          </a:xfrm>
          <a:prstGeom prst="rect">
            <a:avLst/>
          </a:prstGeom>
          <a:ln>
            <a:solidFill>
              <a:schemeClr val="tx1"/>
            </a:solidFill>
          </a:ln>
        </p:spPr>
      </p:pic>
      <p:pic>
        <p:nvPicPr>
          <p:cNvPr id="10" name="Picture 9">
            <a:extLst>
              <a:ext uri="{FF2B5EF4-FFF2-40B4-BE49-F238E27FC236}">
                <a16:creationId xmlns:a16="http://schemas.microsoft.com/office/drawing/2014/main" id="{609AC5C8-BAB9-9235-623D-8BB922ADBBE0}"/>
              </a:ext>
            </a:extLst>
          </p:cNvPr>
          <p:cNvPicPr>
            <a:picLocks noChangeAspect="1"/>
          </p:cNvPicPr>
          <p:nvPr/>
        </p:nvPicPr>
        <p:blipFill>
          <a:blip r:embed="rId8"/>
          <a:stretch>
            <a:fillRect/>
          </a:stretch>
        </p:blipFill>
        <p:spPr>
          <a:xfrm>
            <a:off x="4295663" y="1302240"/>
            <a:ext cx="3543622" cy="2520000"/>
          </a:xfrm>
          <a:prstGeom prst="rect">
            <a:avLst/>
          </a:prstGeom>
          <a:ln>
            <a:solidFill>
              <a:schemeClr val="tx1"/>
            </a:solidFill>
          </a:ln>
        </p:spPr>
      </p:pic>
    </p:spTree>
    <p:extLst>
      <p:ext uri="{BB962C8B-B14F-4D97-AF65-F5344CB8AC3E}">
        <p14:creationId xmlns:p14="http://schemas.microsoft.com/office/powerpoint/2010/main" val="620711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DESIGN ALIGNMENT &amp; DOCUMENTATION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Every diagram traces to an approved requirement and an editable source</a:t>
            </a:r>
            <a:endParaRPr lang="en-US" sz="3000" dirty="0"/>
          </a:p>
        </p:txBody>
      </p:sp>
      <p:graphicFrame>
        <p:nvGraphicFramePr>
          <p:cNvPr id="31" name="Table 30"/>
          <p:cNvGraphicFramePr>
            <a:graphicFrameLocks noGrp="1"/>
          </p:cNvGraphicFramePr>
          <p:nvPr>
            <p:extLst>
              <p:ext uri="{D42A27DB-BD31-4B8C-83A1-F6EECF244321}">
                <p14:modId xmlns:p14="http://schemas.microsoft.com/office/powerpoint/2010/main" val="4154806342"/>
              </p:ext>
            </p:extLst>
          </p:nvPr>
        </p:nvGraphicFramePr>
        <p:xfrm>
          <a:off x="548640" y="1691640"/>
          <a:ext cx="11064240" cy="4400000"/>
        </p:xfrm>
        <a:graphic>
          <a:graphicData uri="http://schemas.openxmlformats.org/drawingml/2006/table">
            <a:tbl>
              <a:tblPr firstRow="1" bandRow="1">
                <a:tableStyleId>{5C22544A-7EE6-4342-B048-85BDC9FD1C3A}</a:tableStyleId>
              </a:tblPr>
              <a:tblGrid>
                <a:gridCol w="4200000">
                  <a:extLst>
                    <a:ext uri="{9D8B030D-6E8A-4147-A177-3AD203B41FA5}">
                      <a16:colId xmlns:a16="http://schemas.microsoft.com/office/drawing/2014/main" val="20000"/>
                    </a:ext>
                  </a:extLst>
                </a:gridCol>
                <a:gridCol w="2600000">
                  <a:extLst>
                    <a:ext uri="{9D8B030D-6E8A-4147-A177-3AD203B41FA5}">
                      <a16:colId xmlns:a16="http://schemas.microsoft.com/office/drawing/2014/main" val="20001"/>
                    </a:ext>
                  </a:extLst>
                </a:gridCol>
                <a:gridCol w="4264240">
                  <a:extLst>
                    <a:ext uri="{9D8B030D-6E8A-4147-A177-3AD203B41FA5}">
                      <a16:colId xmlns:a16="http://schemas.microsoft.com/office/drawing/2014/main" val="20002"/>
                    </a:ext>
                  </a:extLst>
                </a:gridCol>
              </a:tblGrid>
              <a:tr h="550000">
                <a:tc>
                  <a:txBody>
                    <a:bodyPr/>
                    <a:lstStyle/>
                    <a:p>
                      <a:pPr>
                        <a:defRPr sz="1300" b="1">
                          <a:solidFill>
                            <a:srgbClr val="FFFFFF"/>
                          </a:solidFill>
                          <a:latin typeface="Calibri"/>
                        </a:defRPr>
                      </a:pPr>
                      <a:r>
                        <a:t>Design</a:t>
                      </a:r>
                    </a:p>
                  </a:txBody>
                  <a:tcPr>
                    <a:solidFill>
                      <a:srgbClr val="3E2417"/>
                    </a:solidFill>
                  </a:tcPr>
                </a:tc>
                <a:tc>
                  <a:txBody>
                    <a:bodyPr/>
                    <a:lstStyle/>
                    <a:p>
                      <a:pPr>
                        <a:defRPr sz="1300" b="1">
                          <a:solidFill>
                            <a:srgbClr val="FFFFFF"/>
                          </a:solidFill>
                          <a:latin typeface="Calibri"/>
                        </a:defRPr>
                      </a:pPr>
                      <a:r>
                        <a:t>Tool used</a:t>
                      </a:r>
                    </a:p>
                  </a:txBody>
                  <a:tcPr>
                    <a:solidFill>
                      <a:srgbClr val="3E2417"/>
                    </a:solidFill>
                  </a:tcPr>
                </a:tc>
                <a:tc>
                  <a:txBody>
                    <a:bodyPr/>
                    <a:lstStyle/>
                    <a:p>
                      <a:pPr>
                        <a:defRPr sz="1300" b="1">
                          <a:solidFill>
                            <a:srgbClr val="FFFFFF"/>
                          </a:solidFill>
                          <a:latin typeface="Calibri"/>
                        </a:defRPr>
                      </a:pPr>
                      <a:r>
                        <a:t>Source link / editable file</a:t>
                      </a:r>
                    </a:p>
                  </a:txBody>
                  <a:tcPr>
                    <a:solidFill>
                      <a:srgbClr val="3E2417"/>
                    </a:solidFill>
                  </a:tcPr>
                </a:tc>
                <a:extLst>
                  <a:ext uri="{0D108BD9-81ED-4DB2-BD59-A6C34878D82A}">
                    <a16:rowId xmlns:a16="http://schemas.microsoft.com/office/drawing/2014/main" val="10000"/>
                  </a:ext>
                </a:extLst>
              </a:tr>
              <a:tr h="550000">
                <a:tc>
                  <a:txBody>
                    <a:bodyPr/>
                    <a:lstStyle/>
                    <a:p>
                      <a:pPr>
                        <a:defRPr sz="1300" b="0">
                          <a:solidFill>
                            <a:srgbClr val="2B1B12"/>
                          </a:solidFill>
                          <a:latin typeface="Calibri"/>
                        </a:defRPr>
                      </a:pPr>
                      <a:r>
                        <a:t>System architecture diagram</a:t>
                      </a:r>
                    </a:p>
                  </a:txBody>
                  <a:tcPr>
                    <a:solidFill>
                      <a:srgbClr val="FFFFFF"/>
                    </a:solidFill>
                  </a:tcPr>
                </a:tc>
                <a:tc>
                  <a:txBody>
                    <a:bodyPr/>
                    <a:lstStyle/>
                    <a:p>
                      <a:pPr>
                        <a:defRPr sz="1300" b="0">
                          <a:solidFill>
                            <a:srgbClr val="2B1B12"/>
                          </a:solidFill>
                          <a:latin typeface="Calibri"/>
                        </a:defRPr>
                      </a:pPr>
                      <a:r>
                        <a:t>Software Ideas Modeler</a:t>
                      </a:r>
                    </a:p>
                  </a:txBody>
                  <a:tcPr>
                    <a:solidFill>
                      <a:srgbClr val="FFFFFF"/>
                    </a:solidFill>
                  </a:tcPr>
                </a:tc>
                <a:tc>
                  <a:txBody>
                    <a:bodyPr/>
                    <a:lstStyle/>
                    <a:p>
                      <a:pPr>
                        <a:defRPr sz="1300" b="0">
                          <a:solidFill>
                            <a:srgbClr val="2B1B12"/>
                          </a:solidFill>
                          <a:latin typeface="Calibri"/>
                        </a:defRPr>
                      </a:pPr>
                      <a:r>
                        <a:rPr dirty="0"/>
                        <a:t>System </a:t>
                      </a:r>
                      <a:r>
                        <a:rPr dirty="0" err="1"/>
                        <a:t>Architecture.simp</a:t>
                      </a:r>
                      <a:r>
                        <a:rPr dirty="0"/>
                        <a:t> (in </a:t>
                      </a:r>
                      <a:r>
                        <a:rPr lang="en-ZA" dirty="0"/>
                        <a:t>SRS</a:t>
                      </a:r>
                      <a:r>
                        <a:rPr dirty="0"/>
                        <a:t>)</a:t>
                      </a:r>
                    </a:p>
                  </a:txBody>
                  <a:tcPr>
                    <a:solidFill>
                      <a:srgbClr val="FFFFFF"/>
                    </a:solidFill>
                  </a:tcPr>
                </a:tc>
                <a:extLst>
                  <a:ext uri="{0D108BD9-81ED-4DB2-BD59-A6C34878D82A}">
                    <a16:rowId xmlns:a16="http://schemas.microsoft.com/office/drawing/2014/main" val="10001"/>
                  </a:ext>
                </a:extLst>
              </a:tr>
              <a:tr h="550000">
                <a:tc>
                  <a:txBody>
                    <a:bodyPr/>
                    <a:lstStyle/>
                    <a:p>
                      <a:pPr>
                        <a:defRPr sz="1300" b="0">
                          <a:solidFill>
                            <a:srgbClr val="2B1B12"/>
                          </a:solidFill>
                          <a:latin typeface="Calibri"/>
                        </a:defRPr>
                      </a:pPr>
                      <a:r>
                        <a:t>Use Case Diagrams (Parent/Guardian; Staff)</a:t>
                      </a:r>
                    </a:p>
                  </a:txBody>
                  <a:tcPr>
                    <a:solidFill>
                      <a:srgbClr val="EFE6DA"/>
                    </a:solidFill>
                  </a:tcPr>
                </a:tc>
                <a:tc>
                  <a:txBody>
                    <a:bodyPr/>
                    <a:lstStyle/>
                    <a:p>
                      <a:pPr>
                        <a:defRPr sz="1300" b="0">
                          <a:solidFill>
                            <a:srgbClr val="2B1B12"/>
                          </a:solidFill>
                          <a:latin typeface="Calibri"/>
                        </a:defRPr>
                      </a:pPr>
                      <a:r>
                        <a:t>Software Ideas Modeler</a:t>
                      </a:r>
                    </a:p>
                  </a:txBody>
                  <a:tcPr>
                    <a:solidFill>
                      <a:srgbClr val="EFE6DA"/>
                    </a:solidFill>
                  </a:tcPr>
                </a:tc>
                <a:tc>
                  <a:txBody>
                    <a:bodyPr/>
                    <a:lstStyle/>
                    <a:p>
                      <a:pPr>
                        <a:defRPr sz="1300" b="0">
                          <a:solidFill>
                            <a:srgbClr val="2B1B12"/>
                          </a:solidFill>
                          <a:latin typeface="Calibri"/>
                        </a:defRPr>
                      </a:pPr>
                      <a:r>
                        <a:rPr dirty="0"/>
                        <a:t>Ctrl-Alt-</a:t>
                      </a:r>
                      <a:r>
                        <a:rPr dirty="0" err="1"/>
                        <a:t>Defeat.simp</a:t>
                      </a:r>
                      <a:r>
                        <a:rPr dirty="0"/>
                        <a:t> (in </a:t>
                      </a:r>
                      <a:r>
                        <a:rPr lang="en-ZA" dirty="0"/>
                        <a:t>SRS</a:t>
                      </a:r>
                      <a:r>
                        <a:rPr dirty="0"/>
                        <a:t>)</a:t>
                      </a:r>
                    </a:p>
                  </a:txBody>
                  <a:tcPr>
                    <a:solidFill>
                      <a:srgbClr val="EFE6DA"/>
                    </a:solidFill>
                  </a:tcPr>
                </a:tc>
                <a:extLst>
                  <a:ext uri="{0D108BD9-81ED-4DB2-BD59-A6C34878D82A}">
                    <a16:rowId xmlns:a16="http://schemas.microsoft.com/office/drawing/2014/main" val="10002"/>
                  </a:ext>
                </a:extLst>
              </a:tr>
              <a:tr h="550000">
                <a:tc>
                  <a:txBody>
                    <a:bodyPr/>
                    <a:lstStyle/>
                    <a:p>
                      <a:pPr>
                        <a:defRPr sz="1300" b="0">
                          <a:solidFill>
                            <a:srgbClr val="2B1B12"/>
                          </a:solidFill>
                          <a:latin typeface="Calibri"/>
                        </a:defRPr>
                      </a:pPr>
                      <a:r>
                        <a:t>Sequence Diagrams 1–3</a:t>
                      </a:r>
                    </a:p>
                  </a:txBody>
                  <a:tcPr>
                    <a:solidFill>
                      <a:srgbClr val="FFFFFF"/>
                    </a:solidFill>
                  </a:tcPr>
                </a:tc>
                <a:tc>
                  <a:txBody>
                    <a:bodyPr/>
                    <a:lstStyle/>
                    <a:p>
                      <a:pPr>
                        <a:defRPr sz="1300" b="0">
                          <a:solidFill>
                            <a:srgbClr val="2B1B12"/>
                          </a:solidFill>
                          <a:latin typeface="Calibri"/>
                        </a:defRPr>
                      </a:pPr>
                      <a:r>
                        <a:t>Software Ideas Modeler</a:t>
                      </a:r>
                    </a:p>
                  </a:txBody>
                  <a:tcPr>
                    <a:solidFill>
                      <a:srgbClr val="FFFFFF"/>
                    </a:solidFill>
                  </a:tcPr>
                </a:tc>
                <a:tc>
                  <a:txBody>
                    <a:bodyPr/>
                    <a:lstStyle/>
                    <a:p>
                      <a:pPr>
                        <a:defRPr sz="1300" b="0">
                          <a:solidFill>
                            <a:srgbClr val="2B1B12"/>
                          </a:solidFill>
                          <a:latin typeface="Calibri"/>
                        </a:defRPr>
                      </a:pPr>
                      <a:r>
                        <a:rPr dirty="0"/>
                        <a:t>Ctrl-Alt-</a:t>
                      </a:r>
                      <a:r>
                        <a:rPr dirty="0" err="1"/>
                        <a:t>Defeat.simp</a:t>
                      </a:r>
                      <a:r>
                        <a:rPr dirty="0"/>
                        <a:t> (in </a:t>
                      </a:r>
                      <a:r>
                        <a:rPr lang="en-ZA" dirty="0"/>
                        <a:t>SRS</a:t>
                      </a:r>
                      <a:r>
                        <a:rPr dirty="0"/>
                        <a:t>)</a:t>
                      </a:r>
                    </a:p>
                  </a:txBody>
                  <a:tcPr>
                    <a:solidFill>
                      <a:srgbClr val="FFFFFF"/>
                    </a:solidFill>
                  </a:tcPr>
                </a:tc>
                <a:extLst>
                  <a:ext uri="{0D108BD9-81ED-4DB2-BD59-A6C34878D82A}">
                    <a16:rowId xmlns:a16="http://schemas.microsoft.com/office/drawing/2014/main" val="10003"/>
                  </a:ext>
                </a:extLst>
              </a:tr>
              <a:tr h="550000">
                <a:tc>
                  <a:txBody>
                    <a:bodyPr/>
                    <a:lstStyle/>
                    <a:p>
                      <a:pPr>
                        <a:defRPr sz="1300" b="0">
                          <a:solidFill>
                            <a:srgbClr val="2B1B12"/>
                          </a:solidFill>
                          <a:latin typeface="Calibri"/>
                        </a:defRPr>
                      </a:pPr>
                      <a:r>
                        <a:t>ERD</a:t>
                      </a:r>
                    </a:p>
                  </a:txBody>
                  <a:tcPr>
                    <a:solidFill>
                      <a:srgbClr val="EFE6DA"/>
                    </a:solidFill>
                  </a:tcPr>
                </a:tc>
                <a:tc>
                  <a:txBody>
                    <a:bodyPr/>
                    <a:lstStyle/>
                    <a:p>
                      <a:pPr>
                        <a:defRPr sz="1300" b="0">
                          <a:solidFill>
                            <a:srgbClr val="2B1B12"/>
                          </a:solidFill>
                          <a:latin typeface="Calibri"/>
                        </a:defRPr>
                      </a:pPr>
                      <a:r>
                        <a:t>dbdiagram.io</a:t>
                      </a:r>
                    </a:p>
                  </a:txBody>
                  <a:tcPr>
                    <a:solidFill>
                      <a:srgbClr val="EFE6DA"/>
                    </a:solidFill>
                  </a:tcPr>
                </a:tc>
                <a:tc>
                  <a:txBody>
                    <a:bodyPr/>
                    <a:lstStyle/>
                    <a:p>
                      <a:pPr>
                        <a:defRPr sz="1300" b="0">
                          <a:solidFill>
                            <a:srgbClr val="2B1B12"/>
                          </a:solidFill>
                          <a:latin typeface="Calibri"/>
                        </a:defRPr>
                      </a:pPr>
                      <a:r>
                        <a:rPr lang="en-ZA" sz="1300" b="0" u="sng" kern="1200" dirty="0">
                          <a:solidFill>
                            <a:srgbClr val="2B1B12"/>
                          </a:solidFill>
                          <a:effectLst/>
                          <a:latin typeface="Calibri"/>
                          <a:ea typeface="+mn-ea"/>
                          <a:cs typeface="+mn-cs"/>
                          <a:hlinkClick r:id="rId3"/>
                        </a:rPr>
                        <a:t>https://dbdiagram.io/d/ERD-6ab5c1300f25a52d0100e2b7</a:t>
                      </a:r>
                      <a:endParaRPr dirty="0"/>
                    </a:p>
                  </a:txBody>
                  <a:tcPr>
                    <a:solidFill>
                      <a:srgbClr val="EFE6DA"/>
                    </a:solidFill>
                  </a:tcPr>
                </a:tc>
                <a:extLst>
                  <a:ext uri="{0D108BD9-81ED-4DB2-BD59-A6C34878D82A}">
                    <a16:rowId xmlns:a16="http://schemas.microsoft.com/office/drawing/2014/main" val="10004"/>
                  </a:ext>
                </a:extLst>
              </a:tr>
              <a:tr h="550000">
                <a:tc>
                  <a:txBody>
                    <a:bodyPr/>
                    <a:lstStyle/>
                    <a:p>
                      <a:pPr>
                        <a:defRPr sz="1300" b="0">
                          <a:solidFill>
                            <a:srgbClr val="2B1B12"/>
                          </a:solidFill>
                          <a:latin typeface="Calibri"/>
                        </a:defRPr>
                      </a:pPr>
                      <a:r>
                        <a:t>Flutter wireframes (design + interactive)</a:t>
                      </a:r>
                    </a:p>
                  </a:txBody>
                  <a:tcPr>
                    <a:solidFill>
                      <a:srgbClr val="FFFFFF"/>
                    </a:solidFill>
                  </a:tcPr>
                </a:tc>
                <a:tc>
                  <a:txBody>
                    <a:bodyPr/>
                    <a:lstStyle/>
                    <a:p>
                      <a:pPr>
                        <a:defRPr sz="1300" b="0">
                          <a:solidFill>
                            <a:srgbClr val="2B1B12"/>
                          </a:solidFill>
                          <a:latin typeface="Calibri"/>
                        </a:defRPr>
                      </a:pPr>
                      <a:r>
                        <a:t>Figma</a:t>
                      </a:r>
                    </a:p>
                  </a:txBody>
                  <a:tcPr>
                    <a:solidFill>
                      <a:srgbClr val="FFFFFF"/>
                    </a:solidFill>
                  </a:tcPr>
                </a:tc>
                <a:tc>
                  <a:txBody>
                    <a:bodyPr/>
                    <a:lstStyle/>
                    <a:p>
                      <a:pPr>
                        <a:defRPr sz="1300" b="0">
                          <a:solidFill>
                            <a:srgbClr val="2B1B12"/>
                          </a:solidFill>
                          <a:latin typeface="Calibri"/>
                        </a:defRPr>
                      </a:pPr>
                      <a:r>
                        <a:rPr lang="en-ZA" sz="1300" b="0" u="sng" kern="1200" dirty="0">
                          <a:solidFill>
                            <a:srgbClr val="2B1B12"/>
                          </a:solidFill>
                          <a:effectLst/>
                          <a:latin typeface="Calibri"/>
                          <a:ea typeface="+mn-ea"/>
                          <a:cs typeface="+mn-cs"/>
                          <a:hlinkClick r:id="rId4"/>
                        </a:rPr>
                        <a:t>https://www.figma.com/design/afkx2OMta474iXNnlscqO5/Flutter-and-ASP.NET-interfaces?t=oVbnTCBoJvalux20-1</a:t>
                      </a:r>
                      <a:endParaRPr dirty="0"/>
                    </a:p>
                  </a:txBody>
                  <a:tcPr>
                    <a:solidFill>
                      <a:srgbClr val="FFFFFF"/>
                    </a:solidFill>
                  </a:tcPr>
                </a:tc>
                <a:extLst>
                  <a:ext uri="{0D108BD9-81ED-4DB2-BD59-A6C34878D82A}">
                    <a16:rowId xmlns:a16="http://schemas.microsoft.com/office/drawing/2014/main" val="10005"/>
                  </a:ext>
                </a:extLst>
              </a:tr>
              <a:tr h="550000">
                <a:tc>
                  <a:txBody>
                    <a:bodyPr/>
                    <a:lstStyle/>
                    <a:p>
                      <a:pPr>
                        <a:defRPr sz="1300" b="0">
                          <a:solidFill>
                            <a:srgbClr val="2B1B12"/>
                          </a:solidFill>
                          <a:latin typeface="Calibri"/>
                        </a:defRPr>
                      </a:pPr>
                      <a:r>
                        <a:t>ASP.NET wireframes (design + interactive)</a:t>
                      </a:r>
                    </a:p>
                  </a:txBody>
                  <a:tcPr>
                    <a:solidFill>
                      <a:srgbClr val="EFE6DA"/>
                    </a:solidFill>
                  </a:tcPr>
                </a:tc>
                <a:tc>
                  <a:txBody>
                    <a:bodyPr/>
                    <a:lstStyle/>
                    <a:p>
                      <a:pPr>
                        <a:defRPr sz="1300" b="0">
                          <a:solidFill>
                            <a:srgbClr val="2B1B12"/>
                          </a:solidFill>
                          <a:latin typeface="Calibri"/>
                        </a:defRPr>
                      </a:pPr>
                      <a:r>
                        <a:t>Figma</a:t>
                      </a:r>
                    </a:p>
                  </a:txBody>
                  <a:tcPr>
                    <a:solidFill>
                      <a:srgbClr val="EFE6DA"/>
                    </a:solidFill>
                  </a:tcPr>
                </a:tc>
                <a:tc>
                  <a:txBody>
                    <a:bodyPr/>
                    <a:lstStyle/>
                    <a:p>
                      <a:pPr>
                        <a:defRPr sz="1300" b="0">
                          <a:solidFill>
                            <a:srgbClr val="2B1B12"/>
                          </a:solidFill>
                          <a:latin typeface="Calibri"/>
                        </a:defRPr>
                      </a:pPr>
                      <a:r>
                        <a:rPr lang="en-ZA" sz="1300" b="0" u="sng" kern="1200" dirty="0">
                          <a:solidFill>
                            <a:srgbClr val="2B1B12"/>
                          </a:solidFill>
                          <a:effectLst/>
                          <a:latin typeface="Calibri"/>
                          <a:ea typeface="+mn-ea"/>
                          <a:cs typeface="+mn-cs"/>
                          <a:hlinkClick r:id="rId4"/>
                        </a:rPr>
                        <a:t>https://www.figma.com/design/afkx2OMta474iXNnlscqO5/Flutter-and-ASP.NET-interfaces?t=oVbnTCBoJvalux20-1</a:t>
                      </a:r>
                      <a:endParaRPr dirty="0"/>
                    </a:p>
                  </a:txBody>
                  <a:tcPr>
                    <a:solidFill>
                      <a:srgbClr val="EFE6DA"/>
                    </a:solidFill>
                  </a:tcPr>
                </a:tc>
                <a:extLst>
                  <a:ext uri="{0D108BD9-81ED-4DB2-BD59-A6C34878D82A}">
                    <a16:rowId xmlns:a16="http://schemas.microsoft.com/office/drawing/2014/main" val="10006"/>
                  </a:ext>
                </a:extLst>
              </a:tr>
              <a:tr h="550000">
                <a:tc>
                  <a:txBody>
                    <a:bodyPr/>
                    <a:lstStyle/>
                    <a:p>
                      <a:pPr>
                        <a:defRPr sz="1300" b="0">
                          <a:solidFill>
                            <a:srgbClr val="2B1B12"/>
                          </a:solidFill>
                          <a:latin typeface="Calibri"/>
                        </a:defRPr>
                      </a:pPr>
                      <a:r>
                        <a:t>GitHub repository</a:t>
                      </a:r>
                    </a:p>
                  </a:txBody>
                  <a:tcPr>
                    <a:solidFill>
                      <a:srgbClr val="FFFFFF"/>
                    </a:solidFill>
                  </a:tcPr>
                </a:tc>
                <a:tc>
                  <a:txBody>
                    <a:bodyPr/>
                    <a:lstStyle/>
                    <a:p>
                      <a:pPr>
                        <a:defRPr sz="1300" b="0">
                          <a:solidFill>
                            <a:srgbClr val="2B1B12"/>
                          </a:solidFill>
                          <a:latin typeface="Calibri"/>
                        </a:defRPr>
                      </a:pPr>
                      <a:r>
                        <a:t>GitHub</a:t>
                      </a:r>
                    </a:p>
                  </a:txBody>
                  <a:tcPr>
                    <a:solidFill>
                      <a:srgbClr val="FFFFFF"/>
                    </a:solidFill>
                  </a:tcPr>
                </a:tc>
                <a:tc>
                  <a:txBody>
                    <a:bodyPr/>
                    <a:lstStyle/>
                    <a:p>
                      <a:pPr>
                        <a:defRPr sz="1300" b="0">
                          <a:solidFill>
                            <a:srgbClr val="2B1B12"/>
                          </a:solidFill>
                          <a:latin typeface="Calibri"/>
                        </a:defRPr>
                      </a:pPr>
                      <a:r>
                        <a:rPr lang="en-ZA" sz="1300" b="0" u="sng" kern="1200" dirty="0">
                          <a:solidFill>
                            <a:srgbClr val="2B1B12"/>
                          </a:solidFill>
                          <a:effectLst/>
                          <a:latin typeface="Calibri"/>
                          <a:ea typeface="+mn-ea"/>
                          <a:cs typeface="+mn-cs"/>
                          <a:hlinkClick r:id="rId5"/>
                        </a:rPr>
                        <a:t>https://github.com/Katleho-19/WIL-Project-2026</a:t>
                      </a:r>
                      <a:endParaRPr dirty="0"/>
                    </a:p>
                  </a:txBody>
                  <a:tcPr>
                    <a:solidFill>
                      <a:srgbClr val="FFFFFF"/>
                    </a:solidFill>
                  </a:tcPr>
                </a:tc>
                <a:extLst>
                  <a:ext uri="{0D108BD9-81ED-4DB2-BD59-A6C34878D82A}">
                    <a16:rowId xmlns:a16="http://schemas.microsoft.com/office/drawing/2014/main" val="10007"/>
                  </a:ext>
                </a:extLst>
              </a:tr>
            </a:tbl>
          </a:graphicData>
        </a:graphic>
      </p:graphicFrame>
      <p:sp>
        <p:nvSpPr>
          <p:cNvPr id="32" name="TextBox 31"/>
          <p:cNvSpPr txBox="1"/>
          <p:nvPr/>
        </p:nvSpPr>
        <p:spPr>
          <a:xfrm>
            <a:off x="548640" y="6300000"/>
            <a:ext cx="11064240" cy="400000"/>
          </a:xfrm>
          <a:prstGeom prst="rect">
            <a:avLst/>
          </a:prstGeom>
          <a:noFill/>
        </p:spPr>
        <p:txBody>
          <a:bodyPr wrap="square">
            <a:noAutofit/>
          </a:bodyPr>
          <a:lstStyle/>
          <a:p>
            <a:pPr>
              <a:defRPr sz="1200" i="1">
                <a:solidFill>
                  <a:srgbClr val="5A4030"/>
                </a:solidFill>
                <a:latin typeface="Calibri"/>
              </a:defRPr>
            </a:pPr>
            <a:r>
              <a:t>A design-alignment table in the SRS links every requirement, use case, sequence diagram, ERD element and interface to the others; only the architecture colour scheme was adjusted for print clarity — the source .simp file keeps the original palette.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74D83E3-3E74-BA17-6370-A70C83D006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E33430E-F2BF-544E-6F42-8144F55F2E34}"/>
              </a:ext>
            </a:extLst>
          </p:cNvPr>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PROJECT MANAGEMENT EVIDENCE</a:t>
            </a:r>
            <a:endParaRPr lang="en-US" sz="1200" dirty="0"/>
          </a:p>
        </p:txBody>
      </p:sp>
      <p:sp>
        <p:nvSpPr>
          <p:cNvPr id="3" name="Text 1">
            <a:extLst>
              <a:ext uri="{FF2B5EF4-FFF2-40B4-BE49-F238E27FC236}">
                <a16:creationId xmlns:a16="http://schemas.microsoft.com/office/drawing/2014/main" id="{4B7BD46A-7064-4B68-088C-1A78B439C0B5}"/>
              </a:ext>
            </a:extLst>
          </p:cNvPr>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Microsoft Project Schedule</a:t>
            </a:r>
            <a:endParaRPr lang="en-US" sz="3000" dirty="0"/>
          </a:p>
        </p:txBody>
      </p:sp>
      <p:pic>
        <p:nvPicPr>
          <p:cNvPr id="31" name="Picture 30" descr="final_msp.png">
            <a:extLst>
              <a:ext uri="{FF2B5EF4-FFF2-40B4-BE49-F238E27FC236}">
                <a16:creationId xmlns:a16="http://schemas.microsoft.com/office/drawing/2014/main" id="{0D736A54-549E-CA8B-A75D-6BA6E57D3A8C}"/>
              </a:ext>
            </a:extLst>
          </p:cNvPr>
          <p:cNvPicPr>
            <a:picLocks noChangeAspect="1"/>
          </p:cNvPicPr>
          <p:nvPr/>
        </p:nvPicPr>
        <p:blipFill>
          <a:blip r:embed="rId3"/>
          <a:stretch>
            <a:fillRect/>
          </a:stretch>
        </p:blipFill>
        <p:spPr>
          <a:xfrm>
            <a:off x="548639" y="1494168"/>
            <a:ext cx="8232504" cy="4998072"/>
          </a:xfrm>
          <a:prstGeom prst="rect">
            <a:avLst/>
          </a:prstGeom>
          <a:ln>
            <a:solidFill>
              <a:schemeClr val="tx1"/>
            </a:solidFill>
          </a:ln>
        </p:spPr>
      </p:pic>
      <p:sp>
        <p:nvSpPr>
          <p:cNvPr id="32" name="TextBox 31">
            <a:extLst>
              <a:ext uri="{FF2B5EF4-FFF2-40B4-BE49-F238E27FC236}">
                <a16:creationId xmlns:a16="http://schemas.microsoft.com/office/drawing/2014/main" id="{72103AE3-9B80-9252-C13F-9833EF5CC162}"/>
              </a:ext>
            </a:extLst>
          </p:cNvPr>
          <p:cNvSpPr txBox="1"/>
          <p:nvPr/>
        </p:nvSpPr>
        <p:spPr>
          <a:xfrm>
            <a:off x="548640" y="1194168"/>
            <a:ext cx="7200000" cy="300000"/>
          </a:xfrm>
          <a:prstGeom prst="rect">
            <a:avLst/>
          </a:prstGeom>
          <a:noFill/>
        </p:spPr>
        <p:txBody>
          <a:bodyPr wrap="none">
            <a:spAutoFit/>
          </a:bodyPr>
          <a:lstStyle/>
          <a:p>
            <a:pPr>
              <a:defRPr sz="1200" b="1">
                <a:solidFill>
                  <a:srgbClr val="3E2417"/>
                </a:solidFill>
                <a:latin typeface="Calibri"/>
              </a:defRPr>
            </a:pPr>
            <a:r>
              <a:rPr dirty="0"/>
              <a:t>Gantt chart — Project </a:t>
            </a:r>
            <a:r>
              <a:rPr dirty="0" err="1"/>
              <a:t>Schedule.mpp</a:t>
            </a:r>
            <a:r>
              <a:rPr dirty="0"/>
              <a:t> (Phase 2 tasks, dependencies, milestone)</a:t>
            </a:r>
          </a:p>
        </p:txBody>
      </p:sp>
      <p:sp>
        <p:nvSpPr>
          <p:cNvPr id="33" name="Rounded Rectangle 32">
            <a:extLst>
              <a:ext uri="{FF2B5EF4-FFF2-40B4-BE49-F238E27FC236}">
                <a16:creationId xmlns:a16="http://schemas.microsoft.com/office/drawing/2014/main" id="{9202133A-0670-DD9F-68A4-E72E59FE9999}"/>
              </a:ext>
            </a:extLst>
          </p:cNvPr>
          <p:cNvSpPr/>
          <p:nvPr/>
        </p:nvSpPr>
        <p:spPr>
          <a:xfrm>
            <a:off x="9034632" y="2349000"/>
            <a:ext cx="2880000" cy="2160000"/>
          </a:xfrm>
          <a:prstGeom prst="roundRect">
            <a:avLst/>
          </a:prstGeom>
          <a:solidFill>
            <a:srgbClr val="EFE6DA"/>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spcAft>
                <a:spcPts val="600"/>
              </a:spcAft>
              <a:defRPr sz="1400" b="1">
                <a:solidFill>
                  <a:srgbClr val="3E2417"/>
                </a:solidFill>
                <a:latin typeface="Calibri"/>
              </a:defRPr>
            </a:pPr>
            <a:r>
              <a:rPr dirty="0"/>
              <a:t>Microsoft Project plan</a:t>
            </a:r>
          </a:p>
          <a:p>
            <a:pPr>
              <a:spcAft>
                <a:spcPts val="600"/>
              </a:spcAft>
              <a:defRPr sz="1200" b="0">
                <a:solidFill>
                  <a:srgbClr val="2B1B12"/>
                </a:solidFill>
                <a:latin typeface="Calibri"/>
              </a:defRPr>
            </a:pPr>
            <a:r>
              <a:rPr dirty="0"/>
              <a:t>Original editable file (Project </a:t>
            </a:r>
            <a:r>
              <a:rPr dirty="0" err="1"/>
              <a:t>Schedule.mpp</a:t>
            </a:r>
            <a:r>
              <a:rPr dirty="0"/>
              <a:t>) submitted with the SRS; schedule reflects actual progress, dependencies, responsibilities and the Phase 2 milestone.</a:t>
            </a:r>
          </a:p>
        </p:txBody>
      </p:sp>
    </p:spTree>
    <p:extLst>
      <p:ext uri="{BB962C8B-B14F-4D97-AF65-F5344CB8AC3E}">
        <p14:creationId xmlns:p14="http://schemas.microsoft.com/office/powerpoint/2010/main" val="442968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PROJECT MANAGEMENT EVIDENCE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GitHub repository</a:t>
            </a:r>
            <a:endParaRPr lang="en-US" sz="3000" dirty="0"/>
          </a:p>
        </p:txBody>
      </p:sp>
      <p:sp>
        <p:nvSpPr>
          <p:cNvPr id="32" name="TextBox 31"/>
          <p:cNvSpPr txBox="1"/>
          <p:nvPr/>
        </p:nvSpPr>
        <p:spPr>
          <a:xfrm>
            <a:off x="548640" y="1259217"/>
            <a:ext cx="7200000" cy="300000"/>
          </a:xfrm>
          <a:prstGeom prst="rect">
            <a:avLst/>
          </a:prstGeom>
          <a:noFill/>
        </p:spPr>
        <p:txBody>
          <a:bodyPr wrap="none">
            <a:spAutoFit/>
          </a:bodyPr>
          <a:lstStyle/>
          <a:p>
            <a:pPr>
              <a:defRPr sz="1200" b="1">
                <a:solidFill>
                  <a:srgbClr val="3E2417"/>
                </a:solidFill>
                <a:latin typeface="Calibri"/>
              </a:defRPr>
            </a:pPr>
            <a:r>
              <a:rPr dirty="0"/>
              <a:t>Private repository, all six members added, no credentials committed</a:t>
            </a:r>
          </a:p>
        </p:txBody>
      </p:sp>
      <p:sp>
        <p:nvSpPr>
          <p:cNvPr id="33" name="Rounded Rectangle 32"/>
          <p:cNvSpPr/>
          <p:nvPr/>
        </p:nvSpPr>
        <p:spPr>
          <a:xfrm>
            <a:off x="8812706" y="1871004"/>
            <a:ext cx="2880000" cy="2986230"/>
          </a:xfrm>
          <a:prstGeom prst="roundRect">
            <a:avLst/>
          </a:prstGeom>
          <a:solidFill>
            <a:srgbClr val="EFE6DA"/>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600"/>
              </a:spcAft>
              <a:defRPr sz="1400" b="1">
                <a:solidFill>
                  <a:srgbClr val="3E2417"/>
                </a:solidFill>
                <a:latin typeface="Calibri"/>
              </a:defRPr>
            </a:pPr>
            <a:r>
              <a:rPr dirty="0"/>
              <a:t>GitHub repository</a:t>
            </a:r>
          </a:p>
          <a:p>
            <a:pPr>
              <a:spcAft>
                <a:spcPts val="600"/>
              </a:spcAft>
              <a:defRPr sz="1200" b="0">
                <a:solidFill>
                  <a:srgbClr val="2B1B12"/>
                </a:solidFill>
                <a:latin typeface="Calibri"/>
              </a:defRPr>
            </a:pPr>
            <a:r>
              <a:rPr dirty="0"/>
              <a:t>github.com/Katleho-19/WIL-Project-2026 — Private, all 6 group members added as collaborators.</a:t>
            </a:r>
          </a:p>
          <a:p>
            <a:pPr>
              <a:spcAft>
                <a:spcPts val="600"/>
              </a:spcAft>
              <a:defRPr sz="1200" b="0">
                <a:solidFill>
                  <a:srgbClr val="2B1B12"/>
                </a:solidFill>
                <a:latin typeface="Calibri"/>
              </a:defRPr>
            </a:pPr>
            <a:r>
              <a:rPr dirty="0"/>
              <a:t>README names the project and team; docs/ folder holds current architecture, UML, ERD and interface documentation plus design source links.</a:t>
            </a:r>
          </a:p>
          <a:p>
            <a:pPr>
              <a:spcAft>
                <a:spcPts val="600"/>
              </a:spcAft>
              <a:defRPr sz="1200" b="0">
                <a:solidFill>
                  <a:srgbClr val="2B1B12"/>
                </a:solidFill>
                <a:latin typeface="Calibri"/>
              </a:defRPr>
            </a:pPr>
            <a:r>
              <a:rPr dirty="0"/>
              <a:t>No passwords, API keys or confidential stakeholder information are committed.</a:t>
            </a:r>
          </a:p>
          <a:p>
            <a:pPr>
              <a:spcAft>
                <a:spcPts val="600"/>
              </a:spcAft>
              <a:defRPr sz="600" b="0">
                <a:solidFill>
                  <a:srgbClr val="2B1B12"/>
                </a:solidFill>
                <a:latin typeface="Calibri"/>
              </a:defRPr>
            </a:pPr>
            <a:endParaRPr dirty="0"/>
          </a:p>
          <a:p>
            <a:pPr>
              <a:spcAft>
                <a:spcPts val="600"/>
              </a:spcAft>
              <a:defRPr sz="1400" b="1">
                <a:solidFill>
                  <a:srgbClr val="3E2417"/>
                </a:solidFill>
                <a:latin typeface="Calibri"/>
              </a:defRPr>
            </a:pPr>
            <a:endParaRPr dirty="0"/>
          </a:p>
        </p:txBody>
      </p:sp>
      <p:pic>
        <p:nvPicPr>
          <p:cNvPr id="6" name="Picture 5">
            <a:extLst>
              <a:ext uri="{FF2B5EF4-FFF2-40B4-BE49-F238E27FC236}">
                <a16:creationId xmlns:a16="http://schemas.microsoft.com/office/drawing/2014/main" id="{7FB39E1E-5B60-44BE-86D9-A095773AE42B}"/>
              </a:ext>
            </a:extLst>
          </p:cNvPr>
          <p:cNvPicPr>
            <a:picLocks noChangeAspect="1"/>
          </p:cNvPicPr>
          <p:nvPr/>
        </p:nvPicPr>
        <p:blipFill>
          <a:blip r:embed="rId3"/>
          <a:stretch>
            <a:fillRect/>
          </a:stretch>
        </p:blipFill>
        <p:spPr>
          <a:xfrm>
            <a:off x="401781" y="1559216"/>
            <a:ext cx="8312727" cy="493302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E2CD00E-8117-A6D8-F065-034427D5972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0534A24-8B91-CA9F-9866-804CBA8592F3}"/>
              </a:ext>
            </a:extLst>
          </p:cNvPr>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200" b="1" kern="0" spc="200" dirty="0">
                <a:solidFill>
                  <a:srgbClr val="C99A3D"/>
                </a:solidFill>
                <a:latin typeface="Calibri" pitchFamily="34" charset="0"/>
                <a:ea typeface="Calibri" pitchFamily="34" charset="-122"/>
                <a:cs typeface="Calibri" pitchFamily="34" charset="-120"/>
              </a:rPr>
              <a:t>PROJECT MANAGEMENT EVIDENCE</a:t>
            </a:r>
            <a:endParaRPr lang="en-US" sz="1200" dirty="0"/>
          </a:p>
        </p:txBody>
      </p:sp>
      <p:sp>
        <p:nvSpPr>
          <p:cNvPr id="3" name="Text 1">
            <a:extLst>
              <a:ext uri="{FF2B5EF4-FFF2-40B4-BE49-F238E27FC236}">
                <a16:creationId xmlns:a16="http://schemas.microsoft.com/office/drawing/2014/main" id="{06A1AD37-387D-FCA9-58C8-DE8A472A34DD}"/>
              </a:ext>
            </a:extLst>
          </p:cNvPr>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3E2417"/>
                </a:solidFill>
                <a:latin typeface="Cambria" pitchFamily="34" charset="0"/>
                <a:ea typeface="Cambria" pitchFamily="34" charset="-122"/>
                <a:cs typeface="Cambria" pitchFamily="34" charset="-120"/>
              </a:rPr>
              <a:t>Progress Tracker</a:t>
            </a:r>
            <a:endParaRPr lang="en-US" sz="3000" dirty="0"/>
          </a:p>
        </p:txBody>
      </p:sp>
      <p:sp>
        <p:nvSpPr>
          <p:cNvPr id="32" name="TextBox 31">
            <a:extLst>
              <a:ext uri="{FF2B5EF4-FFF2-40B4-BE49-F238E27FC236}">
                <a16:creationId xmlns:a16="http://schemas.microsoft.com/office/drawing/2014/main" id="{535F824F-FBC2-4C55-83D3-191ED89A5F87}"/>
              </a:ext>
            </a:extLst>
          </p:cNvPr>
          <p:cNvSpPr txBox="1"/>
          <p:nvPr/>
        </p:nvSpPr>
        <p:spPr>
          <a:xfrm>
            <a:off x="548640" y="1203736"/>
            <a:ext cx="7200000" cy="300000"/>
          </a:xfrm>
          <a:prstGeom prst="rect">
            <a:avLst/>
          </a:prstGeom>
          <a:noFill/>
        </p:spPr>
        <p:txBody>
          <a:bodyPr wrap="none">
            <a:spAutoFit/>
          </a:bodyPr>
          <a:lstStyle/>
          <a:p>
            <a:pPr>
              <a:defRPr sz="1200" b="1">
                <a:solidFill>
                  <a:srgbClr val="3E2417"/>
                </a:solidFill>
                <a:latin typeface="Calibri"/>
              </a:defRPr>
            </a:pPr>
            <a:r>
              <a:rPr dirty="0"/>
              <a:t>Task progress, individual contributions and the Phase 2 reflection</a:t>
            </a:r>
          </a:p>
        </p:txBody>
      </p:sp>
      <p:sp>
        <p:nvSpPr>
          <p:cNvPr id="33" name="Rounded Rectangle 32">
            <a:extLst>
              <a:ext uri="{FF2B5EF4-FFF2-40B4-BE49-F238E27FC236}">
                <a16:creationId xmlns:a16="http://schemas.microsoft.com/office/drawing/2014/main" id="{5D862A07-6455-1BED-B5F7-868A3CFE3737}"/>
              </a:ext>
            </a:extLst>
          </p:cNvPr>
          <p:cNvSpPr/>
          <p:nvPr/>
        </p:nvSpPr>
        <p:spPr>
          <a:xfrm>
            <a:off x="8732880" y="2472034"/>
            <a:ext cx="2880000" cy="1913932"/>
          </a:xfrm>
          <a:prstGeom prst="roundRect">
            <a:avLst/>
          </a:prstGeom>
          <a:solidFill>
            <a:srgbClr val="EFE6DA"/>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spcAft>
                <a:spcPts val="600"/>
              </a:spcAft>
              <a:defRPr sz="600" b="0">
                <a:solidFill>
                  <a:srgbClr val="2B1B12"/>
                </a:solidFill>
                <a:latin typeface="Calibri"/>
              </a:defRPr>
            </a:pPr>
            <a:endParaRPr dirty="0"/>
          </a:p>
          <a:p>
            <a:pPr>
              <a:spcAft>
                <a:spcPts val="600"/>
              </a:spcAft>
              <a:defRPr sz="1400" b="1">
                <a:solidFill>
                  <a:srgbClr val="3E2417"/>
                </a:solidFill>
                <a:latin typeface="Calibri"/>
              </a:defRPr>
            </a:pPr>
            <a:r>
              <a:rPr dirty="0"/>
              <a:t>ITC327W Project Progress Tracker</a:t>
            </a:r>
          </a:p>
          <a:p>
            <a:pPr>
              <a:spcAft>
                <a:spcPts val="600"/>
              </a:spcAft>
              <a:defRPr sz="1200" b="0">
                <a:solidFill>
                  <a:srgbClr val="2B1B12"/>
                </a:solidFill>
                <a:latin typeface="Calibri"/>
              </a:defRPr>
            </a:pPr>
            <a:r>
              <a:rPr dirty="0"/>
              <a:t>Submitted as a separate Excel workbook: task progress, individual contributions, challenges/actions and the Phase 2 group reflection.</a:t>
            </a:r>
          </a:p>
          <a:p>
            <a:pPr>
              <a:spcAft>
                <a:spcPts val="600"/>
              </a:spcAft>
              <a:defRPr sz="600" b="0">
                <a:solidFill>
                  <a:srgbClr val="2B1B12"/>
                </a:solidFill>
                <a:latin typeface="Calibri"/>
              </a:defRPr>
            </a:pPr>
            <a:endParaRPr dirty="0"/>
          </a:p>
        </p:txBody>
      </p:sp>
      <p:pic>
        <p:nvPicPr>
          <p:cNvPr id="7" name="Picture 6">
            <a:extLst>
              <a:ext uri="{FF2B5EF4-FFF2-40B4-BE49-F238E27FC236}">
                <a16:creationId xmlns:a16="http://schemas.microsoft.com/office/drawing/2014/main" id="{1102D08D-9601-312B-A9C7-173168970E55}"/>
              </a:ext>
            </a:extLst>
          </p:cNvPr>
          <p:cNvPicPr>
            <a:picLocks noChangeAspect="1"/>
          </p:cNvPicPr>
          <p:nvPr/>
        </p:nvPicPr>
        <p:blipFill>
          <a:blip r:embed="rId3"/>
          <a:stretch>
            <a:fillRect/>
          </a:stretch>
        </p:blipFill>
        <p:spPr>
          <a:xfrm>
            <a:off x="548640" y="1553498"/>
            <a:ext cx="8046720" cy="4984462"/>
          </a:xfrm>
          <a:prstGeom prst="rect">
            <a:avLst/>
          </a:prstGeom>
        </p:spPr>
      </p:pic>
    </p:spTree>
    <p:extLst>
      <p:ext uri="{BB962C8B-B14F-4D97-AF65-F5344CB8AC3E}">
        <p14:creationId xmlns:p14="http://schemas.microsoft.com/office/powerpoint/2010/main" val="2086582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3E2417"/>
        </a:solidFill>
        <a:effectLst/>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6B4226"/>
          </a:solidFill>
          <a:ln/>
        </p:spPr>
        <p:txBody>
          <a:bodyPr/>
          <a:lstStyle/>
          <a:p>
            <a:endParaRPr lang="en-ZA"/>
          </a:p>
        </p:txBody>
      </p:sp>
      <p:sp>
        <p:nvSpPr>
          <p:cNvPr id="3" name="Text 1"/>
          <p:cNvSpPr txBox="1"/>
          <p:nvPr/>
        </p:nvSpPr>
        <p:spPr>
          <a:xfrm>
            <a:off x="822960" y="1371600"/>
            <a:ext cx="7315200" cy="365760"/>
          </a:xfrm>
          <a:prstGeom prst="rect">
            <a:avLst/>
          </a:prstGeom>
          <a:noFill/>
          <a:ln/>
        </p:spPr>
        <p:txBody>
          <a:bodyPr wrap="square" lIns="0" tIns="0" rIns="0" bIns="0" rtlCol="0" anchor="ctr"/>
          <a:lstStyle/>
          <a:p>
            <a:pPr marL="0" indent="0">
              <a:buNone/>
            </a:pPr>
            <a:r>
              <a:rPr lang="en-US" sz="1300" b="1" kern="0" spc="200" dirty="0">
                <a:solidFill>
                  <a:srgbClr val="C99A3D"/>
                </a:solidFill>
                <a:latin typeface="Calibri" pitchFamily="34" charset="0"/>
                <a:ea typeface="Calibri" pitchFamily="34" charset="-122"/>
                <a:cs typeface="Calibri" pitchFamily="34" charset="-120"/>
              </a:rPr>
              <a:t>PHASE 2 SUMMARY</a:t>
            </a:r>
            <a:endParaRPr lang="en-US" sz="1300" dirty="0"/>
          </a:p>
        </p:txBody>
      </p:sp>
      <p:sp>
        <p:nvSpPr>
          <p:cNvPr id="4" name="Text 2"/>
          <p:cNvSpPr txBox="1"/>
          <p:nvPr/>
        </p:nvSpPr>
        <p:spPr>
          <a:xfrm>
            <a:off x="777240" y="1828800"/>
            <a:ext cx="9601200" cy="1645920"/>
          </a:xfrm>
          <a:prstGeom prst="rect">
            <a:avLst/>
          </a:prstGeom>
          <a:noFill/>
          <a:ln/>
        </p:spPr>
        <p:txBody>
          <a:bodyPr wrap="square" lIns="0" tIns="0" rIns="0" bIns="0" rtlCol="0" anchor="ctr"/>
          <a:lstStyle/>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Architecture, database and interface</a:t>
            </a:r>
            <a:endParaRPr lang="en-US" sz="3400" dirty="0"/>
          </a:p>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design are complete and aligned.</a:t>
            </a:r>
            <a:endParaRPr lang="en-US" sz="3400" dirty="0"/>
          </a:p>
        </p:txBody>
      </p:sp>
      <p:sp>
        <p:nvSpPr>
          <p:cNvPr id="5" name="Text 3"/>
          <p:cNvSpPr txBox="1"/>
          <p:nvPr/>
        </p:nvSpPr>
        <p:spPr>
          <a:xfrm>
            <a:off x="822960" y="3657600"/>
            <a:ext cx="8686800" cy="2286000"/>
          </a:xfrm>
          <a:prstGeom prst="rect">
            <a:avLst/>
          </a:prstGeom>
          <a:noFill/>
          <a:ln/>
        </p:spPr>
        <p:txBody>
          <a:bodyPr wrap="square" lIns="0" tIns="0" rIns="0" bIns="0" rtlCol="0" anchor="ctr"/>
          <a:lstStyle/>
          <a:p>
            <a:pPr marL="342900" indent="-342900">
              <a:lnSpc>
                <a:spcPts val="2000"/>
              </a:lnSpc>
              <a:spcAft>
                <a:spcPts val="1200"/>
              </a:spcAft>
              <a:buSzPct val="100000"/>
              <a:buChar char="•"/>
            </a:pPr>
            <a:r>
              <a:rPr lang="en-US" sz="1500" dirty="0">
                <a:solidFill>
                  <a:srgbClr val="E7DCCF"/>
                </a:solidFill>
                <a:latin typeface="Calibri" pitchFamily="34" charset="0"/>
                <a:ea typeface="Calibri" pitchFamily="34" charset="-122"/>
                <a:cs typeface="Calibri" pitchFamily="34" charset="-120"/>
              </a:rPr>
              <a:t>Every requirement traces through the use cases, sequence diagrams, ERD and interfaces consistently (15 FRs)</a:t>
            </a:r>
            <a:endParaRPr lang="en-US" sz="1500" dirty="0"/>
          </a:p>
          <a:p>
            <a:pPr marL="342900" indent="-342900">
              <a:lnSpc>
                <a:spcPts val="2000"/>
              </a:lnSpc>
              <a:spcAft>
                <a:spcPts val="1200"/>
              </a:spcAft>
              <a:buSzPct val="100000"/>
              <a:buChar char="•"/>
            </a:pPr>
            <a:r>
              <a:rPr lang="en-US" sz="1500" dirty="0">
                <a:solidFill>
                  <a:srgbClr val="E7DCCF"/>
                </a:solidFill>
                <a:latin typeface="Calibri" pitchFamily="34" charset="0"/>
                <a:ea typeface="Calibri" pitchFamily="34" charset="-122"/>
                <a:cs typeface="Calibri" pitchFamily="34" charset="-120"/>
              </a:rPr>
              <a:t>Database schema implemented in Supabase; GitHub, Microsoft Project and the Progress Tracker are current and linked in the SRS</a:t>
            </a:r>
            <a:endParaRPr lang="en-US" sz="1500" dirty="0"/>
          </a:p>
          <a:p>
            <a:pPr marL="342900" indent="-342900">
              <a:lnSpc>
                <a:spcPts val="2000"/>
              </a:lnSpc>
              <a:spcAft>
                <a:spcPts val="1200"/>
              </a:spcAft>
              <a:buSzPct val="100000"/>
              <a:buChar char="•"/>
            </a:pPr>
            <a:r>
              <a:rPr lang="en-US" sz="1500" dirty="0">
                <a:solidFill>
                  <a:srgbClr val="E7DCCF"/>
                </a:solidFill>
                <a:latin typeface="Calibri" pitchFamily="34" charset="0"/>
                <a:ea typeface="Calibri" pitchFamily="34" charset="-122"/>
                <a:cs typeface="Calibri" pitchFamily="34" charset="-120"/>
              </a:rPr>
              <a:t>Next step: </a:t>
            </a:r>
            <a:r>
              <a:rPr lang="en-US" sz="1500" dirty="0" err="1">
                <a:solidFill>
                  <a:srgbClr val="E7DCCF"/>
                </a:solidFill>
                <a:latin typeface="Calibri" pitchFamily="34" charset="0"/>
                <a:ea typeface="Calibri" pitchFamily="34" charset="-122"/>
                <a:cs typeface="Calibri" pitchFamily="34" charset="-120"/>
              </a:rPr>
              <a:t>finalise</a:t>
            </a:r>
            <a:r>
              <a:rPr lang="en-US" sz="1500" dirty="0">
                <a:solidFill>
                  <a:srgbClr val="E7DCCF"/>
                </a:solidFill>
                <a:latin typeface="Calibri" pitchFamily="34" charset="0"/>
                <a:ea typeface="Calibri" pitchFamily="34" charset="-122"/>
                <a:cs typeface="Calibri" pitchFamily="34" charset="-120"/>
              </a:rPr>
              <a:t> and refine the high-fidelity interactive prototype ahead of the Phase 2 presentation and defence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612</TotalTime>
  <Words>3236</Words>
  <Application>Microsoft Office PowerPoint</Application>
  <PresentationFormat>Widescreen</PresentationFormat>
  <Paragraphs>215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Katleho Makhoali</dc:creator>
  <cp:lastModifiedBy>Lepitla Mamello</cp:lastModifiedBy>
  <cp:revision>18</cp:revision>
  <dcterms:created xsi:type="dcterms:W3CDTF">2026-09-24T05:24:06Z</dcterms:created>
  <dcterms:modified xsi:type="dcterms:W3CDTF">2026-09-30T19:32:40Z</dcterms:modified>
</cp:coreProperties>
</file>